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embeddedFontLst>
    <p:embeddedFont>
      <p:font typeface="Cormorant Garamond" panose="020B0604020202020204" charset="0"/>
      <p:regular r:id="rId16"/>
      <p:bold r:id="rId17"/>
      <p:italic r:id="rId18"/>
      <p:boldItalic r:id="rId19"/>
    </p:embeddedFon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>
      <p:cViewPr varScale="1">
        <p:scale>
          <a:sx n="44" d="100"/>
          <a:sy n="44" d="100"/>
        </p:scale>
        <p:origin x="8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Fill in your team details. Do not change the deck structure.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you are building, for whom, and the problem it solves.</a:t>
            </a:r>
            <a:endParaRPr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Complete the six-part statement. Read it aloud — it should sound like a sentence.</a:t>
            </a:r>
            <a:endParaRPr/>
          </a:p>
        </p:txBody>
      </p:sp>
      <p:sp>
        <p:nvSpPr>
          <p:cNvPr id="55" name="Google Shape;5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 steps from trigger to outcome. Mark clearly where AI acts.</a:t>
            </a:r>
            <a:endParaRPr/>
          </a:p>
        </p:txBody>
      </p:sp>
      <p:sp>
        <p:nvSpPr>
          <p:cNvPr id="83" name="Google Shape;8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feature must map to a problem. Priority is Must / Should / Could.</a:t>
            </a:r>
            <a:endParaRPr/>
          </a:p>
        </p:txBody>
      </p:sp>
      <p:sp>
        <p:nvSpPr>
          <p:cNvPr id="114" name="Google Shape;11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key screens. Low fidelity is fine — the flow matters more than the polish.</a:t>
            </a:r>
            <a:endParaRPr/>
          </a:p>
        </p:txBody>
      </p:sp>
      <p:sp>
        <p:nvSpPr>
          <p:cNvPr id="160" name="Google Shape;16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Input, what AI does, output, and where the human stays in the loop.</a:t>
            </a:r>
            <a:endParaRPr/>
          </a:p>
        </p:txBody>
      </p:sp>
      <p:sp>
        <p:nvSpPr>
          <p:cNvPr id="186" name="Google Shape;18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real tools. If a choice is undecided, say so.</a:t>
            </a:r>
            <a:endParaRPr/>
          </a:p>
        </p:txBody>
      </p:sp>
      <p:sp>
        <p:nvSpPr>
          <p:cNvPr id="210" name="Google Shape;21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last column matters most — name what you are deliberately excluding.</a:t>
            </a:r>
            <a:endParaRPr/>
          </a:p>
        </p:txBody>
      </p:sp>
      <p:sp>
        <p:nvSpPr>
          <p:cNvPr id="238" name="Google Shape;23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9" name="Google Shape;25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 you tested with, what you learned, and what actually changed.</a:t>
            </a:r>
            <a:endParaRPr/>
          </a:p>
        </p:txBody>
      </p:sp>
      <p:sp>
        <p:nvSpPr>
          <p:cNvPr id="260" name="Google Shape;26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1" name="Google Shape;2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this solution, and not the existing ones.</a:t>
            </a:r>
            <a:endParaRPr/>
          </a:p>
        </p:txBody>
      </p:sp>
      <p:sp>
        <p:nvSpPr>
          <p:cNvPr id="282" name="Google Shape;28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0" name="Google Shape;30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 pays or who benefits, and where this goes long term.</a:t>
            </a:r>
            <a:endParaRPr/>
          </a:p>
        </p:txBody>
      </p:sp>
      <p:sp>
        <p:nvSpPr>
          <p:cNvPr id="301" name="Google Shape;30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2" name="Google Shape;3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diagram. Show data flow, not just boxes.</a:t>
            </a:r>
            <a:endParaRPr/>
          </a:p>
        </p:txBody>
      </p:sp>
      <p:sp>
        <p:nvSpPr>
          <p:cNvPr id="323" name="Google Shape;32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Udyoga-Pramoda-Hackathon-2026/team-hayagreeva.gi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82750" y="495288"/>
            <a:ext cx="2762250" cy="80398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143000" y="3153019"/>
            <a:ext cx="1714500" cy="38075"/>
          </a:xfrm>
          <a:prstGeom prst="rect">
            <a:avLst/>
          </a:prstGeom>
          <a:solidFill>
            <a:srgbClr val="F05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43000" y="3419670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2100"/>
              <a:buFont typeface="Poppins"/>
              <a:buNone/>
            </a:pPr>
            <a:r>
              <a:rPr lang="en-US" sz="2100" b="1" i="0" u="none" strike="noStrike" cap="none" dirty="0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PHASE 2 — IDEATION &amp; PLANNING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4053057"/>
            <a:ext cx="17602200" cy="10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5403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7800"/>
              <a:buFont typeface="Poppins"/>
              <a:buNone/>
            </a:pPr>
            <a:r>
              <a:rPr lang="en-US" sz="7800" b="1" i="0" u="none" strike="noStrike" cap="none" dirty="0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Team </a:t>
            </a:r>
            <a:r>
              <a:rPr lang="en-US" sz="7800" b="1" dirty="0" err="1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Hayagreeva</a:t>
            </a:r>
            <a:endParaRPr sz="7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5252364"/>
            <a:ext cx="17602200" cy="63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3900"/>
              <a:buFont typeface="Georgia"/>
              <a:buNone/>
            </a:pPr>
            <a:r>
              <a:rPr lang="en-US" sz="3900" b="1" i="0" u="none" strike="noStrike" cap="none" dirty="0">
                <a:solidFill>
                  <a:srgbClr val="A3937F"/>
                </a:solidFill>
                <a:latin typeface="Georgia"/>
                <a:ea typeface="Georgia"/>
                <a:cs typeface="Georgia"/>
                <a:sym typeface="Georgia"/>
              </a:rPr>
              <a:t>Project Title: AI Powered Digital Safety Co-Pilot</a:t>
            </a:r>
            <a:endParaRPr sz="3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3000" y="8450399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145097" y="8713887"/>
            <a:ext cx="3960508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MENTOR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145097" y="9131350"/>
            <a:ext cx="3960508" cy="45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2175"/>
              <a:buFont typeface="Poppins"/>
              <a:buNone/>
            </a:pPr>
            <a:r>
              <a:rPr lang="en-US" sz="2175" dirty="0">
                <a:solidFill>
                  <a:srgbClr val="A3937F"/>
                </a:solidFill>
                <a:latin typeface="Poppins"/>
                <a:ea typeface="Calibri"/>
                <a:cs typeface="Poppins"/>
                <a:sym typeface="Poppins"/>
              </a:rPr>
              <a:t>Mr. AK Anand</a:t>
            </a:r>
            <a:endParaRPr sz="21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278922" y="8713887"/>
            <a:ext cx="3960508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DATE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278922" y="9131350"/>
            <a:ext cx="3960508" cy="45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2175"/>
              <a:buFont typeface="Poppins"/>
              <a:buNone/>
            </a:pPr>
            <a:r>
              <a:rPr lang="en-US" sz="2175" dirty="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05.09.2026</a:t>
            </a:r>
            <a:endParaRPr sz="21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412748" y="8713887"/>
            <a:ext cx="396057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REPOSITORY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9412748" y="9131349"/>
            <a:ext cx="6915823" cy="82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rgbClr val="A3937F"/>
              </a:buClr>
              <a:buSzPts val="2175"/>
            </a:pPr>
            <a:r>
              <a:rPr lang="en-US" sz="2175" b="0" i="0" u="none" strike="noStrike" cap="none" dirty="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https://github.com/Udyoga-Pramoda-Hackathon-2026/team-hayagreeva.git</a:t>
            </a:r>
            <a:r>
              <a:rPr lang="en-US" sz="2175" b="0" i="0" u="none" strike="noStrike" cap="none" dirty="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n-US" sz="21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2175"/>
              <a:buFont typeface="Poppins"/>
              <a:buNone/>
            </a:pPr>
            <a:endParaRPr lang="en-US" sz="21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6C9259B-1BD5-445B-B2F1-6BEC9E83A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763700"/>
              </p:ext>
            </p:extLst>
          </p:nvPr>
        </p:nvGraphicFramePr>
        <p:xfrm>
          <a:off x="1143000" y="6138512"/>
          <a:ext cx="12192000" cy="21061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85300486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539101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Team Members</a:t>
                      </a:r>
                      <a:endParaRPr lang="en-IN" sz="2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Roles</a:t>
                      </a:r>
                      <a:endParaRPr lang="en-IN" sz="2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10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18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Prateek Deshpande </a:t>
                      </a:r>
                      <a:endParaRPr lang="en-IN" sz="218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18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Team Leader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15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18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Adithi</a:t>
                      </a:r>
                      <a:r>
                        <a:rPr lang="en-US" sz="218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 S</a:t>
                      </a:r>
                      <a:endParaRPr lang="en-IN" sz="218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18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Team Member,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9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18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 </a:t>
                      </a:r>
                      <a:r>
                        <a:rPr lang="en-US" sz="218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Aasritha</a:t>
                      </a:r>
                      <a:r>
                        <a:rPr lang="en-US" sz="218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Vardhan</a:t>
                      </a:r>
                      <a:endParaRPr lang="en-IN" sz="218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18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Team member,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61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18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Satvik</a:t>
                      </a:r>
                      <a:r>
                        <a:rPr lang="en-US" sz="218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218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Pandurangi</a:t>
                      </a:r>
                      <a:endParaRPr lang="en-IN" sz="218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18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Team member,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3973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1143000" y="742900"/>
            <a:ext cx="1843249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 dirty="0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 sz="5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 dirty="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What are we building, who is it for, and what does it solve?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143000" y="3358244"/>
            <a:ext cx="5476267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75"/>
              <a:buFont typeface="Poppins"/>
              <a:buNone/>
            </a:pPr>
            <a:r>
              <a:rPr lang="en-US" sz="1875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WHAT WE ARE BUILDING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43000" y="3867795"/>
            <a:ext cx="4978425" cy="5733417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We are building a Sudarshana Kavach </a:t>
            </a:r>
            <a:b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Sudarshana Kavach is an AI empowered website to help Senior citizens and people with less tech savvy to check the fraudulent activities behind the SMS, Email, QR Codes received. 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654787" y="3358244"/>
            <a:ext cx="5476267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75"/>
              <a:buFont typeface="Poppins"/>
              <a:buNone/>
            </a:pPr>
            <a:r>
              <a:rPr lang="en-US" sz="1875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WHO IT IS FOR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654787" y="3867795"/>
            <a:ext cx="4978425" cy="5733417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Primarily targeting people with less technical knowledge about online scams, typically aged over 50.</a:t>
            </a:r>
          </a:p>
        </p:txBody>
      </p:sp>
      <p:sp>
        <p:nvSpPr>
          <p:cNvPr id="48" name="Google Shape;48;p4"/>
          <p:cNvSpPr/>
          <p:nvPr/>
        </p:nvSpPr>
        <p:spPr>
          <a:xfrm>
            <a:off x="12166575" y="3358244"/>
            <a:ext cx="5476267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75"/>
              <a:buFont typeface="Poppins"/>
              <a:buNone/>
            </a:pPr>
            <a:r>
              <a:rPr lang="en-US" sz="1875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PROBLEM IT SOLVES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2166575" y="3867795"/>
            <a:ext cx="4978425" cy="5733417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Creates an awareness among users on whether to trust a hyperlink received in the communication as a genuine one or fraudulent one. 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1143000" y="742900"/>
            <a:ext cx="1896523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Value proposition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Six lines. Together they should read as one sentence.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143000" y="3358244"/>
            <a:ext cx="2762250" cy="1040495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371600" y="3358244"/>
            <a:ext cx="2387918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3300"/>
              <a:buFont typeface="Cormorant Garamond"/>
              <a:buNone/>
            </a:pPr>
            <a:r>
              <a:rPr lang="en-US" sz="3300" b="1" i="0" u="none" strike="noStrike" cap="none">
                <a:solidFill>
                  <a:srgbClr val="F0592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For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905250" y="3396344"/>
            <a:ext cx="13239750" cy="1040495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171950" y="3358244"/>
            <a:ext cx="13103542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950"/>
              <a:buFont typeface="Poppins"/>
              <a:buNone/>
            </a:pPr>
            <a:r>
              <a:rPr lang="en-US" sz="195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Senior citizens and people with less knowledge on online scams</a:t>
            </a:r>
            <a:endParaRPr sz="195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371600" y="4398739"/>
            <a:ext cx="2387918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3300"/>
              <a:buFont typeface="Cormorant Garamond"/>
              <a:buNone/>
            </a:pPr>
            <a:r>
              <a:rPr lang="en-US" sz="3300" b="1" i="0" u="none" strike="noStrike" cap="none">
                <a:solidFill>
                  <a:srgbClr val="F0592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Who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171950" y="4398739"/>
            <a:ext cx="13103542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950"/>
              <a:buFont typeface="Poppins"/>
              <a:buNone/>
            </a:pPr>
            <a:r>
              <a:rPr lang="en-US" sz="195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Can get some awareness about the scams by using</a:t>
            </a:r>
            <a:endParaRPr sz="195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143000" y="5439234"/>
            <a:ext cx="2762250" cy="1040495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1371600" y="5439234"/>
            <a:ext cx="2387918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3300"/>
              <a:buFont typeface="Cormorant Garamond"/>
              <a:buNone/>
            </a:pPr>
            <a:r>
              <a:rPr lang="en-US" sz="3300" b="1" i="0" u="none" strike="noStrike" cap="none">
                <a:solidFill>
                  <a:srgbClr val="F0592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Our product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905250" y="5439234"/>
            <a:ext cx="13239750" cy="1040495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171950" y="5439234"/>
            <a:ext cx="13103542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lvl="0">
              <a:buClr>
                <a:srgbClr val="A3937F"/>
              </a:buClr>
              <a:buSzPts val="1950"/>
            </a:pPr>
            <a:r>
              <a:rPr lang="en-US" sz="195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Sudarshan Kavach</a:t>
            </a:r>
            <a:endParaRPr sz="195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371600" y="6479728"/>
            <a:ext cx="2387918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3300"/>
              <a:buFont typeface="Cormorant Garamond"/>
              <a:buNone/>
            </a:pPr>
            <a:r>
              <a:rPr lang="en-US" sz="3300" b="1" i="0" u="none" strike="noStrike" cap="none">
                <a:solidFill>
                  <a:srgbClr val="F0592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That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171950" y="6479728"/>
            <a:ext cx="13103542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950"/>
              <a:buFont typeface="Poppins"/>
              <a:buNone/>
            </a:pPr>
            <a:r>
              <a:rPr lang="en-US" sz="1950" b="0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Helps to identify the possible scam by providing the risk involved and analysis</a:t>
            </a:r>
            <a:endParaRPr sz="1950" b="0" i="0" u="none" strike="noStrike" cap="none" dirty="0">
              <a:solidFill>
                <a:schemeClr val="tx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143000" y="7520223"/>
            <a:ext cx="2762250" cy="1040495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1371600" y="7520223"/>
            <a:ext cx="2387918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3300"/>
              <a:buFont typeface="Cormorant Garamond"/>
              <a:buNone/>
            </a:pPr>
            <a:r>
              <a:rPr lang="en-US" sz="3300" b="1" i="0" u="none" strike="noStrike" cap="none">
                <a:solidFill>
                  <a:srgbClr val="F0592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Unlike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905250" y="7520223"/>
            <a:ext cx="13239750" cy="1040495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171950" y="7520223"/>
            <a:ext cx="13103542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950"/>
              <a:buFont typeface="Poppins"/>
              <a:buNone/>
            </a:pPr>
            <a:r>
              <a:rPr lang="en-US" sz="195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A situation where we are on loosing end without an awareness </a:t>
            </a:r>
            <a:endParaRPr sz="195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371600" y="8560718"/>
            <a:ext cx="2387918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3300"/>
              <a:buFont typeface="Cormorant Garamond"/>
              <a:buNone/>
            </a:pPr>
            <a:r>
              <a:rPr lang="en-US" sz="3300" b="1" i="0" u="none" strike="noStrike" cap="none">
                <a:solidFill>
                  <a:srgbClr val="F0592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We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171950" y="8560718"/>
            <a:ext cx="13103542" cy="107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950"/>
              <a:buFont typeface="Poppins"/>
              <a:buNone/>
            </a:pPr>
            <a:r>
              <a:rPr lang="en-US" sz="195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Want to make sure hard earned of our senior citizens and ladies to be safe and secure while using the digital payments. </a:t>
            </a:r>
            <a:endParaRPr sz="195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1143000" y="742900"/>
            <a:ext cx="1902798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Core user journey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Trigger to outcome, in seven steps.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1143000" y="3358244"/>
            <a:ext cx="233492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Trigger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456161" y="3358244"/>
            <a:ext cx="233499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User entry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769384" y="3358244"/>
            <a:ext cx="233499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User action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082607" y="3358244"/>
            <a:ext cx="233499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System / AI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0395831" y="3358244"/>
            <a:ext cx="233499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2709053" y="3358244"/>
            <a:ext cx="233499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User action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5022276" y="3358244"/>
            <a:ext cx="233492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Outcome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143000" y="3851920"/>
            <a:ext cx="2122661" cy="574929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368425" y="4077345"/>
            <a:ext cx="1748011" cy="53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User receives a communication in form of SMS, </a:t>
            </a:r>
            <a:r>
              <a:rPr lang="en-US" sz="1800" dirty="0" err="1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Whatsapp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 msg, email, QR Codes </a:t>
            </a:r>
            <a:r>
              <a:rPr lang="en-US" sz="1800" dirty="0" err="1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etc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 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456161" y="3851920"/>
            <a:ext cx="2122723" cy="574929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681586" y="4077345"/>
            <a:ext cx="1748073" cy="53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They arrive normally as ads or 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as a phishing attacks in emails, </a:t>
            </a:r>
            <a:r>
              <a:rPr lang="en-US" sz="1800" dirty="0" err="1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whatsapp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msgs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etc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769384" y="3851920"/>
            <a:ext cx="2122723" cy="574929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94809" y="4077345"/>
            <a:ext cx="1748073" cy="53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When such communication is received user should take a scree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nshot or simply copy the text on to the Sudarshan Kavach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082607" y="3851920"/>
            <a:ext cx="2122723" cy="5749292"/>
          </a:xfrm>
          <a:prstGeom prst="rect">
            <a:avLst/>
          </a:prstGeom>
          <a:solidFill>
            <a:srgbClr val="FDF0E8"/>
          </a:solidFill>
          <a:ln w="15875" cap="flat" cmpd="sng">
            <a:solidFill>
              <a:srgbClr val="F0592B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308032" y="4077345"/>
            <a:ext cx="1748073" cy="53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C2451C"/>
              </a:buClr>
              <a:buSzPts val="1800"/>
              <a:buFont typeface="Poppins"/>
              <a:buNone/>
            </a:pPr>
            <a:r>
              <a:rPr lang="en-US" sz="1800" dirty="0">
                <a:solidFill>
                  <a:srgbClr val="C2451C"/>
                </a:solidFill>
                <a:latin typeface="Poppins"/>
                <a:ea typeface="Calibri"/>
                <a:cs typeface="Poppins"/>
                <a:sym typeface="Poppins"/>
              </a:rPr>
              <a:t>Once user provides the information to our system it will check the possible fraud and provides a detailed risk analysis, appropriate action as well.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0395831" y="3851920"/>
            <a:ext cx="2122723" cy="574929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0621256" y="4077345"/>
            <a:ext cx="1748073" cy="53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Risk analysis will be provided normally in small, medium and high based on the calibrated mode. 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2709053" y="3851920"/>
            <a:ext cx="2122723" cy="574929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2934478" y="4077345"/>
            <a:ext cx="1748073" cy="53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They can remove the msg completely if any action hasn’t been taken yet. Or can follow the procedure to report the fraudulent activity with concerned department. 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5022276" y="3851920"/>
            <a:ext cx="2122661" cy="5749292"/>
          </a:xfrm>
          <a:prstGeom prst="rect">
            <a:avLst/>
          </a:prstGeom>
          <a:solidFill>
            <a:srgbClr val="FDF0E8"/>
          </a:solidFill>
          <a:ln w="15875" cap="flat" cmpd="sng">
            <a:solidFill>
              <a:srgbClr val="F05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5247701" y="4077345"/>
            <a:ext cx="1748011" cy="53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C2451C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rgbClr val="C2451C"/>
                </a:solidFill>
                <a:latin typeface="Poppins"/>
                <a:ea typeface="Calibri"/>
                <a:cs typeface="Poppins"/>
                <a:sym typeface="Poppins"/>
              </a:rPr>
              <a:t>a penny saved is a penny earned. We will make user aware of the possible attempt to scam him/her and also make aware about the reporting if already fell prey for the scam.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1143000" y="742900"/>
            <a:ext cx="1918419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Core features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Every feature must solve a problem you found in Phase 1.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1143000" y="3890057"/>
            <a:ext cx="5796607" cy="15875"/>
          </a:xfrm>
          <a:prstGeom prst="rect">
            <a:avLst/>
          </a:prstGeom>
          <a:solidFill>
            <a:srgbClr val="2A1E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1371600" y="3453494"/>
            <a:ext cx="551330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FEATURE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939607" y="3890057"/>
            <a:ext cx="7728892" cy="15875"/>
          </a:xfrm>
          <a:prstGeom prst="rect">
            <a:avLst/>
          </a:prstGeom>
          <a:solidFill>
            <a:srgbClr val="2A1E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7168207" y="3453494"/>
            <a:ext cx="7503559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PROBLEM SOLVED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4668500" y="3890057"/>
            <a:ext cx="2476500" cy="15875"/>
          </a:xfrm>
          <a:prstGeom prst="rect">
            <a:avLst/>
          </a:prstGeom>
          <a:solidFill>
            <a:srgbClr val="2A1E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14897100" y="3453494"/>
            <a:ext cx="2095500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MVP PRIORITY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143000" y="3905932"/>
            <a:ext cx="5796607" cy="1423789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1143000" y="5321783"/>
            <a:ext cx="5796607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371600" y="4058332"/>
            <a:ext cx="5513305" cy="114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SMS, Checking and WhatsApp messages checking</a:t>
            </a:r>
            <a:endParaRPr sz="1875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884905" y="3905932"/>
            <a:ext cx="7728892" cy="1423789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939607" y="5321783"/>
            <a:ext cx="7728892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168207" y="4058332"/>
            <a:ext cx="7503559" cy="114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To identify the possible phishing attack</a:t>
            </a:r>
            <a:endParaRPr sz="1875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4668500" y="3905932"/>
            <a:ext cx="2476500" cy="1423789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14668500" y="5321783"/>
            <a:ext cx="2476500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4897100" y="4058332"/>
            <a:ext cx="2095500" cy="114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950"/>
              <a:buFont typeface="Poppins"/>
              <a:buNone/>
            </a:pPr>
            <a:r>
              <a:rPr lang="en-US" sz="195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MUST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143000" y="6745635"/>
            <a:ext cx="5796607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1371600" y="5482121"/>
            <a:ext cx="5513305" cy="114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QR Code validation, Hyperlink validation</a:t>
            </a:r>
            <a:endParaRPr sz="1875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939607" y="6745635"/>
            <a:ext cx="7728892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7168207" y="5482121"/>
            <a:ext cx="7503559" cy="114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Stop providing personal information to scamsters</a:t>
            </a:r>
            <a:endParaRPr sz="1875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4668500" y="6745635"/>
            <a:ext cx="2476500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4897100" y="5482121"/>
            <a:ext cx="2095500" cy="114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950"/>
              <a:buFont typeface="Poppins"/>
              <a:buNone/>
            </a:pPr>
            <a:r>
              <a:rPr lang="en-US" sz="195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MUST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143000" y="6753572"/>
            <a:ext cx="5796607" cy="1423789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143000" y="8169424"/>
            <a:ext cx="5796607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371600" y="6905972"/>
            <a:ext cx="5513305" cy="114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Real time checking of phishing attack </a:t>
            </a:r>
            <a:r>
              <a:rPr lang="en-US" sz="1875" b="0" i="0" u="none" strike="noStrike" cap="none" dirty="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939607" y="6753572"/>
            <a:ext cx="7728892" cy="1423789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6939607" y="8169424"/>
            <a:ext cx="7728892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168207" y="6905972"/>
            <a:ext cx="7503559" cy="114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Live check and filtering by providing possible next steps</a:t>
            </a:r>
            <a:endParaRPr sz="1875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4668500" y="6753572"/>
            <a:ext cx="2476500" cy="1423789"/>
          </a:xfrm>
          <a:prstGeom prst="rect">
            <a:avLst/>
          </a:prstGeom>
          <a:solidFill>
            <a:srgbClr val="DFE8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14668500" y="8169424"/>
            <a:ext cx="2476500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4897100" y="6905972"/>
            <a:ext cx="2095500" cy="114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3C31"/>
              </a:buClr>
              <a:buSzPts val="1950"/>
              <a:buFont typeface="Poppins"/>
              <a:buNone/>
            </a:pPr>
            <a:r>
              <a:rPr lang="en-US" sz="1950" b="1" i="0" u="none" strike="noStrike" cap="none" dirty="0">
                <a:solidFill>
                  <a:srgbClr val="4A3C31"/>
                </a:solidFill>
                <a:latin typeface="Poppins"/>
                <a:ea typeface="Poppins"/>
                <a:cs typeface="Poppins"/>
                <a:sym typeface="Poppins"/>
              </a:rPr>
              <a:t>SHOULD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143000" y="9593275"/>
            <a:ext cx="5796607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371600" y="8329761"/>
            <a:ext cx="5513305" cy="114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Video call validation</a:t>
            </a:r>
            <a:r>
              <a:rPr lang="en-US" sz="1875" b="0" i="0" u="none" strike="noStrike" cap="none" dirty="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939607" y="9593275"/>
            <a:ext cx="7728892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168207" y="8329761"/>
            <a:ext cx="7503559" cy="114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Identify the deep fake problems</a:t>
            </a:r>
            <a:endParaRPr sz="1875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4668500" y="9593275"/>
            <a:ext cx="2476500" cy="9525"/>
          </a:xfrm>
          <a:prstGeom prst="rect">
            <a:avLst/>
          </a:prstGeom>
          <a:solidFill>
            <a:srgbClr val="B9CA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4897100" y="8329761"/>
            <a:ext cx="2095500" cy="114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1950"/>
              <a:buFont typeface="Poppins"/>
              <a:buNone/>
            </a:pPr>
            <a:r>
              <a:rPr lang="en-US" sz="1950" b="1" i="0" u="none" strike="noStrike" cap="none" dirty="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COULD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1143000" y="742900"/>
            <a:ext cx="1914122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Wireframes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 dirty="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Four key screens. Low fidelity is acceptable — show how the product works.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143000" y="3358244"/>
            <a:ext cx="408622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Screen 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238750" y="3358244"/>
            <a:ext cx="408622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Screen 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334500" y="3358244"/>
            <a:ext cx="408622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Screen 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3430250" y="3358244"/>
            <a:ext cx="408622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Screen 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143000" y="3851920"/>
            <a:ext cx="3714750" cy="574929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2372134" y="6406554"/>
            <a:ext cx="1332619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Entry point.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796542" y="6726535"/>
            <a:ext cx="2483867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Drop the image here.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238750" y="3851920"/>
            <a:ext cx="3714750" cy="574929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404012" y="6406554"/>
            <a:ext cx="1460425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Core action.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892292" y="6726535"/>
            <a:ext cx="2483867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Drop the image here.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334500" y="3851920"/>
            <a:ext cx="3714750" cy="574929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10061525" y="6406554"/>
            <a:ext cx="2336836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AI or system output.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9988042" y="6726535"/>
            <a:ext cx="2483867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Drop the image here.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3430250" y="3851920"/>
            <a:ext cx="3714750" cy="574929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4108906" y="6406554"/>
            <a:ext cx="2433575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Result or dashboard.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4083792" y="6726535"/>
            <a:ext cx="2483867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Drop the image here.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F53974-ECF6-EE0C-A639-67D373852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772" y="4321276"/>
            <a:ext cx="2482850" cy="41705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C4B722-3AC2-EAD4-0811-72395221A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9503" y="4334154"/>
            <a:ext cx="3440771" cy="4176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DDF3C8-2F14-D391-28DB-C6CBDBCBA3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5321" y="4217692"/>
            <a:ext cx="2673040" cy="4214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EF836B-7F9B-9C1D-9EE5-67244BFC15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30087" y="4217692"/>
            <a:ext cx="2937572" cy="4155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1143000" y="742900"/>
            <a:ext cx="191316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06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 dirty="0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AI strategy</a:t>
            </a:r>
            <a:endParaRPr sz="5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 dirty="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Where AI sits in the product logic — not where it decorates the interface.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1143000" y="3358244"/>
            <a:ext cx="5560033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 dirty="0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AI input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616650" y="3358244"/>
            <a:ext cx="5560101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 dirty="0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What AI does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2090362" y="3358244"/>
            <a:ext cx="5560033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AI output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143000" y="3851920"/>
            <a:ext cx="5054575" cy="5014329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463675" y="4134495"/>
            <a:ext cx="4564862" cy="4487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159475" y="3851920"/>
            <a:ext cx="495275" cy="505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2700"/>
              <a:buFont typeface="Poppins"/>
              <a:buNone/>
            </a:pPr>
            <a:r>
              <a:rPr lang="en-US" sz="2700" b="0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616650" y="3851920"/>
            <a:ext cx="5054637" cy="5014329"/>
          </a:xfrm>
          <a:prstGeom prst="rect">
            <a:avLst/>
          </a:prstGeom>
          <a:solidFill>
            <a:srgbClr val="FDF0E8"/>
          </a:solidFill>
          <a:ln w="15875" cap="flat" cmpd="sng">
            <a:solidFill>
              <a:srgbClr val="F0592B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937325" y="4134495"/>
            <a:ext cx="4564926" cy="4487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C2451C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rgbClr val="C2451C"/>
                </a:solidFill>
                <a:latin typeface="Poppins"/>
                <a:ea typeface="Poppins"/>
                <a:cs typeface="Poppins"/>
                <a:sym typeface="Poppins"/>
              </a:rPr>
              <a:t>The reasoning, retrieval, generation or automation step.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1633188" y="3851920"/>
            <a:ext cx="495275" cy="505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2700"/>
              <a:buFont typeface="Poppins"/>
              <a:buNone/>
            </a:pPr>
            <a:r>
              <a:rPr lang="en-US" sz="2700" b="0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2090362" y="3851920"/>
            <a:ext cx="5054575" cy="5014329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12411037" y="4134495"/>
            <a:ext cx="4564862" cy="4487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What the user receives, and in what form.</a:t>
            </a:r>
            <a:endParaRPr sz="1875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143000" y="9018612"/>
            <a:ext cx="16001937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143000" y="9255931"/>
            <a:ext cx="3268011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HUMAN INVOLVEMENT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418707" y="9244025"/>
            <a:ext cx="11635823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Where a person reviews, corrects or approves — and what happens when the AI is wrong.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33D1BF-273C-D4F3-707C-D6DAF3101B24}"/>
              </a:ext>
            </a:extLst>
          </p:cNvPr>
          <p:cNvSpPr txBox="1"/>
          <p:nvPr/>
        </p:nvSpPr>
        <p:spPr>
          <a:xfrm>
            <a:off x="1262995" y="3982132"/>
            <a:ext cx="4896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Normalized User Content, Pre-Computed Deterministic Telemetry (Domain Intelligence, Payment Rail Metadata, </a:t>
            </a:r>
            <a:r>
              <a:rPr lang="en-IN" sz="1800" i="0" dirty="0" err="1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Behavioral</a:t>
            </a:r>
            <a:r>
              <a:rPr lang="en-IN" sz="180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Heuristics), User Context </a:t>
            </a:r>
            <a:endParaRPr lang="en-IN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1143000" y="742900"/>
            <a:ext cx="1889975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 dirty="0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07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 dirty="0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Technology</a:t>
            </a:r>
            <a:endParaRPr sz="5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 dirty="0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Your stack. Name real tools — write “undecided” if it is still open.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1143000" y="3358244"/>
            <a:ext cx="547626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143000" y="3813845"/>
            <a:ext cx="4978425" cy="2475384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Next.JS, React, Typescript, Pure Vanilla CSS</a:t>
            </a:r>
            <a:b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JS QR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406525" y="4039270"/>
            <a:ext cx="4600727" cy="206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Framework and UI library.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654787" y="3358244"/>
            <a:ext cx="547626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654787" y="3813845"/>
            <a:ext cx="4978425" cy="2475384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FAST API, UV Corn, </a:t>
            </a:r>
            <a:b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Programming Language : Python 3.14</a:t>
            </a:r>
            <a:b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Teseract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 OCR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918312" y="4039270"/>
            <a:ext cx="4600727" cy="206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Language, runtime, hosting.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12166575" y="3358244"/>
            <a:ext cx="547626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AI / MODELS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2166575" y="3813845"/>
            <a:ext cx="4978425" cy="2475384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GROQ API (Qwen 2.5 27 B)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2430100" y="4039270"/>
            <a:ext cx="4600727" cy="206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Which models, and how you call them.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143000" y="6670228"/>
            <a:ext cx="547626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143000" y="7125828"/>
            <a:ext cx="4978425" cy="2475384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N/A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406525" y="7351253"/>
            <a:ext cx="4600727" cy="206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Store, and vector store if any.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654787" y="6670228"/>
            <a:ext cx="547626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APIS / INTEGRATIONS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654787" y="7125828"/>
            <a:ext cx="4978425" cy="2475384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Deterministic rule engine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918312" y="7351253"/>
            <a:ext cx="4600727" cy="206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Third-party services you depend on.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12166575" y="6670228"/>
            <a:ext cx="547626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2166575" y="7125828"/>
            <a:ext cx="4978425" cy="2475384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Frontend – </a:t>
            </a: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Vercele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Backend - Railway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2430100" y="7351253"/>
            <a:ext cx="4600727" cy="206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Where the live URL will run.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1143000" y="742900"/>
            <a:ext cx="1913917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08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1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MVP scope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What ships in the demo, and what does not.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143000" y="3358244"/>
            <a:ext cx="4086225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950"/>
              <a:buFont typeface="Poppins"/>
              <a:buNone/>
            </a:pPr>
            <a:r>
              <a:rPr lang="en-US" sz="195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MUST WORK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238750" y="3358244"/>
            <a:ext cx="4086225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3C31"/>
              </a:buClr>
              <a:buSzPts val="1950"/>
              <a:buFont typeface="Poppins"/>
              <a:buNone/>
            </a:pPr>
            <a:r>
              <a:rPr lang="en-US" sz="1950" b="1" i="0" u="none" strike="noStrike" cap="none">
                <a:solidFill>
                  <a:srgbClr val="4A3C31"/>
                </a:solidFill>
                <a:latin typeface="Poppins"/>
                <a:ea typeface="Poppins"/>
                <a:cs typeface="Poppins"/>
                <a:sym typeface="Poppins"/>
              </a:rPr>
              <a:t>SHOULD WORK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9334500" y="3358244"/>
            <a:ext cx="4086225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3C31"/>
              </a:buClr>
              <a:buSzPts val="1950"/>
              <a:buFont typeface="Poppins"/>
              <a:buNone/>
            </a:pPr>
            <a:r>
              <a:rPr lang="en-US" sz="1950" b="1" i="0" u="none" strike="noStrike" cap="none">
                <a:solidFill>
                  <a:srgbClr val="4A3C31"/>
                </a:solidFill>
                <a:latin typeface="Poppins"/>
                <a:ea typeface="Poppins"/>
                <a:cs typeface="Poppins"/>
                <a:sym typeface="Poppins"/>
              </a:rPr>
              <a:t>NICE TO HAVE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3430250" y="3358244"/>
            <a:ext cx="4086225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1950"/>
              <a:buFont typeface="Poppins"/>
              <a:buNone/>
            </a:pPr>
            <a:r>
              <a:rPr lang="en-US" sz="1950" b="1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NOT BUILDING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143000" y="3883670"/>
            <a:ext cx="3714750" cy="571754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1425575" y="4147195"/>
            <a:ext cx="3261042" cy="52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We need to have </a:t>
            </a:r>
            <a:r>
              <a:rPr lang="en-US" sz="1800" dirty="0" err="1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atleast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 one possible sample message or medium to check the system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238750" y="3883670"/>
            <a:ext cx="3714750" cy="571754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5521325" y="4147195"/>
            <a:ext cx="3261042" cy="52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We can check the QR Code if not possible to get the QR Codes, we can check with the link behind the QR Code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9334500" y="3883670"/>
            <a:ext cx="3714750" cy="571754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9617075" y="4147195"/>
            <a:ext cx="3261042" cy="52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 video authorization and OTP mechanism to get into the application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13430250" y="3883670"/>
            <a:ext cx="3714750" cy="5717542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13712825" y="4147195"/>
            <a:ext cx="3261042" cy="52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We have not implemented the social media chat bot as we may have to get some personal info like phone number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etc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/>
          <p:nvPr/>
        </p:nvSpPr>
        <p:spPr>
          <a:xfrm>
            <a:off x="1143000" y="742900"/>
            <a:ext cx="1909620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09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Validation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Evidence that you showed the concept to someone outside the team.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1143000" y="3358244"/>
            <a:ext cx="5476267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75"/>
              <a:buFont typeface="Poppins"/>
              <a:buNone/>
            </a:pPr>
            <a:r>
              <a:rPr lang="en-US" sz="1875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WHO WE TESTED WITH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1143000" y="3867795"/>
            <a:ext cx="4978425" cy="5733417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1463663" y="4150320"/>
            <a:ext cx="4467212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We have checked with Sailesh Kulkarni, Aravind Deshpande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1463663" y="4974208"/>
            <a:ext cx="4770809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C9BCA8"/>
              </a:buClr>
              <a:buSzPts val="1875"/>
              <a:buFont typeface="Poppins"/>
              <a:buNone/>
            </a:pP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6654787" y="3358244"/>
            <a:ext cx="5476267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75"/>
              <a:buFont typeface="Poppins"/>
              <a:buNone/>
            </a:pPr>
            <a:r>
              <a:rPr lang="en-US" sz="1875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WHAT WE LEARNED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654787" y="3867795"/>
            <a:ext cx="4978425" cy="5733417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6862403" y="4145069"/>
            <a:ext cx="4770809" cy="238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They were using other third-party apps which collect their personal information and take a subscription fee as well. </a:t>
            </a:r>
          </a:p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endParaRPr lang="en-US" sz="1800" dirty="0">
              <a:solidFill>
                <a:schemeClr val="tx1"/>
              </a:solidFill>
              <a:latin typeface="Poppins"/>
              <a:ea typeface="Calibri"/>
              <a:cs typeface="Poppins"/>
              <a:sym typeface="Poppins"/>
            </a:endParaRPr>
          </a:p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They liked everything and were satisfied.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12166575" y="3358244"/>
            <a:ext cx="5476267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75"/>
              <a:buFont typeface="Poppins"/>
              <a:buNone/>
            </a:pPr>
            <a:r>
              <a:rPr lang="en-US" sz="1875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WHAT WE CHANGED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12166575" y="3867795"/>
            <a:ext cx="4978425" cy="5733417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12487238" y="4150320"/>
            <a:ext cx="4467212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00" dirty="0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We have made sure they will be using this product as webpage  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12487238" y="4974208"/>
            <a:ext cx="4770809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C9BCA8"/>
              </a:buClr>
              <a:buSzPts val="1875"/>
              <a:buFont typeface="Poppins"/>
              <a:buNone/>
            </a:pP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/>
          <p:nvPr/>
        </p:nvSpPr>
        <p:spPr>
          <a:xfrm>
            <a:off x="1143000" y="742900"/>
            <a:ext cx="1843249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3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Differentiation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Why your approach, and not what already exists.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1143000" y="3358244"/>
            <a:ext cx="5476267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1875"/>
              <a:buFont typeface="Poppins"/>
              <a:buNone/>
            </a:pPr>
            <a:r>
              <a:rPr lang="en-US" sz="1875" b="1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EXISTING SOLUTIONS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143000" y="3867795"/>
            <a:ext cx="4978425" cy="5733417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1463675" y="4150370"/>
            <a:ext cx="4486427" cy="5206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True Caller, Message filter provided by service provider like Airtel</a:t>
            </a:r>
            <a:endParaRPr sz="1875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6654787" y="3358244"/>
            <a:ext cx="5476267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1875"/>
              <a:buFont typeface="Poppins"/>
              <a:buNone/>
            </a:pPr>
            <a:r>
              <a:rPr lang="en-US" sz="1875" b="1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6654787" y="3867795"/>
            <a:ext cx="4978425" cy="5733417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6975462" y="4150370"/>
            <a:ext cx="4486427" cy="5206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Everything is a paid service and ours is a free one. </a:t>
            </a:r>
            <a:endParaRPr sz="1875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12166575" y="3358244"/>
            <a:ext cx="5476267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75"/>
              <a:buFont typeface="Poppins"/>
              <a:buNone/>
            </a:pPr>
            <a:r>
              <a:rPr lang="en-US" sz="1875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WHY IT IS BETTER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12166575" y="3867795"/>
            <a:ext cx="4978425" cy="5733417"/>
          </a:xfrm>
          <a:prstGeom prst="rect">
            <a:avLst/>
          </a:prstGeom>
          <a:solidFill>
            <a:srgbClr val="FDF0E8"/>
          </a:solidFill>
          <a:ln w="15875" cap="flat" cmpd="sng">
            <a:solidFill>
              <a:srgbClr val="F0592B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12487250" y="4150370"/>
            <a:ext cx="4486427" cy="5206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C2451C"/>
              </a:buClr>
              <a:buSzPts val="1875"/>
              <a:buFont typeface="Poppins"/>
              <a:buNone/>
            </a:pPr>
            <a:r>
              <a:rPr lang="en-US" sz="1875" b="0" i="0" u="none" strike="noStrike" cap="none" dirty="0">
                <a:solidFill>
                  <a:srgbClr val="C2451C"/>
                </a:solidFill>
                <a:latin typeface="Poppins"/>
                <a:ea typeface="Poppins"/>
                <a:cs typeface="Poppins"/>
                <a:sym typeface="Poppins"/>
              </a:rPr>
              <a:t>Our ease of checking the possible fraud and a one  solution fits all need. 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"/>
          <p:cNvSpPr/>
          <p:nvPr/>
        </p:nvSpPr>
        <p:spPr>
          <a:xfrm>
            <a:off x="1143000" y="742900"/>
            <a:ext cx="1771830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11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4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Business &amp; impact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Who benefits, who would pay, and what this becomes.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1143000" y="3358244"/>
            <a:ext cx="8423883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TARGET USERS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1143000" y="3813845"/>
            <a:ext cx="7658075" cy="2475384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1425575" y="4058320"/>
            <a:ext cx="7322667" cy="202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Aged people and less tech savvy people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9486863" y="3358244"/>
            <a:ext cx="8423951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POTENTIAL CUSTOMERS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9486863" y="3813845"/>
            <a:ext cx="7658137" cy="2475384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9769438" y="4058320"/>
            <a:ext cx="7322731" cy="202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Retired employees, Non- Technical persons</a:t>
            </a:r>
            <a:r>
              <a:rPr lang="en-US" sz="1800" b="0" i="0" u="none" strike="noStrike" cap="none" dirty="0">
                <a:solidFill>
                  <a:srgbClr val="A3937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1143000" y="6670228"/>
            <a:ext cx="8423883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BUSINESS MODEL / IMPACT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1143000" y="7125828"/>
            <a:ext cx="7658075" cy="2475384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1425575" y="7370303"/>
            <a:ext cx="7322667" cy="202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We expect to be an instant hit among housewives and nontechnical persons. 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9486863" y="6670228"/>
            <a:ext cx="8423951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LONG-TERM OPPORTUNITY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9486863" y="7125828"/>
            <a:ext cx="7658137" cy="2475384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9769438" y="7370303"/>
            <a:ext cx="7322731" cy="202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767"/>
              </a:lnSpc>
              <a:spcBef>
                <a:spcPts val="0"/>
              </a:spcBef>
              <a:spcAft>
                <a:spcPts val="0"/>
              </a:spcAft>
              <a:buClr>
                <a:srgbClr val="A3937F"/>
              </a:buClr>
              <a:buSzPts val="1800"/>
              <a:buFont typeface="Poppins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This can be converted into a mobile application and made this a real time tech like antivirus in PCs. </a:t>
            </a:r>
            <a:endParaRPr sz="1800" b="0" i="0" u="none" strike="noStrike" cap="none" dirty="0">
              <a:solidFill>
                <a:schemeClr val="tx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EE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/>
          <p:nvPr/>
        </p:nvSpPr>
        <p:spPr>
          <a:xfrm>
            <a:off x="1143000" y="742900"/>
            <a:ext cx="1825104" cy="37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SECTION 12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4250" y="742900"/>
            <a:ext cx="2190750" cy="6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5"/>
          <p:cNvSpPr/>
          <p:nvPr/>
        </p:nvSpPr>
        <p:spPr>
          <a:xfrm>
            <a:off x="1143000" y="1628180"/>
            <a:ext cx="17602200" cy="75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8102"/>
              </a:lnSpc>
              <a:spcBef>
                <a:spcPts val="0"/>
              </a:spcBef>
              <a:spcAft>
                <a:spcPts val="0"/>
              </a:spcAft>
              <a:buClr>
                <a:srgbClr val="2A1E16"/>
              </a:buClr>
              <a:buSzPts val="5550"/>
              <a:buFont typeface="Poppins"/>
              <a:buNone/>
            </a:pPr>
            <a:r>
              <a:rPr lang="en-US" sz="5550" b="1" i="0" u="none" strike="noStrike" cap="none">
                <a:solidFill>
                  <a:srgbClr val="2A1E16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1143000" y="2461369"/>
            <a:ext cx="1760220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6A5B"/>
              </a:buClr>
              <a:buSzPts val="2100"/>
              <a:buFont typeface="Poppins"/>
              <a:buNone/>
            </a:pPr>
            <a:r>
              <a:rPr lang="en-US" sz="2100" b="0" i="0" u="none" strike="noStrike" cap="none">
                <a:solidFill>
                  <a:srgbClr val="7A6A5B"/>
                </a:solidFill>
                <a:latin typeface="Poppins"/>
                <a:ea typeface="Poppins"/>
                <a:cs typeface="Poppins"/>
                <a:sym typeface="Poppins"/>
              </a:rPr>
              <a:t>One diagram showing how the pieces connect.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143000" y="3113794"/>
            <a:ext cx="16002000" cy="15875"/>
          </a:xfrm>
          <a:prstGeom prst="rect">
            <a:avLst/>
          </a:prstGeom>
          <a:solidFill>
            <a:srgbClr val="C9D7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1143000" y="3358244"/>
            <a:ext cx="17602200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592B"/>
              </a:buClr>
              <a:buSzPts val="1875"/>
              <a:buFont typeface="Poppins"/>
              <a:buNone/>
            </a:pPr>
            <a:r>
              <a:rPr lang="en-US" sz="1875" b="1" i="0" u="none" strike="noStrike" cap="none">
                <a:solidFill>
                  <a:srgbClr val="F0592B"/>
                </a:solidFill>
                <a:latin typeface="Poppins"/>
                <a:ea typeface="Poppins"/>
                <a:cs typeface="Poppins"/>
                <a:sym typeface="Poppins"/>
              </a:rPr>
              <a:t>ARCHITECTURE DIAGRAM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1143000" y="3867795"/>
            <a:ext cx="16002000" cy="5733417"/>
          </a:xfrm>
          <a:prstGeom prst="rect">
            <a:avLst/>
          </a:prstGeom>
          <a:solidFill>
            <a:srgbClr val="DCE6E8"/>
          </a:solidFill>
          <a:ln w="15875" cap="flat" cmpd="sng">
            <a:solidFill>
              <a:srgbClr val="B9CAC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3C68E8-52F9-CFEB-C660-B6ECAA08D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987" y="3982107"/>
            <a:ext cx="9896225" cy="5542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1784</TotalTime>
  <Words>1301</Words>
  <Application>Microsoft Office PowerPoint</Application>
  <PresentationFormat>Custom</PresentationFormat>
  <Paragraphs>201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Cormorant Garamond</vt:lpstr>
      <vt:lpstr>Calibri</vt:lpstr>
      <vt:lpstr>Georgia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Satvik Pandurangi</cp:lastModifiedBy>
  <cp:revision>14</cp:revision>
  <dcterms:modified xsi:type="dcterms:W3CDTF">2026-09-05T20:01:18Z</dcterms:modified>
</cp:coreProperties>
</file>