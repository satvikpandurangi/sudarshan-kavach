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9"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8288000" cy="10287000"/>
  <p:notesSz cx="10287000" cy="18288000"/>
  <p:embeddedFontLst>
    <p:embeddedFont>
      <p:font typeface="Calibri" panose="020F0502020204030204" pitchFamily="34" charset="0"/>
      <p:regular r:id="rId16"/>
      <p:bold r:id="rId17"/>
      <p:italic r:id="rId18"/>
      <p:boldItalic r:id="rId19"/>
    </p:embeddedFont>
    <p:embeddedFont>
      <p:font typeface="Cormorant Garamond" panose="020B0604020202020204" charset="0"/>
      <p:regular r:id="rId20"/>
      <p:bold r:id="rId21"/>
      <p:italic r:id="rId22"/>
      <p:boldItalic r:id="rId23"/>
    </p:embeddedFont>
    <p:embeddedFont>
      <p:font typeface="Poppins" panose="00000500000000000000" pitchFamily="2" charset="0"/>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FF7C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529"/>
    <p:restoredTop sz="94679"/>
  </p:normalViewPr>
  <p:slideViewPr>
    <p:cSldViewPr snapToGrid="0">
      <p:cViewPr varScale="1">
        <p:scale>
          <a:sx n="57" d="100"/>
          <a:sy n="57" d="100"/>
        </p:scale>
        <p:origin x="558"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4.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
        <p:cNvGrpSpPr/>
        <p:nvPr/>
      </p:nvGrpSpPr>
      <p:grpSpPr>
        <a:xfrm>
          <a:off x="0" y="0"/>
          <a:ext cx="0" cy="0"/>
          <a:chOff x="0" y="0"/>
          <a:chExt cx="0" cy="0"/>
        </a:xfrm>
      </p:grpSpPr>
      <p:sp>
        <p:nvSpPr>
          <p:cNvPr id="12" name="Google Shape;1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3" name="Google Shape;1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Fill in your team details. Do not change the deck structure.</a:t>
            </a:r>
            <a:endParaRPr dirty="0"/>
          </a:p>
        </p:txBody>
      </p:sp>
      <p:sp>
        <p:nvSpPr>
          <p:cNvPr id="14" name="Google Shape;1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
        <p:cNvGrpSpPr/>
        <p:nvPr/>
      </p:nvGrpSpPr>
      <p:grpSpPr>
        <a:xfrm>
          <a:off x="0" y="0"/>
          <a:ext cx="0" cy="0"/>
          <a:chOff x="0" y="0"/>
          <a:chExt cx="0" cy="0"/>
        </a:xfrm>
      </p:grpSpPr>
      <p:sp>
        <p:nvSpPr>
          <p:cNvPr id="31" name="Google Shape;31;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32" name="Google Shape;3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What, why it matters, why now.</a:t>
            </a:r>
            <a:endParaRPr/>
          </a:p>
        </p:txBody>
      </p:sp>
      <p:sp>
        <p:nvSpPr>
          <p:cNvPr id="33" name="Google Shape;33;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54" name="Google Shape;54;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Primary and secondary user, and who feels the problem most.</a:t>
            </a:r>
            <a:endParaRPr/>
          </a:p>
        </p:txBody>
      </p:sp>
      <p:sp>
        <p:nvSpPr>
          <p:cNvPr id="55" name="Google Shape;55;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76" name="Google Shape;76;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Two personas, each with a key quote.</a:t>
            </a:r>
            <a:endParaRPr/>
          </a:p>
        </p:txBody>
      </p:sp>
      <p:sp>
        <p:nvSpPr>
          <p:cNvPr id="77" name="Google Shape;77;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96" name="Google Shape;96;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Primary and secondary research, with methods and findings.</a:t>
            </a:r>
            <a:endParaRPr/>
          </a:p>
        </p:txBody>
      </p:sp>
      <p:sp>
        <p:nvSpPr>
          <p:cNvPr id="97" name="Google Shape;97;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14" name="Google Shape;114;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Three pain points, each with evidence.</a:t>
            </a:r>
            <a:endParaRPr/>
          </a:p>
        </p:txBody>
      </p:sp>
      <p:sp>
        <p:nvSpPr>
          <p:cNvPr id="115" name="Google Shape;115;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36" name="Google Shape;136;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Existing solutions with strength, weakness, opportunity.</a:t>
            </a:r>
            <a:endParaRPr/>
          </a:p>
        </p:txBody>
      </p:sp>
      <p:sp>
        <p:nvSpPr>
          <p:cNvPr id="137" name="Google Shape;137;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82" name="Google Shape;182;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What is broken, what could be better, what opportunity you see.</a:t>
            </a:r>
            <a:endParaRPr/>
          </a:p>
        </p:txBody>
      </p:sp>
      <p:sp>
        <p:nvSpPr>
          <p:cNvPr id="183" name="Google Shape;183;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204" name="Google Shape;204;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Must, Should, Could, Future — with the problem each feature solves.</a:t>
            </a:r>
            <a:endParaRPr/>
          </a:p>
        </p:txBody>
      </p:sp>
      <p:sp>
        <p:nvSpPr>
          <p:cNvPr id="205" name="Google Shape;205;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227" name="Google Shape;227;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Include what you are deliberately not building.</a:t>
            </a:r>
            <a:endParaRPr/>
          </a:p>
        </p:txBody>
      </p:sp>
      <p:sp>
        <p:nvSpPr>
          <p:cNvPr id="228" name="Google Shape;228;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252" name="Google Shape;252;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Four steps to an outcome.</a:t>
            </a:r>
            <a:endParaRPr/>
          </a:p>
        </p:txBody>
      </p:sp>
      <p:sp>
        <p:nvSpPr>
          <p:cNvPr id="253" name="Google Shape;253;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281" name="Google Shape;281;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Fill the blanks. These two sentences are what the jury remembers.</a:t>
            </a:r>
            <a:endParaRPr/>
          </a:p>
        </p:txBody>
      </p:sp>
      <p:sp>
        <p:nvSpPr>
          <p:cNvPr id="282" name="Google Shape;282;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297" name="Google Shape;297;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Optional. Interview notes, survey data, transcripts, references.</a:t>
            </a:r>
            <a:endParaRPr/>
          </a:p>
        </p:txBody>
      </p:sp>
      <p:sp>
        <p:nvSpPr>
          <p:cNvPr id="298" name="Google Shape;298;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hyperlink" Target="https://github.com/Udyoga-Pramoda-Hackathon-2026/team-hayagreeva"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hyperlink" Target="https://www.google.com/" TargetMode="External"/><Relationship Id="rId3" Type="http://schemas.openxmlformats.org/officeDocument/2006/relationships/image" Target="../media/image1.png"/><Relationship Id="rId7" Type="http://schemas.openxmlformats.org/officeDocument/2006/relationships/hyperlink" Target="https://cybercrime.gov.in/Webform/Advisory.aspx"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hyperlink" Target="https://i4c.mha.gov.in/" TargetMode="External"/><Relationship Id="rId5" Type="http://schemas.openxmlformats.org/officeDocument/2006/relationships/hyperlink" Target="https://www.npci.org.in/safety-feature" TargetMode="External"/><Relationship Id="rId4" Type="http://schemas.openxmlformats.org/officeDocument/2006/relationships/hyperlink" Target="https://www.rbi.org.in/Scripts/PublicationsView.aspx?id=23810"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hyperlink" Target="https://docs.google.com/document/d/1q7oKp4wEYeK-PNoK8Z57O1vC-UpUr57Y/edit?usp=sharing&amp;ouid=116009529117157032444&amp;rtpof=true&amp;sd=tru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BF7F0"/>
        </a:solidFill>
        <a:effectLst/>
      </p:bgPr>
    </p:bg>
    <p:spTree>
      <p:nvGrpSpPr>
        <p:cNvPr id="1" name="Shape 15"/>
        <p:cNvGrpSpPr/>
        <p:nvPr/>
      </p:nvGrpSpPr>
      <p:grpSpPr>
        <a:xfrm>
          <a:off x="0" y="0"/>
          <a:ext cx="0" cy="0"/>
          <a:chOff x="0" y="0"/>
          <a:chExt cx="0" cy="0"/>
        </a:xfrm>
      </p:grpSpPr>
      <p:pic>
        <p:nvPicPr>
          <p:cNvPr id="16" name="Google Shape;16;p3" descr="preencoded.png"/>
          <p:cNvPicPr preferRelativeResize="0"/>
          <p:nvPr/>
        </p:nvPicPr>
        <p:blipFill rotWithShape="1">
          <a:blip r:embed="rId3">
            <a:alphaModFix/>
          </a:blip>
          <a:srcRect/>
          <a:stretch/>
        </p:blipFill>
        <p:spPr>
          <a:xfrm>
            <a:off x="14382750" y="495288"/>
            <a:ext cx="2762250" cy="803982"/>
          </a:xfrm>
          <a:prstGeom prst="rect">
            <a:avLst/>
          </a:prstGeom>
          <a:noFill/>
          <a:ln>
            <a:noFill/>
          </a:ln>
        </p:spPr>
      </p:pic>
      <p:sp>
        <p:nvSpPr>
          <p:cNvPr id="17" name="Google Shape;17;p3"/>
          <p:cNvSpPr/>
          <p:nvPr/>
        </p:nvSpPr>
        <p:spPr>
          <a:xfrm>
            <a:off x="1143000" y="2153952"/>
            <a:ext cx="1714500" cy="38075"/>
          </a:xfrm>
          <a:prstGeom prst="rect">
            <a:avLst/>
          </a:prstGeom>
          <a:solidFill>
            <a:srgbClr val="F059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3"/>
          <p:cNvSpPr/>
          <p:nvPr/>
        </p:nvSpPr>
        <p:spPr>
          <a:xfrm>
            <a:off x="1143000" y="2420603"/>
            <a:ext cx="5534407" cy="442913"/>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F0592B"/>
              </a:buClr>
              <a:buSzPts val="2100"/>
              <a:buFont typeface="Poppins"/>
              <a:buNone/>
            </a:pPr>
            <a:r>
              <a:rPr lang="en-US" sz="2100" b="1" i="0" u="none" strike="noStrike" cap="none" dirty="0">
                <a:solidFill>
                  <a:srgbClr val="F0592B"/>
                </a:solidFill>
                <a:latin typeface="Poppins"/>
                <a:ea typeface="Poppins"/>
                <a:cs typeface="Poppins"/>
                <a:sym typeface="Poppins"/>
              </a:rPr>
              <a:t>PHASE 1 — RESEARCH &amp; DISCOVERY</a:t>
            </a:r>
            <a:endParaRPr sz="2100" b="0" i="0" u="none" strike="noStrike" cap="none" dirty="0">
              <a:solidFill>
                <a:schemeClr val="dk1"/>
              </a:solidFill>
              <a:latin typeface="Calibri"/>
              <a:ea typeface="Calibri"/>
              <a:cs typeface="Calibri"/>
              <a:sym typeface="Calibri"/>
            </a:endParaRPr>
          </a:p>
        </p:txBody>
      </p:sp>
      <p:sp>
        <p:nvSpPr>
          <p:cNvPr id="19" name="Google Shape;19;p3"/>
          <p:cNvSpPr/>
          <p:nvPr/>
        </p:nvSpPr>
        <p:spPr>
          <a:xfrm>
            <a:off x="1143000" y="3053990"/>
            <a:ext cx="17602200" cy="1008831"/>
          </a:xfrm>
          <a:prstGeom prst="rect">
            <a:avLst/>
          </a:prstGeom>
          <a:noFill/>
          <a:ln>
            <a:noFill/>
          </a:ln>
        </p:spPr>
        <p:txBody>
          <a:bodyPr spcFirstLastPara="1" wrap="square" lIns="25400" tIns="25400" rIns="25400" bIns="25400" anchor="t" anchorCtr="0">
            <a:noAutofit/>
          </a:bodyPr>
          <a:lstStyle/>
          <a:p>
            <a:pPr marL="0" marR="0" lvl="0" indent="0" algn="l" rtl="0">
              <a:lnSpc>
                <a:spcPct val="65403"/>
              </a:lnSpc>
              <a:spcBef>
                <a:spcPts val="0"/>
              </a:spcBef>
              <a:spcAft>
                <a:spcPts val="0"/>
              </a:spcAft>
              <a:buClr>
                <a:srgbClr val="2A1E16"/>
              </a:buClr>
              <a:buSzPts val="7800"/>
              <a:buFont typeface="Poppins"/>
              <a:buNone/>
            </a:pPr>
            <a:r>
              <a:rPr lang="en-US" sz="7800" b="1" i="0" u="none" strike="noStrike" cap="none" dirty="0">
                <a:solidFill>
                  <a:schemeClr val="tx1"/>
                </a:solidFill>
                <a:latin typeface="Poppins"/>
                <a:ea typeface="Poppins"/>
                <a:cs typeface="Poppins"/>
                <a:sym typeface="Poppins"/>
              </a:rPr>
              <a:t>Team </a:t>
            </a:r>
            <a:r>
              <a:rPr lang="en-US" sz="7800" b="1" dirty="0" err="1">
                <a:solidFill>
                  <a:schemeClr val="tx1"/>
                </a:solidFill>
                <a:latin typeface="Poppins"/>
                <a:ea typeface="Poppins"/>
                <a:cs typeface="Poppins"/>
                <a:sym typeface="Poppins"/>
              </a:rPr>
              <a:t>Hayagreeva</a:t>
            </a:r>
            <a:endParaRPr sz="7800" b="0" i="0" u="none" strike="noStrike" cap="none" dirty="0">
              <a:solidFill>
                <a:schemeClr val="tx1"/>
              </a:solidFill>
              <a:latin typeface="Calibri"/>
              <a:ea typeface="Calibri"/>
              <a:cs typeface="Calibri"/>
              <a:sym typeface="Calibri"/>
            </a:endParaRPr>
          </a:p>
        </p:txBody>
      </p:sp>
      <p:sp>
        <p:nvSpPr>
          <p:cNvPr id="20" name="Google Shape;20;p3"/>
          <p:cNvSpPr/>
          <p:nvPr/>
        </p:nvSpPr>
        <p:spPr>
          <a:xfrm>
            <a:off x="1143000" y="4239038"/>
            <a:ext cx="9694334" cy="637381"/>
          </a:xfrm>
          <a:prstGeom prst="rect">
            <a:avLst/>
          </a:prstGeom>
          <a:noFill/>
          <a:ln>
            <a:noFill/>
          </a:ln>
        </p:spPr>
        <p:txBody>
          <a:bodyPr spcFirstLastPara="1" wrap="square" lIns="25400" tIns="25400" rIns="25400" bIns="25400" anchor="t" anchorCtr="0">
            <a:noAutofit/>
          </a:bodyPr>
          <a:lstStyle/>
          <a:p>
            <a:pPr marL="0" marR="0" lvl="0" indent="0" algn="ctr" rtl="0">
              <a:spcBef>
                <a:spcPts val="0"/>
              </a:spcBef>
              <a:spcAft>
                <a:spcPts val="0"/>
              </a:spcAft>
              <a:buClr>
                <a:srgbClr val="A3937F"/>
              </a:buClr>
              <a:buSzPts val="3900"/>
              <a:buFont typeface="Cormorant Garamond"/>
              <a:buNone/>
            </a:pPr>
            <a:r>
              <a:rPr lang="en-US" sz="3000" b="1" i="0" u="none" strike="noStrike" cap="none" dirty="0">
                <a:solidFill>
                  <a:schemeClr val="tx1"/>
                </a:solidFill>
                <a:latin typeface="Poppins" panose="00000500000000000000" pitchFamily="2" charset="0"/>
                <a:ea typeface="Cormorant Garamond"/>
                <a:cs typeface="Poppins" panose="00000500000000000000" pitchFamily="2" charset="0"/>
                <a:sym typeface="Cormorant Garamond"/>
              </a:rPr>
              <a:t>Project Title: </a:t>
            </a:r>
            <a:r>
              <a:rPr lang="en-US" sz="3000" b="1" i="0" u="none" strike="noStrike" dirty="0">
                <a:solidFill>
                  <a:schemeClr val="tx1"/>
                </a:solidFill>
                <a:effectLst/>
                <a:latin typeface="Poppins" panose="00000500000000000000" pitchFamily="2" charset="0"/>
                <a:cs typeface="Poppins" panose="00000500000000000000" pitchFamily="2" charset="0"/>
              </a:rPr>
              <a:t>AI Powered Digital Safety Co-Pilot</a:t>
            </a:r>
            <a:r>
              <a:rPr lang="en-US" sz="3000" b="1" i="0" u="none" strike="noStrike" cap="none" dirty="0">
                <a:solidFill>
                  <a:schemeClr val="tx1"/>
                </a:solidFill>
                <a:latin typeface="Poppins" panose="00000500000000000000" pitchFamily="2" charset="0"/>
                <a:ea typeface="Cormorant Garamond"/>
                <a:cs typeface="Poppins" panose="00000500000000000000" pitchFamily="2" charset="0"/>
                <a:sym typeface="Cormorant Garamond"/>
              </a:rPr>
              <a:t> </a:t>
            </a:r>
          </a:p>
          <a:p>
            <a:pPr marL="0" marR="0" lvl="0" indent="0" algn="ctr" rtl="0">
              <a:spcBef>
                <a:spcPts val="0"/>
              </a:spcBef>
              <a:spcAft>
                <a:spcPts val="0"/>
              </a:spcAft>
              <a:buClr>
                <a:srgbClr val="A3937F"/>
              </a:buClr>
              <a:buSzPts val="3900"/>
              <a:buFont typeface="Cormorant Garamond"/>
              <a:buNone/>
            </a:pPr>
            <a:r>
              <a:rPr lang="en-US" sz="3000" b="1" i="0" u="none" strike="noStrike" cap="none" dirty="0">
                <a:solidFill>
                  <a:schemeClr val="tx1"/>
                </a:solidFill>
                <a:latin typeface="Cormorant Garamond"/>
                <a:ea typeface="Cormorant Garamond"/>
                <a:cs typeface="Cormorant Garamond"/>
                <a:sym typeface="Cormorant Garamond"/>
              </a:rPr>
              <a:t> </a:t>
            </a:r>
            <a:endParaRPr sz="3000" b="0" i="0" u="none" strike="noStrike" cap="none" dirty="0">
              <a:solidFill>
                <a:schemeClr val="tx1"/>
              </a:solidFill>
              <a:latin typeface="Calibri"/>
              <a:ea typeface="Calibri"/>
              <a:cs typeface="Calibri"/>
              <a:sym typeface="Calibri"/>
            </a:endParaRPr>
          </a:p>
        </p:txBody>
      </p:sp>
      <p:sp>
        <p:nvSpPr>
          <p:cNvPr id="21" name="Google Shape;21;p3"/>
          <p:cNvSpPr/>
          <p:nvPr/>
        </p:nvSpPr>
        <p:spPr>
          <a:xfrm>
            <a:off x="1143000" y="8450399"/>
            <a:ext cx="16002000" cy="15875"/>
          </a:xfrm>
          <a:prstGeom prst="rect">
            <a:avLst/>
          </a:prstGeom>
          <a:solidFill>
            <a:srgbClr val="E5DC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p:nvPr/>
        </p:nvSpPr>
        <p:spPr>
          <a:xfrm>
            <a:off x="1143000" y="9131350"/>
            <a:ext cx="3960508" cy="102865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A3937F"/>
              </a:buClr>
              <a:buSzPts val="2175"/>
              <a:buFont typeface="Poppins"/>
              <a:buNone/>
            </a:pPr>
            <a:endParaRPr lang="en-US" sz="2175" dirty="0">
              <a:solidFill>
                <a:schemeClr val="tx1"/>
              </a:solidFill>
              <a:latin typeface="Poppins"/>
              <a:ea typeface="Calibri"/>
              <a:cs typeface="Poppins"/>
              <a:sym typeface="Poppins"/>
            </a:endParaRPr>
          </a:p>
        </p:txBody>
      </p:sp>
      <p:sp>
        <p:nvSpPr>
          <p:cNvPr id="24" name="Google Shape;24;p3"/>
          <p:cNvSpPr/>
          <p:nvPr/>
        </p:nvSpPr>
        <p:spPr>
          <a:xfrm>
            <a:off x="992703" y="8713887"/>
            <a:ext cx="3960508" cy="379412"/>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7A6A5B"/>
              </a:buClr>
              <a:buSzPts val="1800"/>
              <a:buFont typeface="Poppins"/>
              <a:buNone/>
            </a:pPr>
            <a:r>
              <a:rPr lang="en-US" sz="2000" b="1" i="0" u="none" strike="noStrike" cap="none" dirty="0">
                <a:solidFill>
                  <a:srgbClr val="7A6A5B"/>
                </a:solidFill>
                <a:latin typeface="Poppins"/>
                <a:ea typeface="Poppins"/>
                <a:cs typeface="Poppins"/>
                <a:sym typeface="Poppins"/>
              </a:rPr>
              <a:t>MENTOR</a:t>
            </a:r>
            <a:endParaRPr sz="2000" b="0" i="0" u="none" strike="noStrike" cap="none" dirty="0">
              <a:solidFill>
                <a:schemeClr val="dk1"/>
              </a:solidFill>
              <a:latin typeface="Calibri"/>
              <a:ea typeface="Calibri"/>
              <a:cs typeface="Calibri"/>
              <a:sym typeface="Calibri"/>
            </a:endParaRPr>
          </a:p>
        </p:txBody>
      </p:sp>
      <p:sp>
        <p:nvSpPr>
          <p:cNvPr id="25" name="Google Shape;25;p3"/>
          <p:cNvSpPr/>
          <p:nvPr/>
        </p:nvSpPr>
        <p:spPr>
          <a:xfrm>
            <a:off x="992703" y="9131350"/>
            <a:ext cx="3960508" cy="45085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A3937F"/>
              </a:buClr>
              <a:buSzPts val="2175"/>
              <a:buFont typeface="Poppins"/>
              <a:buNone/>
            </a:pPr>
            <a:r>
              <a:rPr lang="en-US" sz="1800" dirty="0">
                <a:solidFill>
                  <a:schemeClr val="tx1"/>
                </a:solidFill>
                <a:latin typeface="Poppins"/>
                <a:ea typeface="Calibri"/>
                <a:cs typeface="Poppins"/>
                <a:sym typeface="Poppins"/>
              </a:rPr>
              <a:t>Mr. AK Anand</a:t>
            </a:r>
            <a:endParaRPr sz="1800" b="0" i="0" u="none" strike="noStrike" cap="none" dirty="0">
              <a:solidFill>
                <a:schemeClr val="tx1"/>
              </a:solidFill>
              <a:latin typeface="Calibri"/>
              <a:ea typeface="Calibri"/>
              <a:cs typeface="Calibri"/>
              <a:sym typeface="Calibri"/>
            </a:endParaRPr>
          </a:p>
        </p:txBody>
      </p:sp>
      <p:sp>
        <p:nvSpPr>
          <p:cNvPr id="26" name="Google Shape;26;p3"/>
          <p:cNvSpPr/>
          <p:nvPr/>
        </p:nvSpPr>
        <p:spPr>
          <a:xfrm>
            <a:off x="5126528" y="8713887"/>
            <a:ext cx="3960508" cy="379412"/>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7A6A5B"/>
              </a:buClr>
              <a:buSzPts val="1800"/>
              <a:buFont typeface="Poppins"/>
              <a:buNone/>
            </a:pPr>
            <a:r>
              <a:rPr lang="en-US" sz="2000" b="1" i="0" u="none" strike="noStrike" cap="none" dirty="0">
                <a:solidFill>
                  <a:srgbClr val="7A6A5B"/>
                </a:solidFill>
                <a:latin typeface="Poppins"/>
                <a:ea typeface="Poppins"/>
                <a:cs typeface="Poppins"/>
                <a:sym typeface="Poppins"/>
              </a:rPr>
              <a:t>DATE</a:t>
            </a:r>
            <a:endParaRPr sz="2000" b="0" i="0" u="none" strike="noStrike" cap="none" dirty="0">
              <a:solidFill>
                <a:schemeClr val="dk1"/>
              </a:solidFill>
              <a:latin typeface="Calibri"/>
              <a:ea typeface="Calibri"/>
              <a:cs typeface="Calibri"/>
              <a:sym typeface="Calibri"/>
            </a:endParaRPr>
          </a:p>
        </p:txBody>
      </p:sp>
      <p:sp>
        <p:nvSpPr>
          <p:cNvPr id="27" name="Google Shape;27;p3"/>
          <p:cNvSpPr/>
          <p:nvPr/>
        </p:nvSpPr>
        <p:spPr>
          <a:xfrm>
            <a:off x="5126528" y="9131350"/>
            <a:ext cx="3960508" cy="45085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A3937F"/>
              </a:buClr>
              <a:buSzPts val="2175"/>
              <a:buFont typeface="Poppins"/>
              <a:buNone/>
            </a:pPr>
            <a:r>
              <a:rPr lang="en-US" sz="2175" dirty="0">
                <a:solidFill>
                  <a:srgbClr val="A3937F"/>
                </a:solidFill>
                <a:latin typeface="Poppins"/>
                <a:ea typeface="Poppins"/>
                <a:cs typeface="Poppins"/>
                <a:sym typeface="Poppins"/>
              </a:rPr>
              <a:t>05</a:t>
            </a:r>
            <a:r>
              <a:rPr lang="en-US" sz="2175" b="0" i="0" u="none" strike="noStrike" cap="none" dirty="0">
                <a:solidFill>
                  <a:srgbClr val="A3937F"/>
                </a:solidFill>
                <a:latin typeface="Poppins"/>
                <a:ea typeface="Poppins"/>
                <a:cs typeface="Poppins"/>
                <a:sym typeface="Poppins"/>
              </a:rPr>
              <a:t>.09.2026</a:t>
            </a:r>
            <a:endParaRPr sz="2175" b="0" i="0" u="none" strike="noStrike" cap="none" dirty="0">
              <a:solidFill>
                <a:schemeClr val="dk1"/>
              </a:solidFill>
              <a:latin typeface="Calibri"/>
              <a:ea typeface="Calibri"/>
              <a:cs typeface="Calibri"/>
              <a:sym typeface="Calibri"/>
            </a:endParaRPr>
          </a:p>
        </p:txBody>
      </p:sp>
      <p:sp>
        <p:nvSpPr>
          <p:cNvPr id="28" name="Google Shape;28;p3"/>
          <p:cNvSpPr/>
          <p:nvPr/>
        </p:nvSpPr>
        <p:spPr>
          <a:xfrm>
            <a:off x="9260354" y="8713887"/>
            <a:ext cx="3960577" cy="379412"/>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7A6A5B"/>
              </a:buClr>
              <a:buSzPts val="1800"/>
              <a:buFont typeface="Poppins"/>
              <a:buNone/>
            </a:pPr>
            <a:r>
              <a:rPr lang="en-US" sz="2000" b="1" i="0" u="none" strike="noStrike" cap="none" dirty="0">
                <a:solidFill>
                  <a:srgbClr val="7A6A5B"/>
                </a:solidFill>
                <a:latin typeface="Poppins"/>
                <a:ea typeface="Poppins"/>
                <a:cs typeface="Poppins"/>
                <a:sym typeface="Poppins"/>
              </a:rPr>
              <a:t>REPOSITORY</a:t>
            </a:r>
            <a:endParaRPr sz="2000" b="0" i="0" u="none" strike="noStrike" cap="none" dirty="0">
              <a:solidFill>
                <a:schemeClr val="dk1"/>
              </a:solidFill>
              <a:latin typeface="Calibri"/>
              <a:ea typeface="Calibri"/>
              <a:cs typeface="Calibri"/>
              <a:sym typeface="Calibri"/>
            </a:endParaRPr>
          </a:p>
        </p:txBody>
      </p:sp>
      <p:sp>
        <p:nvSpPr>
          <p:cNvPr id="29" name="Google Shape;29;p3"/>
          <p:cNvSpPr/>
          <p:nvPr/>
        </p:nvSpPr>
        <p:spPr>
          <a:xfrm>
            <a:off x="9260354" y="9131350"/>
            <a:ext cx="5505513" cy="876250"/>
          </a:xfrm>
          <a:prstGeom prst="rect">
            <a:avLst/>
          </a:prstGeom>
          <a:noFill/>
          <a:ln>
            <a:noFill/>
          </a:ln>
        </p:spPr>
        <p:txBody>
          <a:bodyPr spcFirstLastPara="1" wrap="square" lIns="25400" tIns="25400" rIns="25400" bIns="25400" anchor="t" anchorCtr="0">
            <a:noAutofit/>
          </a:bodyPr>
          <a:lstStyle/>
          <a:p>
            <a:pPr>
              <a:buClr>
                <a:srgbClr val="A3937F"/>
              </a:buClr>
              <a:buSzPts val="2175"/>
            </a:pPr>
            <a:r>
              <a:rPr lang="en-US" sz="2175" b="0" i="0" u="none" strike="noStrike" cap="none" dirty="0">
                <a:solidFill>
                  <a:schemeClr val="dk1"/>
                </a:solidFill>
                <a:latin typeface="Poppins" panose="00000500000000000000" pitchFamily="2" charset="0"/>
                <a:ea typeface="Calibri"/>
                <a:cs typeface="Poppins" panose="00000500000000000000" pitchFamily="2" charset="0"/>
                <a:sym typeface="Calibri"/>
                <a:hlinkClick r:id="rId4"/>
              </a:rPr>
              <a:t>https://github.com/Udyoga-Pramoda-Hackathon-2026/team-hayagreeva</a:t>
            </a:r>
            <a:r>
              <a:rPr lang="en-US" sz="2175" dirty="0">
                <a:solidFill>
                  <a:schemeClr val="dk1"/>
                </a:solidFill>
                <a:latin typeface="Poppins" panose="00000500000000000000" pitchFamily="2" charset="0"/>
                <a:ea typeface="Calibri"/>
                <a:cs typeface="Poppins" panose="00000500000000000000" pitchFamily="2" charset="0"/>
                <a:sym typeface="Calibri"/>
              </a:rPr>
              <a:t> </a:t>
            </a:r>
            <a:endParaRPr lang="en-US" sz="2175" b="0" i="0" u="none" strike="noStrike" cap="none" dirty="0">
              <a:solidFill>
                <a:schemeClr val="dk1"/>
              </a:solidFill>
              <a:latin typeface="Poppins" panose="00000500000000000000" pitchFamily="2" charset="0"/>
              <a:ea typeface="Calibri"/>
              <a:cs typeface="Poppins" panose="00000500000000000000" pitchFamily="2" charset="0"/>
              <a:sym typeface="Calibri"/>
            </a:endParaRPr>
          </a:p>
          <a:p>
            <a:pPr marL="0" marR="0" lvl="0" indent="0" algn="l" rtl="0">
              <a:spcBef>
                <a:spcPts val="0"/>
              </a:spcBef>
              <a:spcAft>
                <a:spcPts val="0"/>
              </a:spcAft>
              <a:buClr>
                <a:srgbClr val="A3937F"/>
              </a:buClr>
              <a:buSzPts val="2175"/>
              <a:buFont typeface="Poppins"/>
              <a:buNone/>
            </a:pPr>
            <a:endParaRPr sz="2175" b="0" i="0" u="none" strike="noStrike" cap="none" dirty="0">
              <a:solidFill>
                <a:schemeClr val="dk1"/>
              </a:solidFill>
              <a:latin typeface="Calibri"/>
              <a:ea typeface="Calibri"/>
              <a:cs typeface="Calibri"/>
              <a:sym typeface="Calibri"/>
            </a:endParaRPr>
          </a:p>
        </p:txBody>
      </p:sp>
      <p:graphicFrame>
        <p:nvGraphicFramePr>
          <p:cNvPr id="22" name="Table 2">
            <a:extLst>
              <a:ext uri="{FF2B5EF4-FFF2-40B4-BE49-F238E27FC236}">
                <a16:creationId xmlns:a16="http://schemas.microsoft.com/office/drawing/2014/main" id="{3A6F7914-1733-4479-B7FB-486361D2CC5C}"/>
              </a:ext>
            </a:extLst>
          </p:cNvPr>
          <p:cNvGraphicFramePr>
            <a:graphicFrameLocks noGrp="1"/>
          </p:cNvGraphicFramePr>
          <p:nvPr>
            <p:extLst>
              <p:ext uri="{D42A27DB-BD31-4B8C-83A1-F6EECF244321}">
                <p14:modId xmlns:p14="http://schemas.microsoft.com/office/powerpoint/2010/main" val="120632380"/>
              </p:ext>
            </p:extLst>
          </p:nvPr>
        </p:nvGraphicFramePr>
        <p:xfrm>
          <a:off x="1143000" y="6138512"/>
          <a:ext cx="9694333" cy="2106168"/>
        </p:xfrm>
        <a:graphic>
          <a:graphicData uri="http://schemas.openxmlformats.org/drawingml/2006/table">
            <a:tbl>
              <a:tblPr firstRow="1" bandRow="1">
                <a:tableStyleId>{21E4AEA4-8DFA-4A89-87EB-49C32662AFE0}</a:tableStyleId>
              </a:tblPr>
              <a:tblGrid>
                <a:gridCol w="5122333">
                  <a:extLst>
                    <a:ext uri="{9D8B030D-6E8A-4147-A177-3AD203B41FA5}">
                      <a16:colId xmlns:a16="http://schemas.microsoft.com/office/drawing/2014/main" val="3853004866"/>
                    </a:ext>
                  </a:extLst>
                </a:gridCol>
                <a:gridCol w="4572000">
                  <a:extLst>
                    <a:ext uri="{9D8B030D-6E8A-4147-A177-3AD203B41FA5}">
                      <a16:colId xmlns:a16="http://schemas.microsoft.com/office/drawing/2014/main" val="539101768"/>
                    </a:ext>
                  </a:extLst>
                </a:gridCol>
              </a:tblGrid>
              <a:tr h="370840">
                <a:tc>
                  <a:txBody>
                    <a:bodyPr/>
                    <a:lstStyle/>
                    <a:p>
                      <a:pPr algn="ctr"/>
                      <a:r>
                        <a:rPr lang="en-US" sz="2100" dirty="0">
                          <a:latin typeface="Poppins" panose="00000500000000000000" pitchFamily="2" charset="0"/>
                          <a:cs typeface="Poppins" panose="00000500000000000000" pitchFamily="2" charset="0"/>
                        </a:rPr>
                        <a:t>Team Members</a:t>
                      </a:r>
                      <a:endParaRPr lang="en-IN" sz="2100" dirty="0">
                        <a:latin typeface="Poppins" panose="00000500000000000000" pitchFamily="2" charset="0"/>
                        <a:cs typeface="Poppins" panose="00000500000000000000" pitchFamily="2" charset="0"/>
                      </a:endParaRPr>
                    </a:p>
                  </a:txBody>
                  <a:tcPr anchor="ctr"/>
                </a:tc>
                <a:tc>
                  <a:txBody>
                    <a:bodyPr/>
                    <a:lstStyle/>
                    <a:p>
                      <a:pPr algn="ctr"/>
                      <a:r>
                        <a:rPr lang="en-US" sz="2100" dirty="0">
                          <a:latin typeface="Poppins" panose="00000500000000000000" pitchFamily="2" charset="0"/>
                          <a:cs typeface="Poppins" panose="00000500000000000000" pitchFamily="2" charset="0"/>
                        </a:rPr>
                        <a:t>Roles</a:t>
                      </a:r>
                      <a:endParaRPr lang="en-IN" sz="2100" dirty="0">
                        <a:latin typeface="Poppins" panose="00000500000000000000" pitchFamily="2" charset="0"/>
                        <a:cs typeface="Poppins" panose="00000500000000000000" pitchFamily="2" charset="0"/>
                      </a:endParaRPr>
                    </a:p>
                  </a:txBody>
                  <a:tcPr anchor="ctr"/>
                </a:tc>
                <a:extLst>
                  <a:ext uri="{0D108BD9-81ED-4DB2-BD59-A6C34878D82A}">
                    <a16:rowId xmlns:a16="http://schemas.microsoft.com/office/drawing/2014/main" val="2257106648"/>
                  </a:ext>
                </a:extLst>
              </a:tr>
              <a:tr h="370840">
                <a:tc>
                  <a:txBody>
                    <a:bodyPr/>
                    <a:lstStyle/>
                    <a:p>
                      <a:pPr algn="l"/>
                      <a:r>
                        <a:rPr lang="en-US" sz="2180" dirty="0">
                          <a:latin typeface="Poppins" panose="00000500000000000000" pitchFamily="2" charset="0"/>
                          <a:cs typeface="Poppins" panose="00000500000000000000" pitchFamily="2" charset="0"/>
                        </a:rPr>
                        <a:t>Prateek Deshpande </a:t>
                      </a:r>
                      <a:endParaRPr lang="en-IN" sz="2180" dirty="0">
                        <a:latin typeface="Poppins" panose="00000500000000000000" pitchFamily="2" charset="0"/>
                        <a:cs typeface="Poppins" panose="00000500000000000000" pitchFamily="2" charset="0"/>
                      </a:endParaRPr>
                    </a:p>
                  </a:txBody>
                  <a:tcPr anchor="ctr"/>
                </a:tc>
                <a:tc>
                  <a:txBody>
                    <a:bodyPr/>
                    <a:lstStyle/>
                    <a:p>
                      <a:r>
                        <a:rPr lang="en-US" sz="2180" dirty="0">
                          <a:latin typeface="Poppins" panose="00000500000000000000" pitchFamily="2" charset="0"/>
                          <a:cs typeface="Poppins" panose="00000500000000000000" pitchFamily="2" charset="0"/>
                        </a:rPr>
                        <a:t>Team Leader, Research Analyst</a:t>
                      </a:r>
                      <a:endParaRPr lang="en-IN" sz="2180" dirty="0">
                        <a:latin typeface="Poppins" panose="00000500000000000000" pitchFamily="2" charset="0"/>
                        <a:cs typeface="Poppins" panose="00000500000000000000" pitchFamily="2" charset="0"/>
                      </a:endParaRPr>
                    </a:p>
                  </a:txBody>
                  <a:tcPr/>
                </a:tc>
                <a:extLst>
                  <a:ext uri="{0D108BD9-81ED-4DB2-BD59-A6C34878D82A}">
                    <a16:rowId xmlns:a16="http://schemas.microsoft.com/office/drawing/2014/main" val="4259155966"/>
                  </a:ext>
                </a:extLst>
              </a:tr>
              <a:tr h="370840">
                <a:tc>
                  <a:txBody>
                    <a:bodyPr/>
                    <a:lstStyle/>
                    <a:p>
                      <a:pPr algn="l"/>
                      <a:r>
                        <a:rPr lang="en-US" sz="2180" dirty="0" err="1">
                          <a:latin typeface="Poppins" panose="00000500000000000000" pitchFamily="2" charset="0"/>
                          <a:cs typeface="Poppins" panose="00000500000000000000" pitchFamily="2" charset="0"/>
                        </a:rPr>
                        <a:t>Adithi</a:t>
                      </a:r>
                      <a:r>
                        <a:rPr lang="en-US" sz="2180" dirty="0">
                          <a:latin typeface="Poppins" panose="00000500000000000000" pitchFamily="2" charset="0"/>
                          <a:cs typeface="Poppins" panose="00000500000000000000" pitchFamily="2" charset="0"/>
                        </a:rPr>
                        <a:t> D S</a:t>
                      </a:r>
                      <a:endParaRPr lang="en-IN" sz="2180" dirty="0">
                        <a:latin typeface="Poppins" panose="00000500000000000000" pitchFamily="2" charset="0"/>
                        <a:cs typeface="Poppins" panose="00000500000000000000" pitchFamily="2" charset="0"/>
                      </a:endParaRPr>
                    </a:p>
                  </a:txBody>
                  <a:tcPr anchor="ctr"/>
                </a:tc>
                <a:tc>
                  <a:txBody>
                    <a:bodyPr/>
                    <a:lstStyle/>
                    <a:p>
                      <a:r>
                        <a:rPr lang="en-US" sz="2180" dirty="0">
                          <a:latin typeface="Poppins" panose="00000500000000000000" pitchFamily="2" charset="0"/>
                          <a:cs typeface="Poppins" panose="00000500000000000000" pitchFamily="2" charset="0"/>
                        </a:rPr>
                        <a:t>Team member, Tester</a:t>
                      </a:r>
                      <a:endParaRPr lang="en-IN" sz="2180" dirty="0">
                        <a:latin typeface="Poppins" panose="00000500000000000000" pitchFamily="2" charset="0"/>
                        <a:cs typeface="Poppins" panose="00000500000000000000" pitchFamily="2" charset="0"/>
                      </a:endParaRPr>
                    </a:p>
                  </a:txBody>
                  <a:tcPr/>
                </a:tc>
                <a:extLst>
                  <a:ext uri="{0D108BD9-81ED-4DB2-BD59-A6C34878D82A}">
                    <a16:rowId xmlns:a16="http://schemas.microsoft.com/office/drawing/2014/main" val="93092818"/>
                  </a:ext>
                </a:extLst>
              </a:tr>
              <a:tr h="370840">
                <a:tc>
                  <a:txBody>
                    <a:bodyPr/>
                    <a:lstStyle/>
                    <a:p>
                      <a:pPr algn="l"/>
                      <a:r>
                        <a:rPr lang="en-US" sz="2180" dirty="0">
                          <a:latin typeface="Poppins" panose="00000500000000000000" pitchFamily="2" charset="0"/>
                          <a:cs typeface="Poppins" panose="00000500000000000000" pitchFamily="2" charset="0"/>
                        </a:rPr>
                        <a:t>K </a:t>
                      </a:r>
                      <a:r>
                        <a:rPr lang="en-US" sz="2180" dirty="0" err="1">
                          <a:latin typeface="Poppins" panose="00000500000000000000" pitchFamily="2" charset="0"/>
                          <a:cs typeface="Poppins" panose="00000500000000000000" pitchFamily="2" charset="0"/>
                        </a:rPr>
                        <a:t>Aasritha</a:t>
                      </a:r>
                      <a:r>
                        <a:rPr lang="en-US" sz="2180" dirty="0">
                          <a:latin typeface="Poppins" panose="00000500000000000000" pitchFamily="2" charset="0"/>
                          <a:cs typeface="Poppins" panose="00000500000000000000" pitchFamily="2" charset="0"/>
                        </a:rPr>
                        <a:t> Vardhan</a:t>
                      </a:r>
                      <a:endParaRPr lang="en-IN" sz="2180" dirty="0">
                        <a:latin typeface="Poppins" panose="00000500000000000000" pitchFamily="2" charset="0"/>
                        <a:cs typeface="Poppins" panose="00000500000000000000" pitchFamily="2" charset="0"/>
                      </a:endParaRPr>
                    </a:p>
                  </a:txBody>
                  <a:tcPr anchor="ctr"/>
                </a:tc>
                <a:tc>
                  <a:txBody>
                    <a:bodyPr/>
                    <a:lstStyle/>
                    <a:p>
                      <a:r>
                        <a:rPr lang="en-US" sz="2180" dirty="0">
                          <a:latin typeface="Poppins" panose="00000500000000000000" pitchFamily="2" charset="0"/>
                          <a:cs typeface="Poppins" panose="00000500000000000000" pitchFamily="2" charset="0"/>
                        </a:rPr>
                        <a:t>Team member, Developer</a:t>
                      </a:r>
                      <a:endParaRPr lang="en-IN" sz="2180" dirty="0">
                        <a:latin typeface="Poppins" panose="00000500000000000000" pitchFamily="2" charset="0"/>
                        <a:cs typeface="Poppins" panose="00000500000000000000" pitchFamily="2" charset="0"/>
                      </a:endParaRPr>
                    </a:p>
                  </a:txBody>
                  <a:tcPr/>
                </a:tc>
                <a:extLst>
                  <a:ext uri="{0D108BD9-81ED-4DB2-BD59-A6C34878D82A}">
                    <a16:rowId xmlns:a16="http://schemas.microsoft.com/office/drawing/2014/main" val="3996616134"/>
                  </a:ext>
                </a:extLst>
              </a:tr>
              <a:tr h="370840">
                <a:tc>
                  <a:txBody>
                    <a:bodyPr/>
                    <a:lstStyle/>
                    <a:p>
                      <a:pPr algn="l"/>
                      <a:r>
                        <a:rPr lang="en-US" sz="2180" dirty="0" err="1">
                          <a:latin typeface="Poppins" panose="00000500000000000000" pitchFamily="2" charset="0"/>
                          <a:cs typeface="Poppins" panose="00000500000000000000" pitchFamily="2" charset="0"/>
                        </a:rPr>
                        <a:t>Satvik</a:t>
                      </a:r>
                      <a:r>
                        <a:rPr lang="en-US" sz="2180" dirty="0">
                          <a:latin typeface="Poppins" panose="00000500000000000000" pitchFamily="2" charset="0"/>
                          <a:cs typeface="Poppins" panose="00000500000000000000" pitchFamily="2" charset="0"/>
                        </a:rPr>
                        <a:t> </a:t>
                      </a:r>
                      <a:r>
                        <a:rPr lang="en-US" sz="2180" dirty="0" err="1">
                          <a:latin typeface="Poppins" panose="00000500000000000000" pitchFamily="2" charset="0"/>
                          <a:cs typeface="Poppins" panose="00000500000000000000" pitchFamily="2" charset="0"/>
                        </a:rPr>
                        <a:t>Pandurangi</a:t>
                      </a:r>
                      <a:endParaRPr lang="en-IN" sz="2180" dirty="0">
                        <a:latin typeface="Poppins" panose="00000500000000000000" pitchFamily="2" charset="0"/>
                        <a:cs typeface="Poppins" panose="00000500000000000000" pitchFamily="2" charset="0"/>
                      </a:endParaRPr>
                    </a:p>
                  </a:txBody>
                  <a:tcPr anchor="ctr"/>
                </a:tc>
                <a:tc>
                  <a:txBody>
                    <a:bodyPr/>
                    <a:lstStyle/>
                    <a:p>
                      <a:r>
                        <a:rPr lang="en-US" sz="2180" dirty="0">
                          <a:latin typeface="Poppins" panose="00000500000000000000" pitchFamily="2" charset="0"/>
                          <a:cs typeface="Poppins" panose="00000500000000000000" pitchFamily="2" charset="0"/>
                        </a:rPr>
                        <a:t>Team member, Developer</a:t>
                      </a:r>
                      <a:endParaRPr lang="en-IN" sz="2180" dirty="0">
                        <a:latin typeface="Poppins" panose="00000500000000000000" pitchFamily="2" charset="0"/>
                        <a:cs typeface="Poppins" panose="00000500000000000000" pitchFamily="2" charset="0"/>
                      </a:endParaRPr>
                    </a:p>
                  </a:txBody>
                  <a:tcPr/>
                </a:tc>
                <a:extLst>
                  <a:ext uri="{0D108BD9-81ED-4DB2-BD59-A6C34878D82A}">
                    <a16:rowId xmlns:a16="http://schemas.microsoft.com/office/drawing/2014/main" val="3768397340"/>
                  </a:ext>
                </a:extLst>
              </a:tr>
            </a:tbl>
          </a:graphicData>
        </a:graphic>
      </p:graphicFrame>
      <p:pic>
        <p:nvPicPr>
          <p:cNvPr id="6" name="Picture 5">
            <a:extLst>
              <a:ext uri="{FF2B5EF4-FFF2-40B4-BE49-F238E27FC236}">
                <a16:creationId xmlns:a16="http://schemas.microsoft.com/office/drawing/2014/main" id="{5C02A0DB-5D26-4595-86CB-FC94FB109A42}"/>
              </a:ext>
            </a:extLst>
          </p:cNvPr>
          <p:cNvPicPr>
            <a:picLocks noChangeAspect="1"/>
          </p:cNvPicPr>
          <p:nvPr/>
        </p:nvPicPr>
        <p:blipFill>
          <a:blip r:embed="rId5"/>
          <a:srcRect/>
          <a:stretch/>
        </p:blipFill>
        <p:spPr>
          <a:xfrm>
            <a:off x="11240642" y="2668379"/>
            <a:ext cx="5534407" cy="5534407"/>
          </a:xfrm>
          <a:prstGeom prst="rect">
            <a:avLst/>
          </a:prstGeom>
        </p:spPr>
      </p:pic>
      <p:sp>
        <p:nvSpPr>
          <p:cNvPr id="30" name="Google Shape;20;p3">
            <a:extLst>
              <a:ext uri="{FF2B5EF4-FFF2-40B4-BE49-F238E27FC236}">
                <a16:creationId xmlns:a16="http://schemas.microsoft.com/office/drawing/2014/main" id="{D39E4FB9-C52D-408A-A155-1B4D07D5A2D1}"/>
              </a:ext>
            </a:extLst>
          </p:cNvPr>
          <p:cNvSpPr/>
          <p:nvPr/>
        </p:nvSpPr>
        <p:spPr>
          <a:xfrm>
            <a:off x="1143000" y="5052636"/>
            <a:ext cx="9694334" cy="637381"/>
          </a:xfrm>
          <a:prstGeom prst="rect">
            <a:avLst/>
          </a:prstGeom>
          <a:noFill/>
          <a:ln>
            <a:noFill/>
          </a:ln>
        </p:spPr>
        <p:txBody>
          <a:bodyPr spcFirstLastPara="1" wrap="square" lIns="25400" tIns="25400" rIns="25400" bIns="25400" anchor="ctr" anchorCtr="0">
            <a:noAutofit/>
          </a:bodyPr>
          <a:lstStyle/>
          <a:p>
            <a:pPr marL="0" marR="0" lvl="0" indent="0" algn="ctr" rtl="0">
              <a:spcBef>
                <a:spcPts val="0"/>
              </a:spcBef>
              <a:spcAft>
                <a:spcPts val="0"/>
              </a:spcAft>
              <a:buClr>
                <a:srgbClr val="A3937F"/>
              </a:buClr>
              <a:buSzPts val="3900"/>
              <a:buFont typeface="Cormorant Garamond"/>
              <a:buNone/>
            </a:pPr>
            <a:r>
              <a:rPr lang="en-US" sz="3000" b="1" dirty="0">
                <a:solidFill>
                  <a:schemeClr val="tx1"/>
                </a:solidFill>
                <a:latin typeface="Poppins" panose="00000500000000000000" pitchFamily="2" charset="0"/>
                <a:ea typeface="Cormorant Garamond"/>
                <a:cs typeface="Poppins" panose="00000500000000000000" pitchFamily="2" charset="0"/>
                <a:sym typeface="Cormorant Garamond"/>
              </a:rPr>
              <a:t>“SUDARSHAN KAVACH”</a:t>
            </a:r>
          </a:p>
          <a:p>
            <a:pPr marL="0" marR="0" lvl="0" indent="0" algn="ctr" rtl="0">
              <a:spcBef>
                <a:spcPts val="0"/>
              </a:spcBef>
              <a:spcAft>
                <a:spcPts val="0"/>
              </a:spcAft>
              <a:buClr>
                <a:srgbClr val="A3937F"/>
              </a:buClr>
              <a:buSzPts val="3900"/>
              <a:buFont typeface="Cormorant Garamond"/>
              <a:buNone/>
            </a:pPr>
            <a:endParaRPr lang="en-US" sz="3000" b="1" i="0" u="none" strike="noStrike" cap="none" dirty="0">
              <a:solidFill>
                <a:schemeClr val="tx1"/>
              </a:solidFill>
              <a:latin typeface="Poppins" panose="00000500000000000000" pitchFamily="2" charset="0"/>
              <a:ea typeface="Cormorant Garamond"/>
              <a:cs typeface="Poppins" panose="00000500000000000000" pitchFamily="2" charset="0"/>
              <a:sym typeface="Cormorant Garamon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BF7F0"/>
        </a:solidFill>
        <a:effectLst/>
      </p:bgPr>
    </p:bg>
    <p:spTree>
      <p:nvGrpSpPr>
        <p:cNvPr id="1" name="Shape 34"/>
        <p:cNvGrpSpPr/>
        <p:nvPr/>
      </p:nvGrpSpPr>
      <p:grpSpPr>
        <a:xfrm>
          <a:off x="0" y="0"/>
          <a:ext cx="0" cy="0"/>
          <a:chOff x="0" y="0"/>
          <a:chExt cx="0" cy="0"/>
        </a:xfrm>
      </p:grpSpPr>
      <p:sp>
        <p:nvSpPr>
          <p:cNvPr id="35" name="Google Shape;35;p4"/>
          <p:cNvSpPr/>
          <p:nvPr/>
        </p:nvSpPr>
        <p:spPr>
          <a:xfrm>
            <a:off x="1143000" y="742900"/>
            <a:ext cx="1843249" cy="379412"/>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F0592B"/>
              </a:buClr>
              <a:buSzPts val="1800"/>
              <a:buFont typeface="Poppins"/>
              <a:buNone/>
            </a:pPr>
            <a:r>
              <a:rPr lang="en-US" sz="1800" b="1" i="0" u="none" strike="noStrike" cap="none">
                <a:solidFill>
                  <a:srgbClr val="F0592B"/>
                </a:solidFill>
                <a:latin typeface="Poppins"/>
                <a:ea typeface="Poppins"/>
                <a:cs typeface="Poppins"/>
                <a:sym typeface="Poppins"/>
              </a:rPr>
              <a:t>SECTION 01</a:t>
            </a:r>
            <a:endParaRPr sz="1800" b="0" i="0" u="none" strike="noStrike" cap="none">
              <a:solidFill>
                <a:schemeClr val="dk1"/>
              </a:solidFill>
              <a:latin typeface="Calibri"/>
              <a:ea typeface="Calibri"/>
              <a:cs typeface="Calibri"/>
              <a:sym typeface="Calibri"/>
            </a:endParaRPr>
          </a:p>
        </p:txBody>
      </p:sp>
      <p:pic>
        <p:nvPicPr>
          <p:cNvPr id="36" name="Google Shape;36;p4" descr="preencoded.png"/>
          <p:cNvPicPr preferRelativeResize="0"/>
          <p:nvPr/>
        </p:nvPicPr>
        <p:blipFill rotWithShape="1">
          <a:blip r:embed="rId3">
            <a:alphaModFix/>
          </a:blip>
          <a:srcRect/>
          <a:stretch/>
        </p:blipFill>
        <p:spPr>
          <a:xfrm>
            <a:off x="14954250" y="742900"/>
            <a:ext cx="2190750" cy="637666"/>
          </a:xfrm>
          <a:prstGeom prst="rect">
            <a:avLst/>
          </a:prstGeom>
          <a:noFill/>
          <a:ln>
            <a:noFill/>
          </a:ln>
        </p:spPr>
      </p:pic>
      <p:sp>
        <p:nvSpPr>
          <p:cNvPr id="37" name="Google Shape;37;p4"/>
          <p:cNvSpPr/>
          <p:nvPr/>
        </p:nvSpPr>
        <p:spPr>
          <a:xfrm>
            <a:off x="1143000" y="1628180"/>
            <a:ext cx="17602200" cy="757002"/>
          </a:xfrm>
          <a:prstGeom prst="rect">
            <a:avLst/>
          </a:prstGeom>
          <a:noFill/>
          <a:ln>
            <a:noFill/>
          </a:ln>
        </p:spPr>
        <p:txBody>
          <a:bodyPr spcFirstLastPara="1" wrap="square" lIns="25400" tIns="25400" rIns="25400" bIns="25400" anchor="t" anchorCtr="0">
            <a:noAutofit/>
          </a:bodyPr>
          <a:lstStyle/>
          <a:p>
            <a:pPr marL="0" marR="0" lvl="0" indent="0" algn="l" rtl="0">
              <a:lnSpc>
                <a:spcPct val="68102"/>
              </a:lnSpc>
              <a:spcBef>
                <a:spcPts val="0"/>
              </a:spcBef>
              <a:spcAft>
                <a:spcPts val="0"/>
              </a:spcAft>
              <a:buClr>
                <a:srgbClr val="2A1E16"/>
              </a:buClr>
              <a:buSzPts val="5550"/>
              <a:buFont typeface="Poppins"/>
              <a:buNone/>
            </a:pPr>
            <a:r>
              <a:rPr lang="en-US" sz="5550" b="1" i="0" u="none" strike="noStrike" cap="none">
                <a:solidFill>
                  <a:srgbClr val="2A1E16"/>
                </a:solidFill>
                <a:latin typeface="Poppins"/>
                <a:ea typeface="Poppins"/>
                <a:cs typeface="Poppins"/>
                <a:sym typeface="Poppins"/>
              </a:rPr>
              <a:t>Problem definition</a:t>
            </a:r>
            <a:endParaRPr sz="5550" b="0" i="0" u="none" strike="noStrike" cap="none">
              <a:solidFill>
                <a:schemeClr val="dk1"/>
              </a:solidFill>
              <a:latin typeface="Calibri"/>
              <a:ea typeface="Calibri"/>
              <a:cs typeface="Calibri"/>
              <a:sym typeface="Calibri"/>
            </a:endParaRPr>
          </a:p>
        </p:txBody>
      </p:sp>
      <p:sp>
        <p:nvSpPr>
          <p:cNvPr id="38" name="Google Shape;38;p4"/>
          <p:cNvSpPr/>
          <p:nvPr/>
        </p:nvSpPr>
        <p:spPr>
          <a:xfrm>
            <a:off x="1143000" y="2461369"/>
            <a:ext cx="17602200" cy="442913"/>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7A6A5B"/>
              </a:buClr>
              <a:buSzPts val="2100"/>
              <a:buFont typeface="Poppins"/>
              <a:buNone/>
            </a:pPr>
            <a:r>
              <a:rPr lang="en-US" sz="2100" b="0" i="0" u="none" strike="noStrike" cap="none">
                <a:solidFill>
                  <a:srgbClr val="7A6A5B"/>
                </a:solidFill>
                <a:latin typeface="Poppins"/>
                <a:ea typeface="Poppins"/>
                <a:cs typeface="Poppins"/>
                <a:sym typeface="Poppins"/>
              </a:rPr>
              <a:t>What are we solving, why does it matter, and why now?</a:t>
            </a:r>
            <a:endParaRPr sz="2100" b="0" i="0" u="none" strike="noStrike" cap="none">
              <a:solidFill>
                <a:schemeClr val="dk1"/>
              </a:solidFill>
              <a:latin typeface="Calibri"/>
              <a:ea typeface="Calibri"/>
              <a:cs typeface="Calibri"/>
              <a:sym typeface="Calibri"/>
            </a:endParaRPr>
          </a:p>
        </p:txBody>
      </p:sp>
      <p:sp>
        <p:nvSpPr>
          <p:cNvPr id="39" name="Google Shape;39;p4"/>
          <p:cNvSpPr/>
          <p:nvPr/>
        </p:nvSpPr>
        <p:spPr>
          <a:xfrm>
            <a:off x="1143000" y="3113794"/>
            <a:ext cx="16002000" cy="15875"/>
          </a:xfrm>
          <a:prstGeom prst="rect">
            <a:avLst/>
          </a:prstGeom>
          <a:solidFill>
            <a:srgbClr val="E5DC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4"/>
          <p:cNvSpPr/>
          <p:nvPr/>
        </p:nvSpPr>
        <p:spPr>
          <a:xfrm>
            <a:off x="1143000" y="3358244"/>
            <a:ext cx="5476267" cy="395288"/>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F0592B"/>
              </a:buClr>
              <a:buSzPts val="1875"/>
              <a:buFont typeface="Poppins"/>
              <a:buNone/>
            </a:pPr>
            <a:r>
              <a:rPr lang="en-US" sz="1875" b="1" i="0" u="none" strike="noStrike" cap="none" dirty="0">
                <a:solidFill>
                  <a:srgbClr val="F0592B"/>
                </a:solidFill>
                <a:latin typeface="Poppins"/>
                <a:ea typeface="Poppins"/>
                <a:cs typeface="Poppins"/>
                <a:sym typeface="Poppins"/>
              </a:rPr>
              <a:t>THE PROBLEM</a:t>
            </a:r>
            <a:endParaRPr sz="1875" b="0" i="0" u="none" strike="noStrike" cap="none" dirty="0">
              <a:solidFill>
                <a:schemeClr val="dk1"/>
              </a:solidFill>
              <a:latin typeface="Calibri"/>
              <a:ea typeface="Calibri"/>
              <a:cs typeface="Calibri"/>
              <a:sym typeface="Calibri"/>
            </a:endParaRPr>
          </a:p>
        </p:txBody>
      </p:sp>
      <p:sp>
        <p:nvSpPr>
          <p:cNvPr id="41" name="Google Shape;41;p4"/>
          <p:cNvSpPr/>
          <p:nvPr/>
        </p:nvSpPr>
        <p:spPr>
          <a:xfrm>
            <a:off x="1143000" y="3867795"/>
            <a:ext cx="4978425" cy="5733417"/>
          </a:xfrm>
          <a:prstGeom prst="rect">
            <a:avLst/>
          </a:prstGeom>
          <a:solidFill>
            <a:srgbClr val="F7F1E6"/>
          </a:solidFill>
          <a:ln w="15875" cap="flat" cmpd="sng">
            <a:solidFill>
              <a:srgbClr val="DCCFBB"/>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IN" dirty="0"/>
          </a:p>
        </p:txBody>
      </p:sp>
      <p:sp>
        <p:nvSpPr>
          <p:cNvPr id="42" name="Google Shape;42;p4"/>
          <p:cNvSpPr/>
          <p:nvPr/>
        </p:nvSpPr>
        <p:spPr>
          <a:xfrm>
            <a:off x="1333550" y="3892164"/>
            <a:ext cx="4465084" cy="5213813"/>
          </a:xfrm>
          <a:prstGeom prst="rect">
            <a:avLst/>
          </a:prstGeom>
          <a:noFill/>
          <a:ln>
            <a:noFill/>
          </a:ln>
        </p:spPr>
        <p:txBody>
          <a:bodyPr spcFirstLastPara="1" wrap="square" lIns="25400" tIns="25400" rIns="25400" bIns="25400" anchor="t" anchorCtr="0">
            <a:noAutofit/>
          </a:bodyPr>
          <a:lstStyle/>
          <a:p>
            <a:pPr marL="342900" indent="-342900" algn="just">
              <a:lnSpc>
                <a:spcPct val="96667"/>
              </a:lnSpc>
              <a:buClr>
                <a:srgbClr val="A3937F"/>
              </a:buClr>
              <a:buSzPts val="1875"/>
              <a:buFont typeface="Arial" panose="020B0604020202020204" pitchFamily="34" charset="0"/>
              <a:buChar char="•"/>
            </a:pPr>
            <a:br>
              <a:rPr lang="en-US" sz="1875" b="0" i="0" u="none" strike="noStrike" cap="none" dirty="0">
                <a:solidFill>
                  <a:schemeClr val="dk1"/>
                </a:solidFill>
                <a:latin typeface="Poppins" panose="00000500000000000000" pitchFamily="2" charset="0"/>
                <a:ea typeface="Calibri"/>
                <a:cs typeface="Poppins" panose="00000500000000000000" pitchFamily="2" charset="0"/>
                <a:sym typeface="Calibri"/>
              </a:rPr>
            </a:br>
            <a:r>
              <a:rPr lang="en-IN" sz="1800" dirty="0">
                <a:latin typeface="Poppins" panose="00000500000000000000" pitchFamily="2" charset="0"/>
                <a:cs typeface="Poppins" panose="00000500000000000000" pitchFamily="2" charset="0"/>
              </a:rPr>
              <a:t>Digital scams are becoming a growing threat to citizens in India everyday, These threats are reaching them via phone calls, websites, emails, social media, WhatsApp, SMS, and online payment methods. Navigating this landscape is especially challenging for senior citizens and less tech savvy adults and individuals, as they frequently find it difficult to distinguish between authentic communications and fraudulent links, QR codes, or payment demands. </a:t>
            </a:r>
          </a:p>
          <a:p>
            <a:pPr marL="342900" marR="0" lvl="0" indent="-342900" algn="just" rtl="0">
              <a:lnSpc>
                <a:spcPct val="96667"/>
              </a:lnSpc>
              <a:spcBef>
                <a:spcPts val="0"/>
              </a:spcBef>
              <a:spcAft>
                <a:spcPts val="0"/>
              </a:spcAft>
              <a:buClr>
                <a:srgbClr val="A3937F"/>
              </a:buClr>
              <a:buSzPts val="1875"/>
              <a:buFont typeface="Arial" panose="020B0604020202020204" pitchFamily="34" charset="0"/>
              <a:buChar char="•"/>
            </a:pPr>
            <a:endParaRPr sz="1875" b="0" i="0" u="none" strike="noStrike" cap="none" dirty="0">
              <a:solidFill>
                <a:schemeClr val="dk1"/>
              </a:solidFill>
              <a:latin typeface="Poppins" panose="00000500000000000000" pitchFamily="2" charset="0"/>
              <a:ea typeface="Calibri"/>
              <a:cs typeface="Poppins" panose="00000500000000000000" pitchFamily="2" charset="0"/>
              <a:sym typeface="Calibri"/>
            </a:endParaRPr>
          </a:p>
        </p:txBody>
      </p:sp>
      <p:sp>
        <p:nvSpPr>
          <p:cNvPr id="44" name="Google Shape;44;p4"/>
          <p:cNvSpPr/>
          <p:nvPr/>
        </p:nvSpPr>
        <p:spPr>
          <a:xfrm>
            <a:off x="6654787" y="3358244"/>
            <a:ext cx="5476267" cy="395288"/>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F0592B"/>
              </a:buClr>
              <a:buSzPts val="1875"/>
              <a:buFont typeface="Poppins"/>
              <a:buNone/>
            </a:pPr>
            <a:r>
              <a:rPr lang="en-US" sz="1875" b="1" i="0" u="none" strike="noStrike" cap="none" dirty="0">
                <a:solidFill>
                  <a:srgbClr val="F0592B"/>
                </a:solidFill>
                <a:latin typeface="Poppins"/>
                <a:ea typeface="Poppins"/>
                <a:cs typeface="Poppins"/>
                <a:sym typeface="Poppins"/>
              </a:rPr>
              <a:t>WHY IT MATTERS</a:t>
            </a:r>
            <a:endParaRPr sz="1875" b="0" i="0" u="none" strike="noStrike" cap="none" dirty="0">
              <a:solidFill>
                <a:schemeClr val="dk1"/>
              </a:solidFill>
              <a:latin typeface="Calibri"/>
              <a:ea typeface="Calibri"/>
              <a:cs typeface="Calibri"/>
              <a:sym typeface="Calibri"/>
            </a:endParaRPr>
          </a:p>
        </p:txBody>
      </p:sp>
      <p:sp>
        <p:nvSpPr>
          <p:cNvPr id="45" name="Google Shape;45;p4"/>
          <p:cNvSpPr/>
          <p:nvPr/>
        </p:nvSpPr>
        <p:spPr>
          <a:xfrm>
            <a:off x="6654787" y="3890517"/>
            <a:ext cx="4978425" cy="5733417"/>
          </a:xfrm>
          <a:prstGeom prst="rect">
            <a:avLst/>
          </a:prstGeom>
          <a:solidFill>
            <a:srgbClr val="F7F1E6"/>
          </a:solidFill>
          <a:ln w="15875" cap="flat" cmpd="sng">
            <a:solidFill>
              <a:srgbClr val="DCCFBB"/>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4"/>
          <p:cNvSpPr/>
          <p:nvPr/>
        </p:nvSpPr>
        <p:spPr>
          <a:xfrm>
            <a:off x="6975450" y="4150320"/>
            <a:ext cx="4467212" cy="5213813"/>
          </a:xfrm>
          <a:prstGeom prst="rect">
            <a:avLst/>
          </a:prstGeom>
          <a:noFill/>
          <a:ln>
            <a:noFill/>
          </a:ln>
        </p:spPr>
        <p:txBody>
          <a:bodyPr spcFirstLastPara="1" wrap="square" lIns="25400" tIns="25400" rIns="25400" bIns="25400" anchor="t" anchorCtr="0">
            <a:noAutofit/>
          </a:bodyPr>
          <a:lstStyle/>
          <a:p>
            <a:r>
              <a:rPr lang="en-IN" sz="1800" dirty="0">
                <a:latin typeface="Poppins" panose="00000500000000000000" pitchFamily="2" charset="77"/>
                <a:cs typeface="Poppins" panose="00000500000000000000" pitchFamily="2" charset="77"/>
              </a:rPr>
              <a:t>These digital scams carry severe consequences, including devastating </a:t>
            </a:r>
            <a:r>
              <a:rPr lang="en-IN" sz="1800" b="1" dirty="0">
                <a:latin typeface="Poppins" panose="00000500000000000000" pitchFamily="2" charset="77"/>
                <a:cs typeface="Poppins" panose="00000500000000000000" pitchFamily="2" charset="77"/>
              </a:rPr>
              <a:t>financial losses, the theft of sensitive personal data, and </a:t>
            </a:r>
            <a:r>
              <a:rPr lang="en-IN" sz="1800" b="1" dirty="0">
                <a:solidFill>
                  <a:schemeClr val="dk1"/>
                </a:solidFill>
                <a:latin typeface="Poppins" panose="00000500000000000000" pitchFamily="2" charset="77"/>
                <a:cs typeface="Poppins" panose="00000500000000000000" pitchFamily="2" charset="77"/>
              </a:rPr>
              <a:t>compromised</a:t>
            </a:r>
            <a:r>
              <a:rPr lang="en-IN" sz="1800" b="1" dirty="0">
                <a:latin typeface="Poppins" panose="00000500000000000000" pitchFamily="2" charset="77"/>
                <a:cs typeface="Poppins" panose="00000500000000000000" pitchFamily="2" charset="77"/>
              </a:rPr>
              <a:t> online accounts</a:t>
            </a:r>
            <a:r>
              <a:rPr lang="en-IN" sz="1800" dirty="0">
                <a:latin typeface="Poppins" panose="00000500000000000000" pitchFamily="2" charset="77"/>
                <a:cs typeface="Poppins" panose="00000500000000000000" pitchFamily="2" charset="77"/>
              </a:rPr>
              <a:t>. </a:t>
            </a:r>
          </a:p>
          <a:p>
            <a:r>
              <a:rPr lang="en-IN" sz="1800" dirty="0">
                <a:latin typeface="Poppins" panose="00000500000000000000" pitchFamily="2" charset="77"/>
                <a:cs typeface="Poppins" panose="00000500000000000000" pitchFamily="2" charset="77"/>
              </a:rPr>
              <a:t>Initial research conducted with few retired govt employees have accepted the intensity of this problem. Out come study: </a:t>
            </a:r>
          </a:p>
          <a:p>
            <a:pPr lvl="0"/>
            <a:r>
              <a:rPr lang="en-IN" sz="1800" b="1" dirty="0">
                <a:latin typeface="Poppins" panose="00000500000000000000" pitchFamily="2" charset="77"/>
                <a:cs typeface="Poppins" panose="00000500000000000000" pitchFamily="2" charset="77"/>
              </a:rPr>
              <a:t>Scam formats</a:t>
            </a:r>
            <a:r>
              <a:rPr lang="en-IN" sz="1800" dirty="0">
                <a:latin typeface="Poppins" panose="00000500000000000000" pitchFamily="2" charset="77"/>
                <a:cs typeface="Poppins" panose="00000500000000000000" pitchFamily="2" charset="77"/>
              </a:rPr>
              <a:t>: Participants frequently encountered fraudulent SMS messages and malicious QR codes. </a:t>
            </a:r>
          </a:p>
          <a:p>
            <a:pPr lvl="0"/>
            <a:r>
              <a:rPr lang="en-IN" sz="1800" b="1" dirty="0">
                <a:latin typeface="Poppins" panose="00000500000000000000" pitchFamily="2" charset="77"/>
                <a:cs typeface="Poppins" panose="00000500000000000000" pitchFamily="2" charset="77"/>
              </a:rPr>
              <a:t>Primary hurdle: </a:t>
            </a:r>
            <a:r>
              <a:rPr lang="en-IN" sz="1800" dirty="0">
                <a:latin typeface="Poppins" panose="00000500000000000000" pitchFamily="2" charset="77"/>
                <a:cs typeface="Poppins" panose="00000500000000000000" pitchFamily="2" charset="77"/>
              </a:rPr>
              <a:t>Their greatest challenge was to identify the authenticity of communication. </a:t>
            </a:r>
          </a:p>
          <a:p>
            <a:pPr lvl="0"/>
            <a:r>
              <a:rPr lang="en-IN" sz="1800" b="1" dirty="0">
                <a:latin typeface="Poppins" panose="00000500000000000000" pitchFamily="2" charset="77"/>
                <a:cs typeface="Poppins" panose="00000500000000000000" pitchFamily="2" charset="77"/>
              </a:rPr>
              <a:t>Current workarounds</a:t>
            </a:r>
            <a:r>
              <a:rPr lang="en-IN" sz="1800" dirty="0">
                <a:latin typeface="Poppins" panose="00000500000000000000" pitchFamily="2" charset="77"/>
                <a:cs typeface="Poppins" panose="00000500000000000000" pitchFamily="2" charset="77"/>
              </a:rPr>
              <a:t>: To protect themselves, users heavily rely on family members, quick unsafe web searches</a:t>
            </a:r>
          </a:p>
        </p:txBody>
      </p:sp>
      <p:sp>
        <p:nvSpPr>
          <p:cNvPr id="48" name="Google Shape;48;p4"/>
          <p:cNvSpPr/>
          <p:nvPr/>
        </p:nvSpPr>
        <p:spPr>
          <a:xfrm>
            <a:off x="12166575" y="3358244"/>
            <a:ext cx="5476267" cy="395288"/>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F0592B"/>
              </a:buClr>
              <a:buSzPts val="1875"/>
              <a:buFont typeface="Poppins"/>
              <a:buNone/>
            </a:pPr>
            <a:r>
              <a:rPr lang="en-US" sz="1875" b="1" i="0" u="none" strike="noStrike" cap="none">
                <a:solidFill>
                  <a:srgbClr val="F0592B"/>
                </a:solidFill>
                <a:latin typeface="Poppins"/>
                <a:ea typeface="Poppins"/>
                <a:cs typeface="Poppins"/>
                <a:sym typeface="Poppins"/>
              </a:rPr>
              <a:t>WHY NOW</a:t>
            </a:r>
            <a:endParaRPr sz="1875" b="0" i="0" u="none" strike="noStrike" cap="none">
              <a:solidFill>
                <a:schemeClr val="dk1"/>
              </a:solidFill>
              <a:latin typeface="Calibri"/>
              <a:ea typeface="Calibri"/>
              <a:cs typeface="Calibri"/>
              <a:sym typeface="Calibri"/>
            </a:endParaRPr>
          </a:p>
        </p:txBody>
      </p:sp>
      <p:sp>
        <p:nvSpPr>
          <p:cNvPr id="49" name="Google Shape;49;p4"/>
          <p:cNvSpPr/>
          <p:nvPr/>
        </p:nvSpPr>
        <p:spPr>
          <a:xfrm>
            <a:off x="12166575" y="3867795"/>
            <a:ext cx="4978425" cy="5733417"/>
          </a:xfrm>
          <a:prstGeom prst="rect">
            <a:avLst/>
          </a:prstGeom>
          <a:solidFill>
            <a:srgbClr val="F7F1E6"/>
          </a:solidFill>
          <a:ln w="15875" cap="flat" cmpd="sng">
            <a:solidFill>
              <a:srgbClr val="DCCFBB"/>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4"/>
          <p:cNvSpPr/>
          <p:nvPr/>
        </p:nvSpPr>
        <p:spPr>
          <a:xfrm>
            <a:off x="12487238" y="4150320"/>
            <a:ext cx="4467212" cy="5213813"/>
          </a:xfrm>
          <a:prstGeom prst="rect">
            <a:avLst/>
          </a:prstGeom>
          <a:noFill/>
          <a:ln>
            <a:noFill/>
          </a:ln>
        </p:spPr>
        <p:txBody>
          <a:bodyPr spcFirstLastPara="1" wrap="square" lIns="25400" tIns="25400" rIns="25400" bIns="25400" anchor="t" anchorCtr="0">
            <a:noAutofit/>
          </a:bodyPr>
          <a:lstStyle/>
          <a:p>
            <a:pPr marL="0" marR="0" lvl="0" indent="0" algn="l" rtl="0">
              <a:lnSpc>
                <a:spcPct val="96667"/>
              </a:lnSpc>
              <a:spcBef>
                <a:spcPts val="0"/>
              </a:spcBef>
              <a:spcAft>
                <a:spcPts val="0"/>
              </a:spcAft>
              <a:buClr>
                <a:srgbClr val="A3937F"/>
              </a:buClr>
              <a:buSzPts val="1875"/>
              <a:buFont typeface="Poppins"/>
              <a:buNone/>
            </a:pPr>
            <a:r>
              <a:rPr lang="en-US" sz="1800" b="0" i="0" u="none" strike="noStrike" cap="none" dirty="0">
                <a:solidFill>
                  <a:schemeClr val="tx1"/>
                </a:solidFill>
                <a:latin typeface="Poppins" panose="00000500000000000000" pitchFamily="2" charset="0"/>
                <a:ea typeface="Calibri"/>
                <a:cs typeface="Poppins" panose="00000500000000000000" pitchFamily="2" charset="0"/>
                <a:sym typeface="Calibri"/>
              </a:rPr>
              <a:t>Currently widespread use of smartphones, UPI Payments, mobile banking and online services made life simpler and simultaneously increased the exposure to online frauds and phishing attacks. </a:t>
            </a:r>
            <a:br>
              <a:rPr lang="en-US" sz="1800" b="0" i="0" u="none" strike="noStrike" cap="none" dirty="0">
                <a:solidFill>
                  <a:schemeClr val="tx1"/>
                </a:solidFill>
                <a:latin typeface="Poppins" panose="00000500000000000000" pitchFamily="2" charset="0"/>
                <a:ea typeface="Calibri"/>
                <a:cs typeface="Poppins" panose="00000500000000000000" pitchFamily="2" charset="0"/>
                <a:sym typeface="Calibri"/>
              </a:rPr>
            </a:br>
            <a:br>
              <a:rPr lang="en-US" sz="1800" b="0" i="0" u="none" strike="noStrike" cap="none" dirty="0">
                <a:solidFill>
                  <a:schemeClr val="tx1"/>
                </a:solidFill>
                <a:latin typeface="Poppins" panose="00000500000000000000" pitchFamily="2" charset="0"/>
                <a:ea typeface="Calibri"/>
                <a:cs typeface="Poppins" panose="00000500000000000000" pitchFamily="2" charset="0"/>
                <a:sym typeface="Calibri"/>
              </a:rPr>
            </a:br>
            <a:r>
              <a:rPr lang="en-US" sz="1800" b="0" i="0" u="none" strike="noStrike" cap="none" dirty="0">
                <a:solidFill>
                  <a:schemeClr val="tx1"/>
                </a:solidFill>
                <a:latin typeface="Poppins" panose="00000500000000000000" pitchFamily="2" charset="0"/>
                <a:ea typeface="Calibri"/>
                <a:cs typeface="Poppins" panose="00000500000000000000" pitchFamily="2" charset="0"/>
                <a:sym typeface="Calibri"/>
              </a:rPr>
              <a:t>As these scams are taking new techniques to get their prey, less technically exposed people find it very difficult to identify the threat and be on safe side. </a:t>
            </a:r>
            <a:br>
              <a:rPr lang="en-US" sz="1800" b="0" i="0" u="none" strike="noStrike" cap="none" dirty="0">
                <a:solidFill>
                  <a:schemeClr val="tx1"/>
                </a:solidFill>
                <a:latin typeface="Poppins" panose="00000500000000000000" pitchFamily="2" charset="0"/>
                <a:ea typeface="Calibri"/>
                <a:cs typeface="Poppins" panose="00000500000000000000" pitchFamily="2" charset="0"/>
                <a:sym typeface="Calibri"/>
              </a:rPr>
            </a:br>
            <a:br>
              <a:rPr lang="en-US" sz="1800" b="0" i="0" u="none" strike="noStrike" cap="none" dirty="0">
                <a:solidFill>
                  <a:schemeClr val="tx1"/>
                </a:solidFill>
                <a:latin typeface="Poppins" panose="00000500000000000000" pitchFamily="2" charset="0"/>
                <a:ea typeface="Calibri"/>
                <a:cs typeface="Poppins" panose="00000500000000000000" pitchFamily="2" charset="0"/>
                <a:sym typeface="Calibri"/>
              </a:rPr>
            </a:br>
            <a:r>
              <a:rPr lang="en-US" sz="1800" b="0" i="0" u="none" strike="noStrike" cap="none" dirty="0">
                <a:solidFill>
                  <a:schemeClr val="tx1"/>
                </a:solidFill>
                <a:latin typeface="Poppins" panose="00000500000000000000" pitchFamily="2" charset="0"/>
                <a:ea typeface="Calibri"/>
                <a:cs typeface="Poppins" panose="00000500000000000000" pitchFamily="2" charset="0"/>
                <a:sym typeface="Calibri"/>
              </a:rPr>
              <a:t>Hence there is an urgent demand for a straightforward, user friendly and digital safety tool to identify and caution about the possible scam, before they click on link, use the payment link, scan a QR code etc. </a:t>
            </a:r>
            <a:endParaRPr sz="1800" b="0" i="0" u="none" strike="noStrike" cap="none" dirty="0">
              <a:solidFill>
                <a:schemeClr val="tx1"/>
              </a:solidFill>
              <a:latin typeface="Poppins" panose="00000500000000000000" pitchFamily="2" charset="0"/>
              <a:ea typeface="Calibri"/>
              <a:cs typeface="Poppins" panose="00000500000000000000" pitchFamily="2" charset="0"/>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BF7F0"/>
        </a:solidFill>
        <a:effectLst/>
      </p:bgPr>
    </p:bg>
    <p:spTree>
      <p:nvGrpSpPr>
        <p:cNvPr id="1" name="Shape 56"/>
        <p:cNvGrpSpPr/>
        <p:nvPr/>
      </p:nvGrpSpPr>
      <p:grpSpPr>
        <a:xfrm>
          <a:off x="0" y="0"/>
          <a:ext cx="0" cy="0"/>
          <a:chOff x="0" y="0"/>
          <a:chExt cx="0" cy="0"/>
        </a:xfrm>
      </p:grpSpPr>
      <p:sp>
        <p:nvSpPr>
          <p:cNvPr id="57" name="Google Shape;57;p5"/>
          <p:cNvSpPr/>
          <p:nvPr/>
        </p:nvSpPr>
        <p:spPr>
          <a:xfrm>
            <a:off x="1143000" y="742900"/>
            <a:ext cx="1896523" cy="379412"/>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F0592B"/>
              </a:buClr>
              <a:buSzPts val="1800"/>
              <a:buFont typeface="Poppins"/>
              <a:buNone/>
            </a:pPr>
            <a:r>
              <a:rPr lang="en-US" sz="1800" b="1" i="0" u="none" strike="noStrike" cap="none">
                <a:solidFill>
                  <a:srgbClr val="F0592B"/>
                </a:solidFill>
                <a:latin typeface="Poppins"/>
                <a:ea typeface="Poppins"/>
                <a:cs typeface="Poppins"/>
                <a:sym typeface="Poppins"/>
              </a:rPr>
              <a:t>SECTION 02</a:t>
            </a:r>
            <a:endParaRPr sz="1800" b="0" i="0" u="none" strike="noStrike" cap="none">
              <a:solidFill>
                <a:schemeClr val="dk1"/>
              </a:solidFill>
              <a:latin typeface="Calibri"/>
              <a:ea typeface="Calibri"/>
              <a:cs typeface="Calibri"/>
              <a:sym typeface="Calibri"/>
            </a:endParaRPr>
          </a:p>
        </p:txBody>
      </p:sp>
      <p:pic>
        <p:nvPicPr>
          <p:cNvPr id="58" name="Google Shape;58;p5" descr="preencoded.png"/>
          <p:cNvPicPr preferRelativeResize="0"/>
          <p:nvPr/>
        </p:nvPicPr>
        <p:blipFill rotWithShape="1">
          <a:blip r:embed="rId3">
            <a:alphaModFix/>
          </a:blip>
          <a:srcRect/>
          <a:stretch/>
        </p:blipFill>
        <p:spPr>
          <a:xfrm>
            <a:off x="14954250" y="742900"/>
            <a:ext cx="2190750" cy="637666"/>
          </a:xfrm>
          <a:prstGeom prst="rect">
            <a:avLst/>
          </a:prstGeom>
          <a:noFill/>
          <a:ln>
            <a:noFill/>
          </a:ln>
        </p:spPr>
      </p:pic>
      <p:sp>
        <p:nvSpPr>
          <p:cNvPr id="59" name="Google Shape;59;p5"/>
          <p:cNvSpPr/>
          <p:nvPr/>
        </p:nvSpPr>
        <p:spPr>
          <a:xfrm>
            <a:off x="1143000" y="1628180"/>
            <a:ext cx="17602200" cy="757002"/>
          </a:xfrm>
          <a:prstGeom prst="rect">
            <a:avLst/>
          </a:prstGeom>
          <a:noFill/>
          <a:ln>
            <a:noFill/>
          </a:ln>
        </p:spPr>
        <p:txBody>
          <a:bodyPr spcFirstLastPara="1" wrap="square" lIns="25400" tIns="25400" rIns="25400" bIns="25400" anchor="t" anchorCtr="0">
            <a:noAutofit/>
          </a:bodyPr>
          <a:lstStyle/>
          <a:p>
            <a:pPr marL="0" marR="0" lvl="0" indent="0" algn="l" rtl="0">
              <a:lnSpc>
                <a:spcPct val="68102"/>
              </a:lnSpc>
              <a:spcBef>
                <a:spcPts val="0"/>
              </a:spcBef>
              <a:spcAft>
                <a:spcPts val="0"/>
              </a:spcAft>
              <a:buClr>
                <a:srgbClr val="2A1E16"/>
              </a:buClr>
              <a:buSzPts val="5550"/>
              <a:buFont typeface="Poppins"/>
              <a:buNone/>
            </a:pPr>
            <a:r>
              <a:rPr lang="en-US" sz="5550" b="1" i="0" u="none" strike="noStrike" cap="none">
                <a:solidFill>
                  <a:srgbClr val="2A1E16"/>
                </a:solidFill>
                <a:latin typeface="Poppins"/>
                <a:ea typeface="Poppins"/>
                <a:cs typeface="Poppins"/>
                <a:sym typeface="Poppins"/>
              </a:rPr>
              <a:t>Target user</a:t>
            </a:r>
            <a:endParaRPr sz="5550" b="0" i="0" u="none" strike="noStrike" cap="none">
              <a:solidFill>
                <a:schemeClr val="dk1"/>
              </a:solidFill>
              <a:latin typeface="Calibri"/>
              <a:ea typeface="Calibri"/>
              <a:cs typeface="Calibri"/>
              <a:sym typeface="Calibri"/>
            </a:endParaRPr>
          </a:p>
        </p:txBody>
      </p:sp>
      <p:sp>
        <p:nvSpPr>
          <p:cNvPr id="60" name="Google Shape;60;p5"/>
          <p:cNvSpPr/>
          <p:nvPr/>
        </p:nvSpPr>
        <p:spPr>
          <a:xfrm>
            <a:off x="1143000" y="2461369"/>
            <a:ext cx="17602200" cy="442913"/>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7A6A5B"/>
              </a:buClr>
              <a:buSzPts val="2100"/>
              <a:buFont typeface="Poppins"/>
              <a:buNone/>
            </a:pPr>
            <a:r>
              <a:rPr lang="en-US" sz="2100" b="0" i="0" u="none" strike="noStrike" cap="none">
                <a:solidFill>
                  <a:srgbClr val="7A6A5B"/>
                </a:solidFill>
                <a:latin typeface="Poppins"/>
                <a:ea typeface="Poppins"/>
                <a:cs typeface="Poppins"/>
                <a:sym typeface="Poppins"/>
              </a:rPr>
              <a:t>Who experiences this problem, and who experiences it most strongly?</a:t>
            </a:r>
            <a:endParaRPr sz="2100" b="0" i="0" u="none" strike="noStrike" cap="none">
              <a:solidFill>
                <a:schemeClr val="dk1"/>
              </a:solidFill>
              <a:latin typeface="Calibri"/>
              <a:ea typeface="Calibri"/>
              <a:cs typeface="Calibri"/>
              <a:sym typeface="Calibri"/>
            </a:endParaRPr>
          </a:p>
        </p:txBody>
      </p:sp>
      <p:sp>
        <p:nvSpPr>
          <p:cNvPr id="61" name="Google Shape;61;p5"/>
          <p:cNvSpPr/>
          <p:nvPr/>
        </p:nvSpPr>
        <p:spPr>
          <a:xfrm>
            <a:off x="1143000" y="3113794"/>
            <a:ext cx="16002000" cy="15875"/>
          </a:xfrm>
          <a:prstGeom prst="rect">
            <a:avLst/>
          </a:prstGeom>
          <a:solidFill>
            <a:srgbClr val="E5DC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5"/>
          <p:cNvSpPr/>
          <p:nvPr/>
        </p:nvSpPr>
        <p:spPr>
          <a:xfrm>
            <a:off x="1143000" y="3358244"/>
            <a:ext cx="5476267" cy="395288"/>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F0592B"/>
              </a:buClr>
              <a:buSzPts val="1875"/>
              <a:buFont typeface="Poppins"/>
              <a:buNone/>
            </a:pPr>
            <a:r>
              <a:rPr lang="en-US" sz="1875" b="1" i="0" u="none" strike="noStrike" cap="none">
                <a:solidFill>
                  <a:srgbClr val="F0592B"/>
                </a:solidFill>
                <a:latin typeface="Poppins"/>
                <a:ea typeface="Poppins"/>
                <a:cs typeface="Poppins"/>
                <a:sym typeface="Poppins"/>
              </a:rPr>
              <a:t>PRIMARY USER</a:t>
            </a:r>
            <a:endParaRPr sz="1875" b="0" i="0" u="none" strike="noStrike" cap="none">
              <a:solidFill>
                <a:schemeClr val="dk1"/>
              </a:solidFill>
              <a:latin typeface="Calibri"/>
              <a:ea typeface="Calibri"/>
              <a:cs typeface="Calibri"/>
              <a:sym typeface="Calibri"/>
            </a:endParaRPr>
          </a:p>
        </p:txBody>
      </p:sp>
      <p:sp>
        <p:nvSpPr>
          <p:cNvPr id="63" name="Google Shape;63;p5"/>
          <p:cNvSpPr/>
          <p:nvPr/>
        </p:nvSpPr>
        <p:spPr>
          <a:xfrm>
            <a:off x="1143000" y="3867795"/>
            <a:ext cx="4978425" cy="5733417"/>
          </a:xfrm>
          <a:prstGeom prst="rect">
            <a:avLst/>
          </a:prstGeom>
          <a:solidFill>
            <a:srgbClr val="F7F1E6"/>
          </a:solidFill>
          <a:ln w="15875" cap="flat" cmpd="sng">
            <a:solidFill>
              <a:srgbClr val="DCCFBB"/>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5"/>
          <p:cNvSpPr/>
          <p:nvPr/>
        </p:nvSpPr>
        <p:spPr>
          <a:xfrm>
            <a:off x="1463663" y="4150320"/>
            <a:ext cx="4467212" cy="5196880"/>
          </a:xfrm>
          <a:prstGeom prst="rect">
            <a:avLst/>
          </a:prstGeom>
          <a:noFill/>
          <a:ln>
            <a:noFill/>
          </a:ln>
        </p:spPr>
        <p:txBody>
          <a:bodyPr spcFirstLastPara="1" wrap="square" lIns="25400" tIns="25400" rIns="25400" bIns="25400" anchor="t" anchorCtr="0">
            <a:noAutofit/>
          </a:bodyPr>
          <a:lstStyle/>
          <a:p>
            <a:pPr marL="342900" indent="-342900" algn="just">
              <a:buFont typeface="Arial" panose="020B0604020202020204" pitchFamily="34" charset="0"/>
              <a:buChar char="•"/>
            </a:pPr>
            <a:r>
              <a:rPr lang="en-US" sz="1800" b="1" dirty="0">
                <a:latin typeface="Poppins" panose="00000500000000000000" pitchFamily="2" charset="0"/>
                <a:cs typeface="Poppins" panose="00000500000000000000" pitchFamily="2" charset="0"/>
              </a:rPr>
              <a:t>Senior Citizens</a:t>
            </a:r>
          </a:p>
          <a:p>
            <a:pPr marL="342900" indent="-342900" algn="just">
              <a:buFont typeface="Arial" panose="020B0604020202020204" pitchFamily="34" charset="0"/>
              <a:buChar char="•"/>
            </a:pPr>
            <a:r>
              <a:rPr lang="en-US" sz="1800" dirty="0">
                <a:latin typeface="Poppins" panose="00000500000000000000" pitchFamily="2" charset="0"/>
                <a:cs typeface="Poppins" panose="00000500000000000000" pitchFamily="2" charset="0"/>
              </a:rPr>
              <a:t>They use services such as UPI and mobile banking but may have difficulty identifying Phishing or  scam messages, links and payment requests.</a:t>
            </a:r>
          </a:p>
          <a:p>
            <a:pPr marL="342900" indent="-342900" algn="just">
              <a:buFont typeface="Arial" panose="020B0604020202020204" pitchFamily="34" charset="0"/>
              <a:buChar char="•"/>
            </a:pPr>
            <a:r>
              <a:rPr lang="en-US" sz="1800" dirty="0">
                <a:latin typeface="Poppins" panose="00000500000000000000" pitchFamily="2" charset="0"/>
                <a:cs typeface="Poppins" panose="00000500000000000000" pitchFamily="2" charset="0"/>
              </a:rPr>
              <a:t>The lack of awareness creates confusion and hence they end up falling to the scamster’s prey</a:t>
            </a:r>
          </a:p>
          <a:p>
            <a:pPr marL="0" marR="0" lvl="0" indent="0" algn="l" rtl="0">
              <a:lnSpc>
                <a:spcPct val="96667"/>
              </a:lnSpc>
              <a:spcBef>
                <a:spcPts val="0"/>
              </a:spcBef>
              <a:spcAft>
                <a:spcPts val="0"/>
              </a:spcAft>
              <a:buClr>
                <a:srgbClr val="A3937F"/>
              </a:buClr>
              <a:buSzPts val="1875"/>
              <a:buFont typeface="Poppins"/>
              <a:buNone/>
            </a:pPr>
            <a:endParaRPr sz="1800" b="0" i="0" u="none" strike="noStrike" cap="none" dirty="0">
              <a:solidFill>
                <a:schemeClr val="dk1"/>
              </a:solidFill>
              <a:latin typeface="Calibri"/>
              <a:ea typeface="Calibri"/>
              <a:cs typeface="Calibri"/>
              <a:sym typeface="Calibri"/>
            </a:endParaRPr>
          </a:p>
        </p:txBody>
      </p:sp>
      <p:sp>
        <p:nvSpPr>
          <p:cNvPr id="66" name="Google Shape;66;p5"/>
          <p:cNvSpPr/>
          <p:nvPr/>
        </p:nvSpPr>
        <p:spPr>
          <a:xfrm>
            <a:off x="6654787" y="3358244"/>
            <a:ext cx="5476267" cy="395288"/>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F0592B"/>
              </a:buClr>
              <a:buSzPts val="1875"/>
              <a:buFont typeface="Poppins"/>
              <a:buNone/>
            </a:pPr>
            <a:r>
              <a:rPr lang="en-US" sz="1875" b="1" i="0" u="none" strike="noStrike" cap="none">
                <a:solidFill>
                  <a:srgbClr val="F0592B"/>
                </a:solidFill>
                <a:latin typeface="Poppins"/>
                <a:ea typeface="Poppins"/>
                <a:cs typeface="Poppins"/>
                <a:sym typeface="Poppins"/>
              </a:rPr>
              <a:t>SECONDARY USER</a:t>
            </a:r>
            <a:endParaRPr sz="1875" b="0" i="0" u="none" strike="noStrike" cap="none">
              <a:solidFill>
                <a:schemeClr val="dk1"/>
              </a:solidFill>
              <a:latin typeface="Calibri"/>
              <a:ea typeface="Calibri"/>
              <a:cs typeface="Calibri"/>
              <a:sym typeface="Calibri"/>
            </a:endParaRPr>
          </a:p>
        </p:txBody>
      </p:sp>
      <p:sp>
        <p:nvSpPr>
          <p:cNvPr id="67" name="Google Shape;67;p5"/>
          <p:cNvSpPr/>
          <p:nvPr/>
        </p:nvSpPr>
        <p:spPr>
          <a:xfrm>
            <a:off x="6654787" y="3867795"/>
            <a:ext cx="4978425" cy="5733417"/>
          </a:xfrm>
          <a:prstGeom prst="rect">
            <a:avLst/>
          </a:prstGeom>
          <a:solidFill>
            <a:srgbClr val="F7F1E6"/>
          </a:solidFill>
          <a:ln w="15875" cap="flat" cmpd="sng">
            <a:solidFill>
              <a:srgbClr val="DCCFBB"/>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5"/>
          <p:cNvSpPr/>
          <p:nvPr/>
        </p:nvSpPr>
        <p:spPr>
          <a:xfrm>
            <a:off x="6975450" y="4150320"/>
            <a:ext cx="4467212" cy="728663"/>
          </a:xfrm>
          <a:prstGeom prst="rect">
            <a:avLst/>
          </a:prstGeom>
          <a:noFill/>
          <a:ln>
            <a:noFill/>
          </a:ln>
        </p:spPr>
        <p:txBody>
          <a:bodyPr spcFirstLastPara="1" wrap="square" lIns="25400" tIns="25400" rIns="25400" bIns="25400" anchor="t" anchorCtr="0">
            <a:noAutofit/>
          </a:bodyPr>
          <a:lstStyle/>
          <a:p>
            <a:pPr marL="342900" indent="-342900" algn="just">
              <a:buFont typeface="Arial" panose="020B0604020202020204" pitchFamily="34" charset="0"/>
              <a:buChar char="•"/>
            </a:pPr>
            <a:r>
              <a:rPr lang="en-US" sz="1800" b="1" dirty="0">
                <a:latin typeface="Poppins" panose="00000500000000000000" pitchFamily="2" charset="0"/>
                <a:cs typeface="Poppins" panose="00000500000000000000" pitchFamily="2" charset="0"/>
              </a:rPr>
              <a:t>People who are less tech savvy </a:t>
            </a:r>
            <a:r>
              <a:rPr lang="en-US" sz="1800" dirty="0">
                <a:latin typeface="Poppins" panose="00000500000000000000" pitchFamily="2" charset="0"/>
                <a:cs typeface="Poppins" panose="00000500000000000000" pitchFamily="2" charset="0"/>
              </a:rPr>
              <a:t>who help senior citizens with digital transactions and suspicious communications.</a:t>
            </a:r>
          </a:p>
          <a:p>
            <a:pPr marL="342900" indent="-342900" algn="just">
              <a:buFont typeface="Arial" panose="020B0604020202020204" pitchFamily="34" charset="0"/>
              <a:buChar char="•"/>
            </a:pPr>
            <a:r>
              <a:rPr lang="en-US" sz="1800" b="1" dirty="0">
                <a:latin typeface="Poppins" panose="00000500000000000000" pitchFamily="2" charset="0"/>
                <a:cs typeface="Poppins" panose="00000500000000000000" pitchFamily="2" charset="0"/>
              </a:rPr>
              <a:t>General citizens</a:t>
            </a:r>
            <a:r>
              <a:rPr lang="en-US" sz="1800" dirty="0">
                <a:latin typeface="Poppins" panose="00000500000000000000" pitchFamily="2" charset="0"/>
                <a:cs typeface="Poppins" panose="00000500000000000000" pitchFamily="2" charset="0"/>
              </a:rPr>
              <a:t> Knowingly or unknowingly anyone will end up by clicking on suspicious links received in emails, SMSs &amp; WhatsApp messages. Also some people respond to fake job offers.</a:t>
            </a:r>
          </a:p>
          <a:p>
            <a:pPr marL="0" marR="0" lvl="0" indent="0" algn="just" rtl="0">
              <a:lnSpc>
                <a:spcPct val="96667"/>
              </a:lnSpc>
              <a:spcBef>
                <a:spcPts val="0"/>
              </a:spcBef>
              <a:spcAft>
                <a:spcPts val="0"/>
              </a:spcAft>
              <a:buClr>
                <a:srgbClr val="A3937F"/>
              </a:buClr>
              <a:buSzPts val="1875"/>
              <a:buFont typeface="Poppins"/>
              <a:buNone/>
            </a:pPr>
            <a:endParaRPr sz="1800" b="0" i="0" u="none" strike="noStrike" cap="none" dirty="0">
              <a:solidFill>
                <a:schemeClr val="dk1"/>
              </a:solidFill>
              <a:latin typeface="Poppins" panose="00000500000000000000" pitchFamily="2" charset="0"/>
              <a:ea typeface="Calibri"/>
              <a:cs typeface="Poppins" panose="00000500000000000000" pitchFamily="2" charset="0"/>
              <a:sym typeface="Calibri"/>
            </a:endParaRPr>
          </a:p>
        </p:txBody>
      </p:sp>
      <p:sp>
        <p:nvSpPr>
          <p:cNvPr id="70" name="Google Shape;70;p5"/>
          <p:cNvSpPr/>
          <p:nvPr/>
        </p:nvSpPr>
        <p:spPr>
          <a:xfrm>
            <a:off x="12166575" y="3358244"/>
            <a:ext cx="5476267" cy="395288"/>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F0592B"/>
              </a:buClr>
              <a:buSzPts val="1875"/>
              <a:buFont typeface="Poppins"/>
              <a:buNone/>
            </a:pPr>
            <a:r>
              <a:rPr lang="en-US" sz="1875" b="1" i="0" u="none" strike="noStrike" cap="none">
                <a:solidFill>
                  <a:srgbClr val="F0592B"/>
                </a:solidFill>
                <a:latin typeface="Poppins"/>
                <a:ea typeface="Poppins"/>
                <a:cs typeface="Poppins"/>
                <a:sym typeface="Poppins"/>
              </a:rPr>
              <a:t>FEELS IT MOST STRONGLY</a:t>
            </a:r>
            <a:endParaRPr sz="1875" b="0" i="0" u="none" strike="noStrike" cap="none">
              <a:solidFill>
                <a:schemeClr val="dk1"/>
              </a:solidFill>
              <a:latin typeface="Calibri"/>
              <a:ea typeface="Calibri"/>
              <a:cs typeface="Calibri"/>
              <a:sym typeface="Calibri"/>
            </a:endParaRPr>
          </a:p>
        </p:txBody>
      </p:sp>
      <p:sp>
        <p:nvSpPr>
          <p:cNvPr id="71" name="Google Shape;71;p5"/>
          <p:cNvSpPr/>
          <p:nvPr/>
        </p:nvSpPr>
        <p:spPr>
          <a:xfrm>
            <a:off x="12166575" y="3867795"/>
            <a:ext cx="4978425" cy="5733417"/>
          </a:xfrm>
          <a:prstGeom prst="rect">
            <a:avLst/>
          </a:prstGeom>
          <a:solidFill>
            <a:srgbClr val="F7F1E6"/>
          </a:solidFill>
          <a:ln w="15875" cap="flat" cmpd="sng">
            <a:solidFill>
              <a:srgbClr val="DCCFBB"/>
            </a:solidFill>
            <a:prstDash val="dash"/>
            <a:round/>
            <a:headEnd type="none" w="sm" len="sm"/>
            <a:tailEnd type="none" w="sm" len="sm"/>
          </a:ln>
        </p:spPr>
        <p:txBody>
          <a:bodyPr spcFirstLastPara="1" wrap="square" lIns="91425" tIns="91425" rIns="91425" bIns="91425" anchor="ctr" anchorCtr="0">
            <a:no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lvl="0" indent="0" algn="l" rtl="0">
              <a:spcBef>
                <a:spcPts val="0"/>
              </a:spcBef>
              <a:spcAft>
                <a:spcPts val="0"/>
              </a:spcAft>
              <a:buNone/>
            </a:pPr>
            <a:endParaRPr dirty="0"/>
          </a:p>
        </p:txBody>
      </p:sp>
      <p:sp>
        <p:nvSpPr>
          <p:cNvPr id="72" name="Google Shape;72;p5"/>
          <p:cNvSpPr/>
          <p:nvPr/>
        </p:nvSpPr>
        <p:spPr>
          <a:xfrm>
            <a:off x="12487238" y="4150320"/>
            <a:ext cx="4467212" cy="3675311"/>
          </a:xfrm>
          <a:prstGeom prst="rect">
            <a:avLst/>
          </a:prstGeom>
          <a:noFill/>
          <a:ln>
            <a:noFill/>
          </a:ln>
        </p:spPr>
        <p:txBody>
          <a:bodyPr spcFirstLastPara="1" wrap="square" lIns="25400" tIns="25400" rIns="25400" bIns="25400" anchor="t" anchorCtr="0">
            <a:noAutofit/>
          </a:bodyPr>
          <a:lstStyle/>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Poppins" panose="00000500000000000000" pitchFamily="2" charset="0"/>
                <a:cs typeface="Poppins" panose="00000500000000000000" pitchFamily="2" charset="0"/>
              </a:rPr>
              <a:t>Senior citizens and less savvy users who regularly use UPI, mobile banking and smartphones but are uncertain about identifying digital scams.</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Poppins" panose="00000500000000000000" pitchFamily="2" charset="0"/>
                <a:cs typeface="Poppins" panose="00000500000000000000" pitchFamily="2" charset="0"/>
              </a:rPr>
              <a:t>Our MVP will therefore prioritize simplicity, clear warnings, understandable explanations and actionable guidance.</a:t>
            </a:r>
          </a:p>
          <a:p>
            <a:pPr marL="0" marR="0" lvl="0" indent="0" algn="l" rtl="0">
              <a:lnSpc>
                <a:spcPct val="96667"/>
              </a:lnSpc>
              <a:spcBef>
                <a:spcPts val="0"/>
              </a:spcBef>
              <a:spcAft>
                <a:spcPts val="0"/>
              </a:spcAft>
              <a:buClr>
                <a:srgbClr val="A3937F"/>
              </a:buClr>
              <a:buSzPts val="1875"/>
              <a:buFont typeface="Poppins"/>
              <a:buNone/>
            </a:pPr>
            <a:endParaRPr lang="en-US" sz="1800" i="0" u="none" strike="noStrike" cap="none" dirty="0">
              <a:solidFill>
                <a:srgbClr val="A3937F"/>
              </a:solidFill>
              <a:latin typeface="Poppins"/>
              <a:ea typeface="Poppins"/>
              <a:cs typeface="Poppins"/>
              <a:sym typeface="Poppins"/>
            </a:endParaRPr>
          </a:p>
          <a:p>
            <a:pPr marL="0" marR="0" lvl="0" indent="0" algn="l" rtl="0">
              <a:lnSpc>
                <a:spcPct val="96667"/>
              </a:lnSpc>
              <a:spcBef>
                <a:spcPts val="0"/>
              </a:spcBef>
              <a:spcAft>
                <a:spcPts val="0"/>
              </a:spcAft>
              <a:buClr>
                <a:srgbClr val="A3937F"/>
              </a:buClr>
              <a:buSzPts val="1875"/>
              <a:buFont typeface="Poppins"/>
              <a:buNone/>
            </a:pPr>
            <a:endParaRPr sz="1800" i="0" u="none" strike="noStrike" cap="none" dirty="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BF7F0"/>
        </a:solidFill>
        <a:effectLst/>
      </p:bgPr>
    </p:bg>
    <p:spTree>
      <p:nvGrpSpPr>
        <p:cNvPr id="1" name="Shape 78"/>
        <p:cNvGrpSpPr/>
        <p:nvPr/>
      </p:nvGrpSpPr>
      <p:grpSpPr>
        <a:xfrm>
          <a:off x="0" y="0"/>
          <a:ext cx="0" cy="0"/>
          <a:chOff x="0" y="0"/>
          <a:chExt cx="0" cy="0"/>
        </a:xfrm>
      </p:grpSpPr>
      <p:sp>
        <p:nvSpPr>
          <p:cNvPr id="79" name="Google Shape;79;p6"/>
          <p:cNvSpPr/>
          <p:nvPr/>
        </p:nvSpPr>
        <p:spPr>
          <a:xfrm>
            <a:off x="1143000" y="742900"/>
            <a:ext cx="1902798" cy="379412"/>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F0592B"/>
              </a:buClr>
              <a:buSzPts val="1800"/>
              <a:buFont typeface="Poppins"/>
              <a:buNone/>
            </a:pPr>
            <a:r>
              <a:rPr lang="en-US" sz="1800" b="1" i="0" u="none" strike="noStrike" cap="none">
                <a:solidFill>
                  <a:srgbClr val="F0592B"/>
                </a:solidFill>
                <a:latin typeface="Poppins"/>
                <a:ea typeface="Poppins"/>
                <a:cs typeface="Poppins"/>
                <a:sym typeface="Poppins"/>
              </a:rPr>
              <a:t>SECTION 03</a:t>
            </a:r>
            <a:endParaRPr sz="1800" b="0" i="0" u="none" strike="noStrike" cap="none">
              <a:solidFill>
                <a:schemeClr val="dk1"/>
              </a:solidFill>
              <a:latin typeface="Calibri"/>
              <a:ea typeface="Calibri"/>
              <a:cs typeface="Calibri"/>
              <a:sym typeface="Calibri"/>
            </a:endParaRPr>
          </a:p>
        </p:txBody>
      </p:sp>
      <p:pic>
        <p:nvPicPr>
          <p:cNvPr id="80" name="Google Shape;80;p6" descr="preencoded.png"/>
          <p:cNvPicPr preferRelativeResize="0"/>
          <p:nvPr/>
        </p:nvPicPr>
        <p:blipFill rotWithShape="1">
          <a:blip r:embed="rId3">
            <a:alphaModFix/>
          </a:blip>
          <a:srcRect/>
          <a:stretch/>
        </p:blipFill>
        <p:spPr>
          <a:xfrm>
            <a:off x="14954250" y="742900"/>
            <a:ext cx="2190750" cy="637666"/>
          </a:xfrm>
          <a:prstGeom prst="rect">
            <a:avLst/>
          </a:prstGeom>
          <a:noFill/>
          <a:ln>
            <a:noFill/>
          </a:ln>
        </p:spPr>
      </p:pic>
      <p:sp>
        <p:nvSpPr>
          <p:cNvPr id="81" name="Google Shape;81;p6"/>
          <p:cNvSpPr/>
          <p:nvPr/>
        </p:nvSpPr>
        <p:spPr>
          <a:xfrm>
            <a:off x="1143000" y="1628180"/>
            <a:ext cx="17602200" cy="757002"/>
          </a:xfrm>
          <a:prstGeom prst="rect">
            <a:avLst/>
          </a:prstGeom>
          <a:noFill/>
          <a:ln>
            <a:noFill/>
          </a:ln>
        </p:spPr>
        <p:txBody>
          <a:bodyPr spcFirstLastPara="1" wrap="square" lIns="25400" tIns="25400" rIns="25400" bIns="25400" anchor="t" anchorCtr="0">
            <a:noAutofit/>
          </a:bodyPr>
          <a:lstStyle/>
          <a:p>
            <a:pPr marL="0" marR="0" lvl="0" indent="0" algn="l" rtl="0">
              <a:lnSpc>
                <a:spcPct val="68102"/>
              </a:lnSpc>
              <a:spcBef>
                <a:spcPts val="0"/>
              </a:spcBef>
              <a:spcAft>
                <a:spcPts val="0"/>
              </a:spcAft>
              <a:buClr>
                <a:srgbClr val="2A1E16"/>
              </a:buClr>
              <a:buSzPts val="5550"/>
              <a:buFont typeface="Poppins"/>
              <a:buNone/>
            </a:pPr>
            <a:r>
              <a:rPr lang="en-US" sz="5550" b="1" i="0" u="none" strike="noStrike" cap="none">
                <a:solidFill>
                  <a:srgbClr val="2A1E16"/>
                </a:solidFill>
                <a:latin typeface="Poppins"/>
                <a:ea typeface="Poppins"/>
                <a:cs typeface="Poppins"/>
                <a:sym typeface="Poppins"/>
              </a:rPr>
              <a:t>User personas</a:t>
            </a:r>
            <a:endParaRPr sz="5550" b="0" i="0" u="none" strike="noStrike" cap="none">
              <a:solidFill>
                <a:schemeClr val="dk1"/>
              </a:solidFill>
              <a:latin typeface="Calibri"/>
              <a:ea typeface="Calibri"/>
              <a:cs typeface="Calibri"/>
              <a:sym typeface="Calibri"/>
            </a:endParaRPr>
          </a:p>
        </p:txBody>
      </p:sp>
      <p:sp>
        <p:nvSpPr>
          <p:cNvPr id="82" name="Google Shape;82;p6"/>
          <p:cNvSpPr/>
          <p:nvPr/>
        </p:nvSpPr>
        <p:spPr>
          <a:xfrm>
            <a:off x="1143000" y="2461369"/>
            <a:ext cx="17602200" cy="442913"/>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7A6A5B"/>
              </a:buClr>
              <a:buSzPts val="2100"/>
              <a:buFont typeface="Poppins"/>
              <a:buNone/>
            </a:pPr>
            <a:r>
              <a:rPr lang="en-US" sz="2100" b="0" i="0" u="none" strike="noStrike" cap="none">
                <a:solidFill>
                  <a:srgbClr val="7A6A5B"/>
                </a:solidFill>
                <a:latin typeface="Poppins"/>
                <a:ea typeface="Poppins"/>
                <a:cs typeface="Poppins"/>
                <a:sym typeface="Poppins"/>
              </a:rPr>
              <a:t>Name, profile, goal, current behaviour, pain points, alternatives, key quote.</a:t>
            </a:r>
            <a:endParaRPr sz="2100" b="0" i="0" u="none" strike="noStrike" cap="none">
              <a:solidFill>
                <a:schemeClr val="dk1"/>
              </a:solidFill>
              <a:latin typeface="Calibri"/>
              <a:ea typeface="Calibri"/>
              <a:cs typeface="Calibri"/>
              <a:sym typeface="Calibri"/>
            </a:endParaRPr>
          </a:p>
        </p:txBody>
      </p:sp>
      <p:sp>
        <p:nvSpPr>
          <p:cNvPr id="83" name="Google Shape;83;p6"/>
          <p:cNvSpPr/>
          <p:nvPr/>
        </p:nvSpPr>
        <p:spPr>
          <a:xfrm>
            <a:off x="1143000" y="3113794"/>
            <a:ext cx="16002000" cy="15875"/>
          </a:xfrm>
          <a:prstGeom prst="rect">
            <a:avLst/>
          </a:prstGeom>
          <a:solidFill>
            <a:srgbClr val="E5DC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6"/>
          <p:cNvSpPr/>
          <p:nvPr/>
        </p:nvSpPr>
        <p:spPr>
          <a:xfrm>
            <a:off x="1143000" y="3358244"/>
            <a:ext cx="8423883" cy="569912"/>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F0592B"/>
              </a:buClr>
              <a:buSzPts val="3450"/>
              <a:buFont typeface="Cormorant Garamond"/>
              <a:buNone/>
            </a:pPr>
            <a:r>
              <a:rPr lang="en-US" sz="3450" b="1" i="0" u="none" strike="noStrike" cap="none" dirty="0">
                <a:solidFill>
                  <a:srgbClr val="F0592B"/>
                </a:solidFill>
                <a:latin typeface="Cormorant Garamond"/>
                <a:ea typeface="Cormorant Garamond"/>
                <a:cs typeface="Cormorant Garamond"/>
                <a:sym typeface="Cormorant Garamond"/>
              </a:rPr>
              <a:t>Persona 1</a:t>
            </a:r>
            <a:endParaRPr sz="3450" b="0" i="0" u="none" strike="noStrike" cap="none" dirty="0">
              <a:solidFill>
                <a:schemeClr val="dk1"/>
              </a:solidFill>
              <a:latin typeface="Calibri"/>
              <a:ea typeface="Calibri"/>
              <a:cs typeface="Calibri"/>
              <a:sym typeface="Calibri"/>
            </a:endParaRPr>
          </a:p>
        </p:txBody>
      </p:sp>
      <p:sp>
        <p:nvSpPr>
          <p:cNvPr id="85" name="Google Shape;85;p6"/>
          <p:cNvSpPr/>
          <p:nvPr/>
        </p:nvSpPr>
        <p:spPr>
          <a:xfrm>
            <a:off x="1143000" y="4042420"/>
            <a:ext cx="7658075" cy="5558792"/>
          </a:xfrm>
          <a:prstGeom prst="rect">
            <a:avLst/>
          </a:prstGeom>
          <a:solidFill>
            <a:srgbClr val="F7F1E6"/>
          </a:solidFill>
          <a:ln w="15875" cap="flat" cmpd="sng">
            <a:solidFill>
              <a:srgbClr val="DCCFBB"/>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6"/>
          <p:cNvSpPr/>
          <p:nvPr/>
        </p:nvSpPr>
        <p:spPr>
          <a:xfrm>
            <a:off x="1226598" y="4143153"/>
            <a:ext cx="7574477" cy="5728980"/>
          </a:xfrm>
          <a:prstGeom prst="rect">
            <a:avLst/>
          </a:prstGeom>
          <a:noFill/>
          <a:ln>
            <a:noFill/>
          </a:ln>
        </p:spPr>
        <p:txBody>
          <a:bodyPr spcFirstLastPara="1" wrap="square" lIns="25400" tIns="25400" rIns="25400" bIns="25400" anchor="t" anchorCtr="0">
            <a:noAutofit/>
          </a:bodyPr>
          <a:lstStyle/>
          <a:p>
            <a:pPr algn="just"/>
            <a:r>
              <a:rPr lang="en-US" sz="1800" b="1" dirty="0">
                <a:latin typeface="Poppins" panose="00000500000000000000" pitchFamily="2" charset="0"/>
                <a:cs typeface="Poppins" panose="00000500000000000000" pitchFamily="2" charset="0"/>
              </a:rPr>
              <a:t>Name:</a:t>
            </a:r>
            <a:r>
              <a:rPr lang="en-US" sz="1800" dirty="0">
                <a:latin typeface="Poppins" panose="00000500000000000000" pitchFamily="2" charset="0"/>
                <a:cs typeface="Poppins" panose="00000500000000000000" pitchFamily="2" charset="0"/>
              </a:rPr>
              <a:t> </a:t>
            </a:r>
            <a:r>
              <a:rPr lang="en-US" sz="1800" dirty="0" err="1">
                <a:latin typeface="Poppins" panose="00000500000000000000" pitchFamily="2" charset="0"/>
                <a:cs typeface="Poppins" panose="00000500000000000000" pitchFamily="2" charset="0"/>
              </a:rPr>
              <a:t>Sailesh</a:t>
            </a:r>
            <a:r>
              <a:rPr lang="en-US" sz="1800" dirty="0">
                <a:latin typeface="Poppins" panose="00000500000000000000" pitchFamily="2" charset="0"/>
                <a:cs typeface="Poppins" panose="00000500000000000000" pitchFamily="2" charset="0"/>
              </a:rPr>
              <a:t> Kulkarni,</a:t>
            </a:r>
            <a:r>
              <a:rPr lang="en-US" sz="1800" b="1" dirty="0">
                <a:latin typeface="Poppins" panose="00000500000000000000" pitchFamily="2" charset="0"/>
                <a:cs typeface="Poppins" panose="00000500000000000000" pitchFamily="2" charset="0"/>
              </a:rPr>
              <a:t> Age: </a:t>
            </a:r>
            <a:r>
              <a:rPr lang="en-US" sz="1800" dirty="0">
                <a:latin typeface="Poppins" panose="00000500000000000000" pitchFamily="2" charset="0"/>
                <a:cs typeface="Poppins" panose="00000500000000000000" pitchFamily="2" charset="0"/>
              </a:rPr>
              <a:t>56</a:t>
            </a:r>
          </a:p>
          <a:p>
            <a:pPr algn="just"/>
            <a:r>
              <a:rPr lang="en-US" sz="1800" b="1" dirty="0">
                <a:latin typeface="Poppins" panose="00000500000000000000" pitchFamily="2" charset="0"/>
                <a:cs typeface="Poppins" panose="00000500000000000000" pitchFamily="2" charset="0"/>
              </a:rPr>
              <a:t>Profile: </a:t>
            </a:r>
            <a:r>
              <a:rPr lang="en-US" sz="1800" dirty="0">
                <a:latin typeface="Poppins" panose="00000500000000000000" pitchFamily="2" charset="0"/>
                <a:cs typeface="Poppins" panose="00000500000000000000" pitchFamily="2" charset="0"/>
              </a:rPr>
              <a:t>Real estate delivery manager at Shell Constructions Pvt Ltd. who uses a smartphone, UPI and mobile banking.</a:t>
            </a:r>
          </a:p>
          <a:p>
            <a:pPr algn="just"/>
            <a:r>
              <a:rPr lang="en-US" sz="1800" b="1" dirty="0">
                <a:latin typeface="Poppins" panose="00000500000000000000" pitchFamily="2" charset="0"/>
                <a:cs typeface="Poppins" panose="00000500000000000000" pitchFamily="2" charset="0"/>
              </a:rPr>
              <a:t>Goal: </a:t>
            </a:r>
            <a:r>
              <a:rPr lang="en-IN" sz="1800" dirty="0">
                <a:solidFill>
                  <a:schemeClr val="tx1"/>
                </a:solidFill>
                <a:effectLst/>
                <a:latin typeface="Poppins" panose="00000500000000000000" pitchFamily="2" charset="0"/>
                <a:ea typeface="Calibri" panose="020F0502020204030204" pitchFamily="34" charset="0"/>
              </a:rPr>
              <a:t>Needs to do high value numbers of transactions, looking for a system where I click a genuine link, present challenge is all mails and links look genuine even though could be fraud.</a:t>
            </a:r>
            <a:endParaRPr lang="en-US" sz="1800" dirty="0">
              <a:solidFill>
                <a:schemeClr val="tx1"/>
              </a:solidFill>
              <a:latin typeface="Poppins" panose="00000500000000000000" pitchFamily="2" charset="0"/>
              <a:cs typeface="Poppins" panose="00000500000000000000" pitchFamily="2" charset="0"/>
            </a:endParaRPr>
          </a:p>
          <a:p>
            <a:pPr algn="just"/>
            <a:r>
              <a:rPr lang="en-US" sz="1800" b="1" dirty="0">
                <a:latin typeface="Poppins" panose="00000500000000000000" pitchFamily="2" charset="0"/>
                <a:cs typeface="Poppins" panose="00000500000000000000" pitchFamily="2" charset="0"/>
              </a:rPr>
              <a:t>Current Behavior: </a:t>
            </a:r>
            <a:r>
              <a:rPr lang="en-IN" sz="1800" dirty="0">
                <a:solidFill>
                  <a:schemeClr val="tx1"/>
                </a:solidFill>
                <a:effectLst/>
                <a:latin typeface="Poppins" panose="00000500000000000000" pitchFamily="2" charset="0"/>
                <a:ea typeface="Calibri" panose="020F0502020204030204" pitchFamily="34" charset="0"/>
                <a:cs typeface="Poppins" panose="00000500000000000000" pitchFamily="2" charset="0"/>
              </a:rPr>
              <a:t>Trying to be utmost cautious but always have feelings that I may end up clicking fraudulent link in hurry.</a:t>
            </a:r>
            <a:endParaRPr lang="en-US" sz="1800" dirty="0">
              <a:solidFill>
                <a:schemeClr val="tx1"/>
              </a:solidFill>
              <a:latin typeface="Poppins" panose="00000500000000000000" pitchFamily="2" charset="0"/>
              <a:cs typeface="Poppins" panose="00000500000000000000" pitchFamily="2" charset="0"/>
            </a:endParaRPr>
          </a:p>
          <a:p>
            <a:pPr algn="just"/>
            <a:r>
              <a:rPr lang="en-US" sz="1800" b="1" dirty="0">
                <a:latin typeface="Poppins" panose="00000500000000000000" pitchFamily="2" charset="0"/>
                <a:cs typeface="Poppins" panose="00000500000000000000" pitchFamily="2" charset="0"/>
              </a:rPr>
              <a:t>Pain Points: </a:t>
            </a:r>
            <a:r>
              <a:rPr lang="en-IN" sz="1800" dirty="0">
                <a:solidFill>
                  <a:schemeClr val="tx1"/>
                </a:solidFill>
                <a:effectLst/>
                <a:latin typeface="Poppins" panose="00000500000000000000" pitchFamily="2" charset="0"/>
                <a:ea typeface="Calibri" panose="020F0502020204030204" pitchFamily="34" charset="0"/>
                <a:cs typeface="Poppins" panose="00000500000000000000" pitchFamily="2" charset="0"/>
              </a:rPr>
              <a:t>Many spam calls, promotion calls, third party calls</a:t>
            </a:r>
            <a:endParaRPr lang="en-US" sz="1800" dirty="0">
              <a:solidFill>
                <a:schemeClr val="tx1"/>
              </a:solidFill>
              <a:latin typeface="Poppins" panose="00000500000000000000" pitchFamily="2" charset="0"/>
              <a:cs typeface="Poppins" panose="00000500000000000000" pitchFamily="2" charset="0"/>
            </a:endParaRPr>
          </a:p>
          <a:p>
            <a:pPr algn="just"/>
            <a:r>
              <a:rPr lang="en-US" sz="1800" b="1" dirty="0">
                <a:latin typeface="Poppins" panose="00000500000000000000" pitchFamily="2" charset="0"/>
                <a:cs typeface="Poppins" panose="00000500000000000000" pitchFamily="2" charset="0"/>
              </a:rPr>
              <a:t>Frequency: </a:t>
            </a:r>
            <a:r>
              <a:rPr lang="en-IN" sz="1800" dirty="0">
                <a:solidFill>
                  <a:schemeClr val="tx1"/>
                </a:solidFill>
                <a:effectLst/>
                <a:latin typeface="Poppins" panose="00000500000000000000" pitchFamily="2" charset="0"/>
                <a:ea typeface="Calibri" panose="020F0502020204030204" pitchFamily="34" charset="0"/>
                <a:cs typeface="Poppins" panose="00000500000000000000" pitchFamily="2" charset="0"/>
              </a:rPr>
              <a:t>Fraudulent calls every day, Fraudulent links 1-2 every month, Not immediately reacting, checking genuineness of website keeping money split in different account</a:t>
            </a:r>
            <a:endParaRPr lang="en-US" sz="1800" b="1" dirty="0">
              <a:solidFill>
                <a:schemeClr val="tx1"/>
              </a:solidFill>
              <a:latin typeface="Poppins" panose="00000500000000000000" pitchFamily="2" charset="0"/>
              <a:cs typeface="Poppins" panose="00000500000000000000" pitchFamily="2" charset="0"/>
            </a:endParaRPr>
          </a:p>
          <a:p>
            <a:pPr algn="just"/>
            <a:r>
              <a:rPr lang="en-US" sz="1800" b="1" dirty="0">
                <a:latin typeface="Poppins" panose="00000500000000000000" pitchFamily="2" charset="0"/>
                <a:cs typeface="Poppins" panose="00000500000000000000" pitchFamily="2" charset="0"/>
              </a:rPr>
              <a:t>Alternatives: </a:t>
            </a:r>
            <a:r>
              <a:rPr lang="en-IN" sz="1800" dirty="0">
                <a:solidFill>
                  <a:schemeClr val="tx1"/>
                </a:solidFill>
                <a:effectLst/>
                <a:latin typeface="Poppins" panose="00000500000000000000" pitchFamily="2" charset="0"/>
                <a:ea typeface="Calibri" panose="020F0502020204030204" pitchFamily="34" charset="0"/>
                <a:cs typeface="Poppins" panose="00000500000000000000" pitchFamily="2" charset="0"/>
              </a:rPr>
              <a:t>Cautiously using bank and company website, not to share OTP, no clicking of links or </a:t>
            </a:r>
            <a:r>
              <a:rPr lang="en-IN" sz="1800" dirty="0" err="1">
                <a:solidFill>
                  <a:schemeClr val="tx1"/>
                </a:solidFill>
                <a:effectLst/>
                <a:latin typeface="Poppins" panose="00000500000000000000" pitchFamily="2" charset="0"/>
                <a:ea typeface="Calibri" panose="020F0502020204030204" pitchFamily="34" charset="0"/>
                <a:cs typeface="Poppins" panose="00000500000000000000" pitchFamily="2" charset="0"/>
              </a:rPr>
              <a:t>apk</a:t>
            </a:r>
            <a:r>
              <a:rPr lang="en-IN" sz="1800" dirty="0">
                <a:solidFill>
                  <a:schemeClr val="tx1"/>
                </a:solidFill>
                <a:effectLst/>
                <a:latin typeface="Poppins" panose="00000500000000000000" pitchFamily="2" charset="0"/>
                <a:ea typeface="Calibri" panose="020F0502020204030204" pitchFamily="34" charset="0"/>
                <a:cs typeface="Poppins" panose="00000500000000000000" pitchFamily="2" charset="0"/>
              </a:rPr>
              <a:t> files</a:t>
            </a:r>
          </a:p>
          <a:p>
            <a:pPr algn="just"/>
            <a:r>
              <a:rPr lang="en-IN" sz="1800" b="1" dirty="0">
                <a:solidFill>
                  <a:schemeClr val="tx1"/>
                </a:solidFill>
                <a:effectLst/>
                <a:latin typeface="Poppins" panose="00000500000000000000" pitchFamily="2" charset="0"/>
                <a:ea typeface="Calibri" panose="020F0502020204030204" pitchFamily="34" charset="0"/>
                <a:cs typeface="Poppins" panose="00000500000000000000" pitchFamily="2" charset="0"/>
              </a:rPr>
              <a:t>Key quote:</a:t>
            </a:r>
            <a:r>
              <a:rPr lang="en-IN" sz="1800" dirty="0">
                <a:solidFill>
                  <a:schemeClr val="tx1"/>
                </a:solidFill>
                <a:effectLst/>
                <a:latin typeface="Poppins" panose="00000500000000000000" pitchFamily="2" charset="0"/>
                <a:ea typeface="Calibri" panose="020F0502020204030204" pitchFamily="34" charset="0"/>
                <a:cs typeface="Poppins" panose="00000500000000000000" pitchFamily="2" charset="0"/>
              </a:rPr>
              <a:t> “While bank and government is doing their best, all individual to be more cautious. confidentiality of our information to be maintained”</a:t>
            </a:r>
            <a:endParaRPr lang="en-US" sz="1800" dirty="0">
              <a:solidFill>
                <a:schemeClr val="tx1"/>
              </a:solidFill>
              <a:latin typeface="Poppins" panose="00000500000000000000" pitchFamily="2" charset="0"/>
              <a:cs typeface="Poppins" panose="00000500000000000000" pitchFamily="2" charset="0"/>
            </a:endParaRPr>
          </a:p>
          <a:p>
            <a:pPr marL="0" marR="0" lvl="0" indent="0" algn="l" rtl="0">
              <a:lnSpc>
                <a:spcPct val="96667"/>
              </a:lnSpc>
              <a:spcBef>
                <a:spcPts val="0"/>
              </a:spcBef>
              <a:spcAft>
                <a:spcPts val="0"/>
              </a:spcAft>
              <a:buClr>
                <a:srgbClr val="C9BCA8"/>
              </a:buClr>
              <a:buSzPts val="1875"/>
              <a:buFont typeface="Poppins"/>
              <a:buNone/>
            </a:pPr>
            <a:endParaRPr sz="1800" b="0" i="0" u="none" strike="noStrike" cap="none" dirty="0">
              <a:solidFill>
                <a:schemeClr val="dk1"/>
              </a:solidFill>
              <a:latin typeface="Calibri"/>
              <a:ea typeface="Calibri"/>
              <a:cs typeface="Calibri"/>
              <a:sym typeface="Calibri"/>
            </a:endParaRPr>
          </a:p>
        </p:txBody>
      </p:sp>
      <p:sp>
        <p:nvSpPr>
          <p:cNvPr id="89" name="Google Shape;89;p6"/>
          <p:cNvSpPr/>
          <p:nvPr/>
        </p:nvSpPr>
        <p:spPr>
          <a:xfrm>
            <a:off x="9486863" y="3358244"/>
            <a:ext cx="8423951" cy="569912"/>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F0592B"/>
              </a:buClr>
              <a:buSzPts val="3450"/>
              <a:buFont typeface="Cormorant Garamond"/>
              <a:buNone/>
            </a:pPr>
            <a:r>
              <a:rPr lang="en-US" sz="3450" b="1" i="0" u="none" strike="noStrike" cap="none" dirty="0">
                <a:solidFill>
                  <a:srgbClr val="F0592B"/>
                </a:solidFill>
                <a:latin typeface="Cormorant Garamond"/>
                <a:ea typeface="Cormorant Garamond"/>
                <a:cs typeface="Cormorant Garamond"/>
                <a:sym typeface="Cormorant Garamond"/>
              </a:rPr>
              <a:t>Persona 2</a:t>
            </a:r>
            <a:endParaRPr sz="3450" b="0" i="0" u="none" strike="noStrike" cap="none" dirty="0">
              <a:solidFill>
                <a:schemeClr val="dk1"/>
              </a:solidFill>
              <a:latin typeface="Calibri"/>
              <a:ea typeface="Calibri"/>
              <a:cs typeface="Calibri"/>
              <a:sym typeface="Calibri"/>
            </a:endParaRPr>
          </a:p>
        </p:txBody>
      </p:sp>
      <p:sp>
        <p:nvSpPr>
          <p:cNvPr id="90" name="Google Shape;90;p6"/>
          <p:cNvSpPr/>
          <p:nvPr/>
        </p:nvSpPr>
        <p:spPr>
          <a:xfrm>
            <a:off x="9486863" y="4042420"/>
            <a:ext cx="7824326" cy="5558792"/>
          </a:xfrm>
          <a:prstGeom prst="rect">
            <a:avLst/>
          </a:prstGeom>
          <a:solidFill>
            <a:srgbClr val="F7F1E6"/>
          </a:solidFill>
          <a:ln w="15875" cap="flat" cmpd="sng">
            <a:solidFill>
              <a:srgbClr val="DCCFBB"/>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6"/>
          <p:cNvSpPr/>
          <p:nvPr/>
        </p:nvSpPr>
        <p:spPr>
          <a:xfrm>
            <a:off x="9592696" y="4183168"/>
            <a:ext cx="7718493" cy="5276267"/>
          </a:xfrm>
          <a:prstGeom prst="rect">
            <a:avLst/>
          </a:prstGeom>
          <a:noFill/>
          <a:ln>
            <a:noFill/>
          </a:ln>
        </p:spPr>
        <p:txBody>
          <a:bodyPr spcFirstLastPara="1" wrap="square" lIns="25400" tIns="25400" rIns="25400" bIns="25400" anchor="t" anchorCtr="0">
            <a:noAutofit/>
          </a:bodyPr>
          <a:lstStyle/>
          <a:p>
            <a:pPr algn="just"/>
            <a:r>
              <a:rPr lang="en-US" sz="1800" b="1" dirty="0">
                <a:latin typeface="Poppins" panose="00000500000000000000" pitchFamily="2" charset="0"/>
                <a:cs typeface="Poppins" panose="00000500000000000000" pitchFamily="2" charset="0"/>
              </a:rPr>
              <a:t>Name:</a:t>
            </a:r>
            <a:r>
              <a:rPr lang="en-US" sz="1800" dirty="0">
                <a:latin typeface="Poppins" panose="00000500000000000000" pitchFamily="2" charset="0"/>
                <a:cs typeface="Poppins" panose="00000500000000000000" pitchFamily="2" charset="0"/>
              </a:rPr>
              <a:t> </a:t>
            </a:r>
            <a:r>
              <a:rPr lang="en-IN" sz="1800" dirty="0">
                <a:solidFill>
                  <a:schemeClr val="tx1"/>
                </a:solidFill>
                <a:effectLst/>
                <a:latin typeface="Poppins" panose="00000500000000000000" pitchFamily="2" charset="0"/>
                <a:ea typeface="Calibri" panose="020F0502020204030204" pitchFamily="34" charset="0"/>
                <a:cs typeface="Poppins" panose="00000500000000000000" pitchFamily="2" charset="0"/>
              </a:rPr>
              <a:t>Aravind Deshpande, </a:t>
            </a:r>
            <a:r>
              <a:rPr lang="en-IN" sz="1800" b="1" dirty="0">
                <a:solidFill>
                  <a:schemeClr val="tx1"/>
                </a:solidFill>
                <a:effectLst/>
                <a:latin typeface="Poppins" panose="00000500000000000000" pitchFamily="2" charset="0"/>
                <a:ea typeface="Calibri" panose="020F0502020204030204" pitchFamily="34" charset="0"/>
                <a:cs typeface="Poppins" panose="00000500000000000000" pitchFamily="2" charset="0"/>
              </a:rPr>
              <a:t>Age</a:t>
            </a:r>
            <a:r>
              <a:rPr lang="en-IN" sz="1800" b="1" dirty="0">
                <a:solidFill>
                  <a:schemeClr val="tx1"/>
                </a:solidFill>
                <a:latin typeface="Poppins" panose="00000500000000000000" pitchFamily="2" charset="0"/>
                <a:ea typeface="Calibri" panose="020F0502020204030204" pitchFamily="34" charset="0"/>
                <a:cs typeface="Poppins" panose="00000500000000000000" pitchFamily="2" charset="0"/>
              </a:rPr>
              <a:t>: </a:t>
            </a:r>
            <a:r>
              <a:rPr lang="en-IN" sz="1800" dirty="0">
                <a:solidFill>
                  <a:schemeClr val="tx1"/>
                </a:solidFill>
                <a:effectLst/>
                <a:latin typeface="Poppins" panose="00000500000000000000" pitchFamily="2" charset="0"/>
                <a:ea typeface="Calibri" panose="020F0502020204030204" pitchFamily="34" charset="0"/>
                <a:cs typeface="Poppins" panose="00000500000000000000" pitchFamily="2" charset="0"/>
              </a:rPr>
              <a:t>75</a:t>
            </a:r>
            <a:endParaRPr lang="en-US" sz="1800" dirty="0">
              <a:solidFill>
                <a:schemeClr val="tx1"/>
              </a:solidFill>
              <a:latin typeface="Poppins" panose="00000500000000000000" pitchFamily="2" charset="0"/>
              <a:cs typeface="Poppins" panose="00000500000000000000" pitchFamily="2" charset="0"/>
            </a:endParaRPr>
          </a:p>
          <a:p>
            <a:pPr algn="just"/>
            <a:r>
              <a:rPr lang="en-US" sz="1800" b="1" dirty="0">
                <a:solidFill>
                  <a:schemeClr val="tx1"/>
                </a:solidFill>
                <a:latin typeface="Poppins" panose="00000500000000000000" pitchFamily="2" charset="0"/>
                <a:cs typeface="Poppins" panose="00000500000000000000" pitchFamily="2" charset="0"/>
              </a:rPr>
              <a:t>Profile: </a:t>
            </a:r>
            <a:r>
              <a:rPr lang="en-IN" sz="1800" dirty="0">
                <a:solidFill>
                  <a:schemeClr val="tx1"/>
                </a:solidFill>
                <a:effectLst/>
                <a:latin typeface="Poppins" panose="00000500000000000000" pitchFamily="2" charset="0"/>
                <a:ea typeface="Calibri" panose="020F0502020204030204" pitchFamily="34" charset="0"/>
                <a:cs typeface="Poppins" panose="00000500000000000000" pitchFamily="2" charset="0"/>
              </a:rPr>
              <a:t>Retired. Bank employee, State Bank of India</a:t>
            </a:r>
            <a:endParaRPr lang="en-US" sz="1800" dirty="0">
              <a:solidFill>
                <a:schemeClr val="tx1"/>
              </a:solidFill>
              <a:latin typeface="Poppins" panose="00000500000000000000" pitchFamily="2" charset="0"/>
              <a:cs typeface="Poppins" panose="00000500000000000000" pitchFamily="2" charset="0"/>
            </a:endParaRPr>
          </a:p>
          <a:p>
            <a:pPr algn="just"/>
            <a:r>
              <a:rPr lang="en-US" sz="1800" b="1" dirty="0">
                <a:latin typeface="Poppins" panose="00000500000000000000" pitchFamily="2" charset="0"/>
                <a:cs typeface="Poppins" panose="00000500000000000000" pitchFamily="2" charset="0"/>
              </a:rPr>
              <a:t>Goal: </a:t>
            </a:r>
            <a:r>
              <a:rPr lang="en-IN" sz="1800" dirty="0">
                <a:solidFill>
                  <a:schemeClr val="tx1"/>
                </a:solidFill>
                <a:effectLst/>
                <a:latin typeface="Poppins" panose="00000500000000000000" pitchFamily="2" charset="0"/>
                <a:ea typeface="Calibri" panose="020F0502020204030204" pitchFamily="34" charset="0"/>
              </a:rPr>
              <a:t>Online Shopping from my smart phone, hence needs to do online payment using UPI Link</a:t>
            </a:r>
            <a:endParaRPr lang="en-US" sz="1800" dirty="0">
              <a:solidFill>
                <a:schemeClr val="tx1"/>
              </a:solidFill>
              <a:latin typeface="Poppins" panose="00000500000000000000" pitchFamily="2" charset="0"/>
              <a:cs typeface="Poppins" panose="00000500000000000000" pitchFamily="2" charset="0"/>
            </a:endParaRPr>
          </a:p>
          <a:p>
            <a:pPr algn="just"/>
            <a:r>
              <a:rPr lang="en-US" sz="1800" b="1" dirty="0">
                <a:latin typeface="Poppins" panose="00000500000000000000" pitchFamily="2" charset="0"/>
                <a:cs typeface="Poppins" panose="00000500000000000000" pitchFamily="2" charset="0"/>
              </a:rPr>
              <a:t>Current Behavior: </a:t>
            </a:r>
            <a:r>
              <a:rPr lang="en-IN" sz="1800" dirty="0">
                <a:solidFill>
                  <a:schemeClr val="tx1"/>
                </a:solidFill>
                <a:effectLst/>
                <a:latin typeface="Poppins" panose="00000500000000000000" pitchFamily="2" charset="0"/>
                <a:ea typeface="Calibri" panose="020F0502020204030204" pitchFamily="34" charset="0"/>
              </a:rPr>
              <a:t>When I receive fraud link or SMS, I have to go to bank and verify it.</a:t>
            </a:r>
            <a:r>
              <a:rPr lang="en-US" sz="1800" b="1" dirty="0">
                <a:solidFill>
                  <a:schemeClr val="tx1"/>
                </a:solidFill>
                <a:latin typeface="Poppins" panose="00000500000000000000" pitchFamily="2" charset="0"/>
                <a:cs typeface="Poppins" panose="00000500000000000000" pitchFamily="2" charset="0"/>
              </a:rPr>
              <a:t> </a:t>
            </a:r>
          </a:p>
          <a:p>
            <a:pPr algn="just"/>
            <a:r>
              <a:rPr lang="en-US" sz="1800" b="1" dirty="0">
                <a:latin typeface="Poppins" panose="00000500000000000000" pitchFamily="2" charset="0"/>
                <a:cs typeface="Poppins" panose="00000500000000000000" pitchFamily="2" charset="0"/>
              </a:rPr>
              <a:t>Pain Points: </a:t>
            </a:r>
            <a:r>
              <a:rPr lang="en-IN" sz="1800" dirty="0">
                <a:solidFill>
                  <a:schemeClr val="tx1"/>
                </a:solidFill>
                <a:effectLst/>
                <a:latin typeface="Poppins" panose="00000500000000000000" pitchFamily="2" charset="0"/>
                <a:ea typeface="Calibri" panose="020F0502020204030204" pitchFamily="34" charset="0"/>
              </a:rPr>
              <a:t>I get many scams SMS and investment related calls</a:t>
            </a:r>
            <a:endParaRPr lang="en-US" sz="1800" dirty="0">
              <a:solidFill>
                <a:schemeClr val="tx1"/>
              </a:solidFill>
              <a:latin typeface="Poppins" panose="00000500000000000000" pitchFamily="2" charset="0"/>
              <a:cs typeface="Poppins" panose="00000500000000000000" pitchFamily="2" charset="0"/>
            </a:endParaRPr>
          </a:p>
          <a:p>
            <a:pPr algn="just"/>
            <a:r>
              <a:rPr lang="en-IN" sz="1800" b="1" dirty="0">
                <a:solidFill>
                  <a:schemeClr val="tx1"/>
                </a:solidFill>
                <a:effectLst/>
                <a:latin typeface="Poppins" panose="00000500000000000000" pitchFamily="2" charset="0"/>
                <a:ea typeface="Calibri" panose="020F0502020204030204" pitchFamily="34" charset="0"/>
              </a:rPr>
              <a:t>Frequency:</a:t>
            </a:r>
            <a:r>
              <a:rPr lang="en-IN" sz="1800" dirty="0">
                <a:solidFill>
                  <a:schemeClr val="tx1"/>
                </a:solidFill>
                <a:effectLst/>
                <a:latin typeface="Poppins" panose="00000500000000000000" pitchFamily="2" charset="0"/>
                <a:ea typeface="Calibri" panose="020F0502020204030204" pitchFamily="34" charset="0"/>
              </a:rPr>
              <a:t> Usually twice or thrice a week, I get scam SMS or calls or link</a:t>
            </a:r>
          </a:p>
          <a:p>
            <a:pPr algn="just"/>
            <a:r>
              <a:rPr lang="en-US" sz="1800" b="1" dirty="0">
                <a:latin typeface="Poppins" panose="00000500000000000000" pitchFamily="2" charset="0"/>
                <a:cs typeface="Poppins" panose="00000500000000000000" pitchFamily="2" charset="0"/>
              </a:rPr>
              <a:t>Alternatives:</a:t>
            </a:r>
            <a:r>
              <a:rPr lang="en-IN" sz="1800" b="1" dirty="0">
                <a:solidFill>
                  <a:schemeClr val="tx1"/>
                </a:solidFill>
                <a:latin typeface="Poppins" panose="00000500000000000000" pitchFamily="2" charset="0"/>
                <a:cs typeface="Poppins" panose="00000500000000000000" pitchFamily="2" charset="0"/>
              </a:rPr>
              <a:t> </a:t>
            </a:r>
            <a:r>
              <a:rPr lang="en-IN" sz="1800" dirty="0">
                <a:solidFill>
                  <a:schemeClr val="tx1"/>
                </a:solidFill>
                <a:effectLst/>
                <a:latin typeface="Poppins" panose="00000500000000000000" pitchFamily="2" charset="0"/>
                <a:ea typeface="Calibri" panose="020F0502020204030204" pitchFamily="34" charset="0"/>
              </a:rPr>
              <a:t>I have to depend on True caller or any paid anti-virus</a:t>
            </a:r>
          </a:p>
          <a:p>
            <a:pPr algn="just"/>
            <a:r>
              <a:rPr lang="en-IN" sz="1800" b="1" dirty="0">
                <a:solidFill>
                  <a:schemeClr val="tx1"/>
                </a:solidFill>
                <a:effectLst/>
                <a:latin typeface="Poppins" panose="00000500000000000000" pitchFamily="2" charset="0"/>
                <a:ea typeface="Calibri" panose="020F0502020204030204" pitchFamily="34" charset="0"/>
                <a:cs typeface="Poppins" panose="00000500000000000000" pitchFamily="2" charset="0"/>
              </a:rPr>
              <a:t>Key quote: </a:t>
            </a:r>
            <a:r>
              <a:rPr lang="en-IN" sz="1800" dirty="0">
                <a:solidFill>
                  <a:schemeClr val="tx1"/>
                </a:solidFill>
                <a:effectLst/>
                <a:latin typeface="Poppins" panose="00000500000000000000" pitchFamily="2" charset="0"/>
                <a:ea typeface="Calibri" panose="020F0502020204030204" pitchFamily="34" charset="0"/>
              </a:rPr>
              <a:t>“Do not sharing bank accounts and OTP to unknown people or agencies and its very difficult to verify fraud SMS or genuine.”</a:t>
            </a:r>
            <a:endParaRPr sz="1800" b="0" i="0" u="none" strike="noStrike" cap="none" dirty="0">
              <a:solidFill>
                <a:schemeClr val="tx1"/>
              </a:solidFill>
              <a:latin typeface="Poppins" panose="00000500000000000000" pitchFamily="2" charset="0"/>
              <a:ea typeface="Calibri"/>
              <a:cs typeface="Poppins" panose="00000500000000000000" pitchFamily="2" charset="0"/>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BF7F0"/>
        </a:solidFill>
        <a:effectLst/>
      </p:bgPr>
    </p:bg>
    <p:spTree>
      <p:nvGrpSpPr>
        <p:cNvPr id="1" name="Shape 98"/>
        <p:cNvGrpSpPr/>
        <p:nvPr/>
      </p:nvGrpSpPr>
      <p:grpSpPr>
        <a:xfrm>
          <a:off x="0" y="0"/>
          <a:ext cx="0" cy="0"/>
          <a:chOff x="0" y="0"/>
          <a:chExt cx="0" cy="0"/>
        </a:xfrm>
      </p:grpSpPr>
      <p:sp>
        <p:nvSpPr>
          <p:cNvPr id="99" name="Google Shape;99;p7"/>
          <p:cNvSpPr/>
          <p:nvPr/>
        </p:nvSpPr>
        <p:spPr>
          <a:xfrm>
            <a:off x="1143000" y="742900"/>
            <a:ext cx="1918419" cy="379412"/>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F0592B"/>
              </a:buClr>
              <a:buSzPts val="1800"/>
              <a:buFont typeface="Poppins"/>
              <a:buNone/>
            </a:pPr>
            <a:r>
              <a:rPr lang="en-US" sz="1800" b="1" i="0" u="none" strike="noStrike" cap="none">
                <a:solidFill>
                  <a:srgbClr val="F0592B"/>
                </a:solidFill>
                <a:latin typeface="Poppins"/>
                <a:ea typeface="Poppins"/>
                <a:cs typeface="Poppins"/>
                <a:sym typeface="Poppins"/>
              </a:rPr>
              <a:t>SECTION 04</a:t>
            </a:r>
            <a:endParaRPr sz="1800" b="0" i="0" u="none" strike="noStrike" cap="none">
              <a:solidFill>
                <a:schemeClr val="dk1"/>
              </a:solidFill>
              <a:latin typeface="Calibri"/>
              <a:ea typeface="Calibri"/>
              <a:cs typeface="Calibri"/>
              <a:sym typeface="Calibri"/>
            </a:endParaRPr>
          </a:p>
        </p:txBody>
      </p:sp>
      <p:pic>
        <p:nvPicPr>
          <p:cNvPr id="100" name="Google Shape;100;p7" descr="preencoded.png"/>
          <p:cNvPicPr preferRelativeResize="0"/>
          <p:nvPr/>
        </p:nvPicPr>
        <p:blipFill rotWithShape="1">
          <a:blip r:embed="rId3">
            <a:alphaModFix/>
          </a:blip>
          <a:srcRect/>
          <a:stretch/>
        </p:blipFill>
        <p:spPr>
          <a:xfrm>
            <a:off x="14954250" y="742900"/>
            <a:ext cx="2190750" cy="637666"/>
          </a:xfrm>
          <a:prstGeom prst="rect">
            <a:avLst/>
          </a:prstGeom>
          <a:noFill/>
          <a:ln>
            <a:noFill/>
          </a:ln>
        </p:spPr>
      </p:pic>
      <p:sp>
        <p:nvSpPr>
          <p:cNvPr id="101" name="Google Shape;101;p7"/>
          <p:cNvSpPr/>
          <p:nvPr/>
        </p:nvSpPr>
        <p:spPr>
          <a:xfrm>
            <a:off x="1143000" y="1154051"/>
            <a:ext cx="17602200" cy="757002"/>
          </a:xfrm>
          <a:prstGeom prst="rect">
            <a:avLst/>
          </a:prstGeom>
          <a:noFill/>
          <a:ln>
            <a:noFill/>
          </a:ln>
        </p:spPr>
        <p:txBody>
          <a:bodyPr spcFirstLastPara="1" wrap="square" lIns="25400" tIns="25400" rIns="25400" bIns="25400" anchor="t" anchorCtr="0">
            <a:noAutofit/>
          </a:bodyPr>
          <a:lstStyle/>
          <a:p>
            <a:pPr marL="0" marR="0" lvl="0" indent="0" algn="l" rtl="0">
              <a:lnSpc>
                <a:spcPct val="68102"/>
              </a:lnSpc>
              <a:spcBef>
                <a:spcPts val="0"/>
              </a:spcBef>
              <a:spcAft>
                <a:spcPts val="0"/>
              </a:spcAft>
              <a:buClr>
                <a:srgbClr val="2A1E16"/>
              </a:buClr>
              <a:buSzPts val="5550"/>
              <a:buFont typeface="Poppins"/>
              <a:buNone/>
            </a:pPr>
            <a:r>
              <a:rPr lang="en-US" sz="5550" b="1" i="0" u="none" strike="noStrike" cap="none">
                <a:solidFill>
                  <a:srgbClr val="2A1E16"/>
                </a:solidFill>
                <a:latin typeface="Poppins"/>
                <a:ea typeface="Poppins"/>
                <a:cs typeface="Poppins"/>
                <a:sym typeface="Poppins"/>
              </a:rPr>
              <a:t>Research</a:t>
            </a:r>
            <a:endParaRPr sz="5550" b="0" i="0" u="none" strike="noStrike" cap="none">
              <a:solidFill>
                <a:schemeClr val="dk1"/>
              </a:solidFill>
              <a:latin typeface="Calibri"/>
              <a:ea typeface="Calibri"/>
              <a:cs typeface="Calibri"/>
              <a:sym typeface="Calibri"/>
            </a:endParaRPr>
          </a:p>
        </p:txBody>
      </p:sp>
      <p:sp>
        <p:nvSpPr>
          <p:cNvPr id="102" name="Google Shape;102;p7"/>
          <p:cNvSpPr/>
          <p:nvPr/>
        </p:nvSpPr>
        <p:spPr>
          <a:xfrm>
            <a:off x="1143000" y="1767111"/>
            <a:ext cx="17602200" cy="442913"/>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7A6A5B"/>
              </a:buClr>
              <a:buSzPts val="2100"/>
              <a:buFont typeface="Poppins"/>
              <a:buNone/>
            </a:pPr>
            <a:r>
              <a:rPr lang="en-US" sz="2100" b="0" i="0" u="none" strike="noStrike" cap="none">
                <a:solidFill>
                  <a:srgbClr val="7A6A5B"/>
                </a:solidFill>
                <a:latin typeface="Poppins"/>
                <a:ea typeface="Poppins"/>
                <a:cs typeface="Poppins"/>
                <a:sym typeface="Poppins"/>
              </a:rPr>
              <a:t>Method, number of users contacted, sources, and key findings.</a:t>
            </a:r>
            <a:endParaRPr sz="2100" b="0" i="0" u="none" strike="noStrike" cap="none">
              <a:solidFill>
                <a:schemeClr val="dk1"/>
              </a:solidFill>
              <a:latin typeface="Calibri"/>
              <a:ea typeface="Calibri"/>
              <a:cs typeface="Calibri"/>
              <a:sym typeface="Calibri"/>
            </a:endParaRPr>
          </a:p>
        </p:txBody>
      </p:sp>
      <p:sp>
        <p:nvSpPr>
          <p:cNvPr id="103" name="Google Shape;103;p7"/>
          <p:cNvSpPr/>
          <p:nvPr/>
        </p:nvSpPr>
        <p:spPr>
          <a:xfrm>
            <a:off x="1143000" y="2148603"/>
            <a:ext cx="16002000" cy="15875"/>
          </a:xfrm>
          <a:prstGeom prst="rect">
            <a:avLst/>
          </a:prstGeom>
          <a:solidFill>
            <a:srgbClr val="E5DC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7"/>
          <p:cNvSpPr/>
          <p:nvPr/>
        </p:nvSpPr>
        <p:spPr>
          <a:xfrm>
            <a:off x="1143000" y="2393053"/>
            <a:ext cx="8423883" cy="395288"/>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F0592B"/>
              </a:buClr>
              <a:buSzPts val="1875"/>
              <a:buFont typeface="Poppins"/>
              <a:buNone/>
            </a:pPr>
            <a:r>
              <a:rPr lang="en-US" sz="1875" b="1" i="0" u="none" strike="noStrike" cap="none">
                <a:solidFill>
                  <a:srgbClr val="F0592B"/>
                </a:solidFill>
                <a:latin typeface="Poppins"/>
                <a:ea typeface="Poppins"/>
                <a:cs typeface="Poppins"/>
                <a:sym typeface="Poppins"/>
              </a:rPr>
              <a:t>PRIMARY RESEARCH</a:t>
            </a:r>
            <a:endParaRPr sz="1875" b="0" i="0" u="none" strike="noStrike" cap="none">
              <a:solidFill>
                <a:schemeClr val="dk1"/>
              </a:solidFill>
              <a:latin typeface="Calibri"/>
              <a:ea typeface="Calibri"/>
              <a:cs typeface="Calibri"/>
              <a:sym typeface="Calibri"/>
            </a:endParaRPr>
          </a:p>
        </p:txBody>
      </p:sp>
      <p:sp>
        <p:nvSpPr>
          <p:cNvPr id="105" name="Google Shape;105;p7"/>
          <p:cNvSpPr/>
          <p:nvPr/>
        </p:nvSpPr>
        <p:spPr>
          <a:xfrm>
            <a:off x="1143000" y="2902604"/>
            <a:ext cx="8039088" cy="7240463"/>
          </a:xfrm>
          <a:prstGeom prst="rect">
            <a:avLst/>
          </a:prstGeom>
          <a:solidFill>
            <a:srgbClr val="F7F1E6"/>
          </a:solidFill>
          <a:ln w="15875" cap="flat" cmpd="sng">
            <a:solidFill>
              <a:srgbClr val="DCCFBB"/>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7"/>
          <p:cNvSpPr/>
          <p:nvPr/>
        </p:nvSpPr>
        <p:spPr>
          <a:xfrm>
            <a:off x="1463663" y="3185129"/>
            <a:ext cx="7718425" cy="6957938"/>
          </a:xfrm>
          <a:prstGeom prst="rect">
            <a:avLst/>
          </a:prstGeom>
          <a:noFill/>
          <a:ln>
            <a:noFill/>
          </a:ln>
        </p:spPr>
        <p:txBody>
          <a:bodyPr spcFirstLastPara="1" wrap="square" lIns="25400" tIns="25400" rIns="25400" bIns="25400" anchor="t" anchorCtr="0">
            <a:noAutofit/>
          </a:bodyPr>
          <a:lstStyle/>
          <a:p>
            <a:r>
              <a:rPr lang="en-US" sz="1800" b="1" dirty="0">
                <a:latin typeface="Poppins" panose="00000500000000000000" pitchFamily="2" charset="0"/>
                <a:cs typeface="Poppins" panose="00000500000000000000" pitchFamily="2" charset="0"/>
              </a:rPr>
              <a:t>Method: Individual face-to-face interviews</a:t>
            </a:r>
          </a:p>
          <a:p>
            <a:r>
              <a:rPr lang="en-US" sz="1800" dirty="0">
                <a:latin typeface="Poppins" panose="00000500000000000000" pitchFamily="2" charset="0"/>
                <a:cs typeface="Poppins" panose="00000500000000000000" pitchFamily="2" charset="0"/>
              </a:rPr>
              <a:t>Number of respondents: 5-10</a:t>
            </a:r>
          </a:p>
          <a:p>
            <a:r>
              <a:rPr lang="en-US" sz="1800" dirty="0">
                <a:latin typeface="Poppins" panose="00000500000000000000" pitchFamily="2" charset="0"/>
                <a:cs typeface="Poppins" panose="00000500000000000000" pitchFamily="2" charset="0"/>
              </a:rPr>
              <a:t>Respondent profile: Most of the them were of 50+ years of age</a:t>
            </a:r>
          </a:p>
          <a:p>
            <a:r>
              <a:rPr lang="en-US" sz="1800" dirty="0">
                <a:latin typeface="Poppins" panose="00000500000000000000" pitchFamily="2" charset="0"/>
                <a:cs typeface="Poppins" panose="00000500000000000000" pitchFamily="2" charset="0"/>
              </a:rPr>
              <a:t>Common Payment services used: Mobile Banking and UPI</a:t>
            </a:r>
          </a:p>
          <a:p>
            <a:r>
              <a:rPr lang="en-US" sz="1800" dirty="0">
                <a:latin typeface="Poppins" panose="00000500000000000000" pitchFamily="2" charset="0"/>
                <a:cs typeface="Poppins" panose="00000500000000000000" pitchFamily="2" charset="0"/>
              </a:rPr>
              <a:t>Key Findings</a:t>
            </a:r>
          </a:p>
          <a:p>
            <a:r>
              <a:rPr lang="en-US" sz="1800" dirty="0">
                <a:latin typeface="Poppins" panose="00000500000000000000" pitchFamily="2" charset="0"/>
                <a:cs typeface="Poppins" panose="00000500000000000000" pitchFamily="2" charset="0"/>
              </a:rPr>
              <a:t>1. Scam exposure is present among the interviewed users.</a:t>
            </a:r>
            <a:br>
              <a:rPr lang="en-US" sz="1800" dirty="0">
                <a:latin typeface="Poppins" panose="00000500000000000000" pitchFamily="2" charset="0"/>
                <a:cs typeface="Poppins" panose="00000500000000000000" pitchFamily="2" charset="0"/>
              </a:rPr>
            </a:br>
            <a:r>
              <a:rPr lang="en-US" sz="1800" dirty="0">
                <a:latin typeface="Poppins" panose="00000500000000000000" pitchFamily="2" charset="0"/>
                <a:cs typeface="Poppins" panose="00000500000000000000" pitchFamily="2" charset="0"/>
              </a:rPr>
              <a:t>The interviewed respondents reported encountering scam </a:t>
            </a:r>
          </a:p>
          <a:p>
            <a:r>
              <a:rPr lang="en-US" sz="1800" dirty="0">
                <a:latin typeface="Poppins" panose="00000500000000000000" pitchFamily="2" charset="0"/>
                <a:cs typeface="Poppins" panose="00000500000000000000" pitchFamily="2" charset="0"/>
              </a:rPr>
              <a:t>SMS messages and QR-code scams.</a:t>
            </a:r>
          </a:p>
          <a:p>
            <a:r>
              <a:rPr lang="en-US" sz="1800" dirty="0">
                <a:latin typeface="Poppins" panose="00000500000000000000" pitchFamily="2" charset="0"/>
                <a:cs typeface="Poppins" panose="00000500000000000000" pitchFamily="2" charset="0"/>
              </a:rPr>
              <a:t>2. Identifying genuine messages is the biggest challenge.</a:t>
            </a:r>
            <a:br>
              <a:rPr lang="en-US" sz="1800" dirty="0">
                <a:latin typeface="Poppins" panose="00000500000000000000" pitchFamily="2" charset="0"/>
                <a:cs typeface="Poppins" panose="00000500000000000000" pitchFamily="2" charset="0"/>
              </a:rPr>
            </a:br>
            <a:r>
              <a:rPr lang="en-US" sz="1800" dirty="0">
                <a:latin typeface="Poppins" panose="00000500000000000000" pitchFamily="2" charset="0"/>
                <a:cs typeface="Poppins" panose="00000500000000000000" pitchFamily="2" charset="0"/>
              </a:rPr>
              <a:t>Respondents identified determining whether a message is genuine or fraudulent as a major difficulty.</a:t>
            </a:r>
          </a:p>
          <a:p>
            <a:r>
              <a:rPr lang="en-US" sz="1800" dirty="0">
                <a:latin typeface="Poppins" panose="00000500000000000000" pitchFamily="2" charset="0"/>
                <a:cs typeface="Poppins" panose="00000500000000000000" pitchFamily="2" charset="0"/>
              </a:rPr>
              <a:t>3. Users currently depend on multiple verification methods.</a:t>
            </a:r>
            <a:br>
              <a:rPr lang="en-US" sz="1800" dirty="0">
                <a:latin typeface="Poppins" panose="00000500000000000000" pitchFamily="2" charset="0"/>
                <a:cs typeface="Poppins" panose="00000500000000000000" pitchFamily="2" charset="0"/>
              </a:rPr>
            </a:br>
            <a:r>
              <a:rPr lang="en-US" sz="1800" dirty="0">
                <a:latin typeface="Poppins" panose="00000500000000000000" pitchFamily="2" charset="0"/>
                <a:cs typeface="Poppins" panose="00000500000000000000" pitchFamily="2" charset="0"/>
              </a:rPr>
              <a:t>Respondents use family members, online searches and </a:t>
            </a:r>
            <a:r>
              <a:rPr lang="en-US" sz="1800" dirty="0" err="1">
                <a:latin typeface="Poppins" panose="00000500000000000000" pitchFamily="2" charset="0"/>
                <a:cs typeface="Poppins" panose="00000500000000000000" pitchFamily="2" charset="0"/>
              </a:rPr>
              <a:t>Truecaller</a:t>
            </a:r>
            <a:r>
              <a:rPr lang="en-US" sz="1800" dirty="0">
                <a:latin typeface="Poppins" panose="00000500000000000000" pitchFamily="2" charset="0"/>
                <a:cs typeface="Poppins" panose="00000500000000000000" pitchFamily="2" charset="0"/>
              </a:rPr>
              <a:t> when they are unsure about suspicious communications.</a:t>
            </a:r>
          </a:p>
          <a:p>
            <a:r>
              <a:rPr lang="en-US" sz="1800" dirty="0">
                <a:latin typeface="Poppins" panose="00000500000000000000" pitchFamily="2" charset="0"/>
                <a:cs typeface="Poppins" panose="00000500000000000000" pitchFamily="2" charset="0"/>
              </a:rPr>
              <a:t>4.Existing tools may create uncertainty because of false positives.</a:t>
            </a:r>
            <a:br>
              <a:rPr lang="en-US" sz="1800" dirty="0">
                <a:latin typeface="Poppins" panose="00000500000000000000" pitchFamily="2" charset="0"/>
                <a:cs typeface="Poppins" panose="00000500000000000000" pitchFamily="2" charset="0"/>
              </a:rPr>
            </a:br>
            <a:r>
              <a:rPr lang="en-US" sz="1800" dirty="0">
                <a:latin typeface="Poppins" panose="00000500000000000000" pitchFamily="2" charset="0"/>
                <a:cs typeface="Poppins" panose="00000500000000000000" pitchFamily="2" charset="0"/>
              </a:rPr>
              <a:t>Respondents indicated that </a:t>
            </a:r>
            <a:r>
              <a:rPr lang="en-US" sz="1800" dirty="0" err="1">
                <a:latin typeface="Poppins" panose="00000500000000000000" pitchFamily="2" charset="0"/>
                <a:cs typeface="Poppins" panose="00000500000000000000" pitchFamily="2" charset="0"/>
              </a:rPr>
              <a:t>Truecaller</a:t>
            </a:r>
            <a:r>
              <a:rPr lang="en-US" sz="1800" dirty="0">
                <a:latin typeface="Poppins" panose="00000500000000000000" pitchFamily="2" charset="0"/>
                <a:cs typeface="Poppins" panose="00000500000000000000" pitchFamily="2" charset="0"/>
              </a:rPr>
              <a:t> may sometimes identify genuine communications as suspicious, such as legitimate courier/OTP-related messages.</a:t>
            </a:r>
          </a:p>
          <a:p>
            <a:r>
              <a:rPr lang="en-US" sz="1800" dirty="0">
                <a:latin typeface="Poppins" panose="00000500000000000000" pitchFamily="2" charset="0"/>
                <a:cs typeface="Poppins" panose="00000500000000000000" pitchFamily="2" charset="0"/>
              </a:rPr>
              <a:t>5. Users want explanation, not only a label.</a:t>
            </a:r>
            <a:br>
              <a:rPr lang="en-US" sz="1800" dirty="0">
                <a:latin typeface="Poppins" panose="00000500000000000000" pitchFamily="2" charset="0"/>
                <a:cs typeface="Poppins" panose="00000500000000000000" pitchFamily="2" charset="0"/>
              </a:rPr>
            </a:br>
            <a:r>
              <a:rPr lang="en-US" sz="1800" dirty="0">
                <a:latin typeface="Poppins" panose="00000500000000000000" pitchFamily="2" charset="0"/>
                <a:cs typeface="Poppins" panose="00000500000000000000" pitchFamily="2" charset="0"/>
              </a:rPr>
              <a:t>Respondents preferred a detailed explanation of why something is suspicious rather than simply receiving a "Scam" or "Not Scam" result.</a:t>
            </a:r>
          </a:p>
          <a:p>
            <a:r>
              <a:rPr lang="en-US" sz="1800" dirty="0">
                <a:latin typeface="Poppins" panose="00000500000000000000" pitchFamily="2" charset="0"/>
                <a:cs typeface="Poppins" panose="00000500000000000000" pitchFamily="2" charset="0"/>
              </a:rPr>
              <a:t>6. There is interest in the proposed product.</a:t>
            </a:r>
            <a:br>
              <a:rPr lang="en-US" sz="1800" dirty="0">
                <a:latin typeface="Poppins" panose="00000500000000000000" pitchFamily="2" charset="0"/>
                <a:cs typeface="Poppins" panose="00000500000000000000" pitchFamily="2" charset="0"/>
              </a:rPr>
            </a:br>
            <a:r>
              <a:rPr lang="en-US" sz="1800" dirty="0">
                <a:latin typeface="Poppins" panose="00000500000000000000" pitchFamily="2" charset="0"/>
                <a:cs typeface="Poppins" panose="00000500000000000000" pitchFamily="2" charset="0"/>
              </a:rPr>
              <a:t>8 Out of 10 respondents (80%) indicated that they would use such a product, particularly if it is affordable.</a:t>
            </a:r>
          </a:p>
          <a:p>
            <a:pPr marL="0" marR="0" lvl="0" indent="0" algn="l" rtl="0">
              <a:lnSpc>
                <a:spcPct val="96667"/>
              </a:lnSpc>
              <a:spcBef>
                <a:spcPts val="0"/>
              </a:spcBef>
              <a:spcAft>
                <a:spcPts val="0"/>
              </a:spcAft>
              <a:buClr>
                <a:srgbClr val="A3937F"/>
              </a:buClr>
              <a:buSzPts val="1875"/>
              <a:buFont typeface="Poppins"/>
              <a:buNone/>
            </a:pPr>
            <a:endParaRPr sz="1880" i="0" u="none" strike="noStrike" cap="none" dirty="0">
              <a:solidFill>
                <a:schemeClr val="dk1"/>
              </a:solidFill>
              <a:latin typeface="Poppins" panose="00000500000000000000" pitchFamily="2" charset="0"/>
              <a:ea typeface="Calibri"/>
              <a:cs typeface="Poppins" panose="00000500000000000000" pitchFamily="2" charset="0"/>
              <a:sym typeface="Calibri"/>
            </a:endParaRPr>
          </a:p>
        </p:txBody>
      </p:sp>
      <p:sp>
        <p:nvSpPr>
          <p:cNvPr id="108" name="Google Shape;108;p7"/>
          <p:cNvSpPr/>
          <p:nvPr/>
        </p:nvSpPr>
        <p:spPr>
          <a:xfrm>
            <a:off x="9486863" y="2393053"/>
            <a:ext cx="8423951" cy="395288"/>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F0592B"/>
              </a:buClr>
              <a:buSzPts val="1875"/>
              <a:buFont typeface="Poppins"/>
              <a:buNone/>
            </a:pPr>
            <a:r>
              <a:rPr lang="en-US" sz="1875" b="1" i="0" u="none" strike="noStrike" cap="none">
                <a:solidFill>
                  <a:srgbClr val="F0592B"/>
                </a:solidFill>
                <a:latin typeface="Poppins"/>
                <a:ea typeface="Poppins"/>
                <a:cs typeface="Poppins"/>
                <a:sym typeface="Poppins"/>
              </a:rPr>
              <a:t>SECONDARY RESEARCH</a:t>
            </a:r>
            <a:endParaRPr sz="1875" b="0" i="0" u="none" strike="noStrike" cap="none">
              <a:solidFill>
                <a:schemeClr val="dk1"/>
              </a:solidFill>
              <a:latin typeface="Calibri"/>
              <a:ea typeface="Calibri"/>
              <a:cs typeface="Calibri"/>
              <a:sym typeface="Calibri"/>
            </a:endParaRPr>
          </a:p>
        </p:txBody>
      </p:sp>
      <p:sp>
        <p:nvSpPr>
          <p:cNvPr id="109" name="Google Shape;109;p7"/>
          <p:cNvSpPr/>
          <p:nvPr/>
        </p:nvSpPr>
        <p:spPr>
          <a:xfrm>
            <a:off x="9486863" y="2902604"/>
            <a:ext cx="7658137" cy="7240463"/>
          </a:xfrm>
          <a:prstGeom prst="rect">
            <a:avLst/>
          </a:prstGeom>
          <a:solidFill>
            <a:srgbClr val="F7F1E6"/>
          </a:solidFill>
          <a:ln w="15875" cap="flat" cmpd="sng">
            <a:solidFill>
              <a:srgbClr val="DCCFBB"/>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7"/>
          <p:cNvSpPr/>
          <p:nvPr/>
        </p:nvSpPr>
        <p:spPr>
          <a:xfrm>
            <a:off x="9807525" y="3185129"/>
            <a:ext cx="7227316" cy="728663"/>
          </a:xfrm>
          <a:prstGeom prst="rect">
            <a:avLst/>
          </a:prstGeom>
          <a:noFill/>
          <a:ln>
            <a:noFill/>
          </a:ln>
        </p:spPr>
        <p:txBody>
          <a:bodyPr spcFirstLastPara="1" wrap="square" lIns="25400" tIns="25400" rIns="25400" bIns="25400" anchor="t" anchorCtr="0">
            <a:noAutofit/>
          </a:bodyPr>
          <a:lstStyle/>
          <a:p>
            <a:r>
              <a:rPr lang="en-US" sz="1800" b="1" dirty="0">
                <a:latin typeface="Poppins" panose="00000500000000000000" pitchFamily="2" charset="0"/>
                <a:cs typeface="Poppins" panose="00000500000000000000" pitchFamily="2" charset="0"/>
              </a:rPr>
              <a:t>Sources to investigate and cite:</a:t>
            </a:r>
            <a:endParaRPr lang="en-US" sz="1800" dirty="0">
              <a:latin typeface="Poppins" panose="00000500000000000000" pitchFamily="2" charset="0"/>
              <a:cs typeface="Poppins" panose="00000500000000000000" pitchFamily="2" charset="0"/>
            </a:endParaRPr>
          </a:p>
          <a:p>
            <a:pPr>
              <a:buFont typeface="Arial" panose="020B0604020202020204" pitchFamily="34" charset="0"/>
              <a:buChar char="•"/>
            </a:pPr>
            <a:r>
              <a:rPr lang="en-US" sz="1800" dirty="0">
                <a:latin typeface="Poppins" panose="00000500000000000000" pitchFamily="2" charset="0"/>
                <a:cs typeface="Poppins" panose="00000500000000000000" pitchFamily="2" charset="0"/>
              </a:rPr>
              <a:t>RBI reports and digital-payment fraud advisories</a:t>
            </a:r>
          </a:p>
          <a:p>
            <a:pPr>
              <a:buFont typeface="Arial" panose="020B0604020202020204" pitchFamily="34" charset="0"/>
              <a:buChar char="•"/>
            </a:pPr>
            <a:r>
              <a:rPr lang="en-US" sz="1800" dirty="0">
                <a:latin typeface="Poppins" panose="00000500000000000000" pitchFamily="2" charset="0"/>
                <a:cs typeface="Poppins" panose="00000500000000000000" pitchFamily="2" charset="0"/>
              </a:rPr>
              <a:t>NPCI information related to UPI and payment safety</a:t>
            </a:r>
          </a:p>
          <a:p>
            <a:pPr>
              <a:buFont typeface="Arial" panose="020B0604020202020204" pitchFamily="34" charset="0"/>
              <a:buChar char="•"/>
            </a:pPr>
            <a:r>
              <a:rPr lang="en-US" sz="1800" dirty="0">
                <a:latin typeface="Poppins" panose="00000500000000000000" pitchFamily="2" charset="0"/>
                <a:cs typeface="Poppins" panose="00000500000000000000" pitchFamily="2" charset="0"/>
              </a:rPr>
              <a:t>CERT-In cybersecurity advisories</a:t>
            </a:r>
          </a:p>
          <a:p>
            <a:pPr>
              <a:buFont typeface="Arial" panose="020B0604020202020204" pitchFamily="34" charset="0"/>
              <a:buChar char="•"/>
            </a:pPr>
            <a:r>
              <a:rPr lang="en-US" sz="1800" dirty="0">
                <a:latin typeface="Poppins" panose="00000500000000000000" pitchFamily="2" charset="0"/>
                <a:cs typeface="Poppins" panose="00000500000000000000" pitchFamily="2" charset="0"/>
              </a:rPr>
              <a:t>Indian Cyber Crime Coordination Centre (I4C)</a:t>
            </a:r>
          </a:p>
          <a:p>
            <a:pPr>
              <a:buFont typeface="Arial" panose="020B0604020202020204" pitchFamily="34" charset="0"/>
              <a:buChar char="•"/>
            </a:pPr>
            <a:r>
              <a:rPr lang="en-US" sz="1800" dirty="0">
                <a:latin typeface="Poppins" panose="00000500000000000000" pitchFamily="2" charset="0"/>
                <a:cs typeface="Poppins" panose="00000500000000000000" pitchFamily="2" charset="0"/>
              </a:rPr>
              <a:t>NCRB cybercrime reports</a:t>
            </a:r>
          </a:p>
          <a:p>
            <a:pPr>
              <a:buFont typeface="Arial" panose="020B0604020202020204" pitchFamily="34" charset="0"/>
              <a:buChar char="•"/>
            </a:pPr>
            <a:r>
              <a:rPr lang="en-US" sz="1800" dirty="0">
                <a:latin typeface="Poppins" panose="00000500000000000000" pitchFamily="2" charset="0"/>
                <a:cs typeface="Poppins" panose="00000500000000000000" pitchFamily="2" charset="0"/>
              </a:rPr>
              <a:t>Government advisories on digital fraud</a:t>
            </a:r>
          </a:p>
          <a:p>
            <a:pPr>
              <a:buFont typeface="Arial" panose="020B0604020202020204" pitchFamily="34" charset="0"/>
              <a:buChar char="•"/>
            </a:pPr>
            <a:r>
              <a:rPr lang="en-US" sz="1800" dirty="0">
                <a:latin typeface="Poppins" panose="00000500000000000000" pitchFamily="2" charset="0"/>
                <a:cs typeface="Poppins" panose="00000500000000000000" pitchFamily="2" charset="0"/>
              </a:rPr>
              <a:t>Relevant research/articles on phishing, impersonation and social engineering</a:t>
            </a:r>
          </a:p>
          <a:p>
            <a:pPr marL="0" marR="0" lvl="0" indent="0" algn="l" rtl="0">
              <a:lnSpc>
                <a:spcPct val="96667"/>
              </a:lnSpc>
              <a:spcBef>
                <a:spcPts val="0"/>
              </a:spcBef>
              <a:spcAft>
                <a:spcPts val="0"/>
              </a:spcAft>
              <a:buClr>
                <a:srgbClr val="A3937F"/>
              </a:buClr>
              <a:buSzPts val="1875"/>
              <a:buFont typeface="Poppins"/>
              <a:buNone/>
            </a:pPr>
            <a:endParaRPr sz="1800" b="0" i="0" u="none" strike="noStrike" cap="none" dirty="0">
              <a:solidFill>
                <a:schemeClr val="dk1"/>
              </a:solidFill>
              <a:latin typeface="Poppins" panose="00000500000000000000" pitchFamily="2" charset="0"/>
              <a:ea typeface="Calibri"/>
              <a:cs typeface="Poppins" panose="00000500000000000000" pitchFamily="2" charset="0"/>
              <a:sym typeface="Calibri"/>
            </a:endParaRPr>
          </a:p>
        </p:txBody>
      </p:sp>
      <p:sp>
        <p:nvSpPr>
          <p:cNvPr id="111" name="Google Shape;111;p7"/>
          <p:cNvSpPr/>
          <p:nvPr/>
        </p:nvSpPr>
        <p:spPr>
          <a:xfrm>
            <a:off x="9807525" y="6464346"/>
            <a:ext cx="7718493" cy="383381"/>
          </a:xfrm>
          <a:prstGeom prst="rect">
            <a:avLst/>
          </a:prstGeom>
          <a:noFill/>
          <a:ln>
            <a:noFill/>
          </a:ln>
        </p:spPr>
        <p:txBody>
          <a:bodyPr spcFirstLastPara="1" wrap="square" lIns="25400" tIns="25400" rIns="25400" bIns="25400" anchor="t" anchorCtr="0">
            <a:noAutofit/>
          </a:bodyPr>
          <a:lstStyle/>
          <a:p>
            <a:pPr marL="0" marR="0" lvl="0" indent="0" algn="l" rtl="0">
              <a:lnSpc>
                <a:spcPct val="96667"/>
              </a:lnSpc>
              <a:spcBef>
                <a:spcPts val="0"/>
              </a:spcBef>
              <a:spcAft>
                <a:spcPts val="0"/>
              </a:spcAft>
              <a:buClr>
                <a:srgbClr val="C9BCA8"/>
              </a:buClr>
              <a:buSzPts val="1875"/>
              <a:buFont typeface="Poppins"/>
              <a:buNone/>
            </a:pPr>
            <a:r>
              <a:rPr lang="en-IN" sz="1875" b="0" i="0" u="none" strike="noStrike" cap="none" dirty="0">
                <a:solidFill>
                  <a:schemeClr val="dk1"/>
                </a:solidFill>
                <a:latin typeface="Calibri"/>
                <a:ea typeface="Calibri"/>
                <a:cs typeface="Calibri"/>
                <a:sym typeface="Calibri"/>
                <a:hlinkClick r:id="rId4"/>
              </a:rPr>
              <a:t>https://www.rbi.org.in/Scripts/PublicationsView.aspx?id=23810</a:t>
            </a:r>
            <a:endParaRPr lang="en-IN" sz="1875" b="0" i="0" u="none" strike="noStrike" cap="none" dirty="0">
              <a:solidFill>
                <a:schemeClr val="dk1"/>
              </a:solidFill>
              <a:latin typeface="Calibri"/>
              <a:ea typeface="Calibri"/>
              <a:cs typeface="Calibri"/>
              <a:sym typeface="Calibri"/>
            </a:endParaRPr>
          </a:p>
          <a:p>
            <a:pPr marL="0" marR="0" lvl="0" indent="0" algn="l" rtl="0">
              <a:lnSpc>
                <a:spcPct val="96667"/>
              </a:lnSpc>
              <a:spcBef>
                <a:spcPts val="0"/>
              </a:spcBef>
              <a:spcAft>
                <a:spcPts val="0"/>
              </a:spcAft>
              <a:buClr>
                <a:srgbClr val="C9BCA8"/>
              </a:buClr>
              <a:buSzPts val="1875"/>
              <a:buFont typeface="Poppins"/>
              <a:buNone/>
            </a:pPr>
            <a:endParaRPr lang="en-IN" sz="1875" b="0" i="0" u="none" strike="noStrike" cap="none" dirty="0">
              <a:solidFill>
                <a:schemeClr val="dk1"/>
              </a:solidFill>
              <a:latin typeface="Calibri"/>
              <a:ea typeface="Calibri"/>
              <a:cs typeface="Calibri"/>
              <a:sym typeface="Calibri"/>
            </a:endParaRPr>
          </a:p>
          <a:p>
            <a:pPr marL="0" marR="0" lvl="0" indent="0" algn="l" rtl="0">
              <a:lnSpc>
                <a:spcPct val="96667"/>
              </a:lnSpc>
              <a:spcBef>
                <a:spcPts val="0"/>
              </a:spcBef>
              <a:spcAft>
                <a:spcPts val="0"/>
              </a:spcAft>
              <a:buClr>
                <a:srgbClr val="C9BCA8"/>
              </a:buClr>
              <a:buSzPts val="1875"/>
              <a:buFont typeface="Poppins"/>
              <a:buNone/>
            </a:pPr>
            <a:endParaRPr sz="1875" b="0" i="0" u="none" strike="noStrike" cap="none" dirty="0">
              <a:solidFill>
                <a:schemeClr val="dk1"/>
              </a:solidFill>
              <a:latin typeface="Calibri"/>
              <a:ea typeface="Calibri"/>
              <a:cs typeface="Calibri"/>
              <a:sym typeface="Calibri"/>
            </a:endParaRPr>
          </a:p>
        </p:txBody>
      </p:sp>
      <p:sp>
        <p:nvSpPr>
          <p:cNvPr id="15" name="Google Shape;111;p7">
            <a:extLst>
              <a:ext uri="{FF2B5EF4-FFF2-40B4-BE49-F238E27FC236}">
                <a16:creationId xmlns:a16="http://schemas.microsoft.com/office/drawing/2014/main" id="{0CC11D9B-112E-4D23-AFA4-C028697E3B7A}"/>
              </a:ext>
            </a:extLst>
          </p:cNvPr>
          <p:cNvSpPr/>
          <p:nvPr/>
        </p:nvSpPr>
        <p:spPr>
          <a:xfrm>
            <a:off x="9807525" y="6847727"/>
            <a:ext cx="7718493" cy="383381"/>
          </a:xfrm>
          <a:prstGeom prst="rect">
            <a:avLst/>
          </a:prstGeom>
          <a:noFill/>
          <a:ln>
            <a:noFill/>
          </a:ln>
        </p:spPr>
        <p:txBody>
          <a:bodyPr spcFirstLastPara="1" wrap="square" lIns="25400" tIns="25400" rIns="25400" bIns="25400" anchor="t" anchorCtr="0">
            <a:noAutofit/>
          </a:bodyPr>
          <a:lstStyle/>
          <a:p>
            <a:pPr marL="0" marR="0" lvl="0" indent="0" algn="l" rtl="0">
              <a:lnSpc>
                <a:spcPct val="96667"/>
              </a:lnSpc>
              <a:spcBef>
                <a:spcPts val="0"/>
              </a:spcBef>
              <a:spcAft>
                <a:spcPts val="0"/>
              </a:spcAft>
              <a:buClr>
                <a:srgbClr val="C9BCA8"/>
              </a:buClr>
              <a:buSzPts val="1875"/>
              <a:buFont typeface="Poppins"/>
              <a:buNone/>
            </a:pPr>
            <a:r>
              <a:rPr lang="en-IN" sz="1875" b="0" i="0" u="none" strike="noStrike" cap="none" dirty="0">
                <a:solidFill>
                  <a:schemeClr val="dk1"/>
                </a:solidFill>
                <a:latin typeface="Calibri"/>
                <a:ea typeface="Calibri"/>
                <a:cs typeface="Calibri"/>
                <a:sym typeface="Calibri"/>
                <a:hlinkClick r:id="rId5"/>
              </a:rPr>
              <a:t>https://www.npci.org.in/safety-feature</a:t>
            </a:r>
            <a:endParaRPr lang="en-IN" sz="1875" b="0" i="0" u="none" strike="noStrike" cap="none" dirty="0">
              <a:solidFill>
                <a:schemeClr val="dk1"/>
              </a:solidFill>
              <a:latin typeface="Calibri"/>
              <a:ea typeface="Calibri"/>
              <a:cs typeface="Calibri"/>
              <a:sym typeface="Calibri"/>
            </a:endParaRPr>
          </a:p>
          <a:p>
            <a:pPr marL="0" marR="0" lvl="0" indent="0" algn="l" rtl="0">
              <a:lnSpc>
                <a:spcPct val="96667"/>
              </a:lnSpc>
              <a:spcBef>
                <a:spcPts val="0"/>
              </a:spcBef>
              <a:spcAft>
                <a:spcPts val="0"/>
              </a:spcAft>
              <a:buClr>
                <a:srgbClr val="C9BCA8"/>
              </a:buClr>
              <a:buSzPts val="1875"/>
              <a:buFont typeface="Poppins"/>
              <a:buNone/>
            </a:pPr>
            <a:endParaRPr lang="en-IN" sz="1875" b="0" i="0" u="none" strike="noStrike" cap="none" dirty="0">
              <a:solidFill>
                <a:schemeClr val="dk1"/>
              </a:solidFill>
              <a:latin typeface="Calibri"/>
              <a:ea typeface="Calibri"/>
              <a:cs typeface="Calibri"/>
              <a:sym typeface="Calibri"/>
            </a:endParaRPr>
          </a:p>
          <a:p>
            <a:pPr marL="0" marR="0" lvl="0" indent="0" algn="l" rtl="0">
              <a:lnSpc>
                <a:spcPct val="96667"/>
              </a:lnSpc>
              <a:spcBef>
                <a:spcPts val="0"/>
              </a:spcBef>
              <a:spcAft>
                <a:spcPts val="0"/>
              </a:spcAft>
              <a:buClr>
                <a:srgbClr val="C9BCA8"/>
              </a:buClr>
              <a:buSzPts val="1875"/>
              <a:buFont typeface="Poppins"/>
              <a:buNone/>
            </a:pPr>
            <a:endParaRPr lang="en-IN" sz="1875" b="0" i="0" u="none" strike="noStrike" cap="none" dirty="0">
              <a:solidFill>
                <a:schemeClr val="dk1"/>
              </a:solidFill>
              <a:latin typeface="Calibri"/>
              <a:ea typeface="Calibri"/>
              <a:cs typeface="Calibri"/>
              <a:sym typeface="Calibri"/>
            </a:endParaRPr>
          </a:p>
          <a:p>
            <a:pPr marL="0" marR="0" lvl="0" indent="0" algn="l" rtl="0">
              <a:lnSpc>
                <a:spcPct val="96667"/>
              </a:lnSpc>
              <a:spcBef>
                <a:spcPts val="0"/>
              </a:spcBef>
              <a:spcAft>
                <a:spcPts val="0"/>
              </a:spcAft>
              <a:buClr>
                <a:srgbClr val="C9BCA8"/>
              </a:buClr>
              <a:buSzPts val="1875"/>
              <a:buFont typeface="Poppins"/>
              <a:buNone/>
            </a:pPr>
            <a:endParaRPr sz="1875" b="0" i="0" u="none" strike="noStrike" cap="none" dirty="0">
              <a:solidFill>
                <a:schemeClr val="dk1"/>
              </a:solidFill>
              <a:latin typeface="Calibri"/>
              <a:ea typeface="Calibri"/>
              <a:cs typeface="Calibri"/>
              <a:sym typeface="Calibri"/>
            </a:endParaRPr>
          </a:p>
        </p:txBody>
      </p:sp>
      <p:sp>
        <p:nvSpPr>
          <p:cNvPr id="16" name="Google Shape;111;p7">
            <a:extLst>
              <a:ext uri="{FF2B5EF4-FFF2-40B4-BE49-F238E27FC236}">
                <a16:creationId xmlns:a16="http://schemas.microsoft.com/office/drawing/2014/main" id="{544ED4D7-12C2-42C5-89F2-C417F4880E3A}"/>
              </a:ext>
            </a:extLst>
          </p:cNvPr>
          <p:cNvSpPr/>
          <p:nvPr/>
        </p:nvSpPr>
        <p:spPr>
          <a:xfrm>
            <a:off x="9839591" y="7231108"/>
            <a:ext cx="7718493" cy="383381"/>
          </a:xfrm>
          <a:prstGeom prst="rect">
            <a:avLst/>
          </a:prstGeom>
          <a:noFill/>
          <a:ln>
            <a:noFill/>
          </a:ln>
        </p:spPr>
        <p:txBody>
          <a:bodyPr spcFirstLastPara="1" wrap="square" lIns="25400" tIns="25400" rIns="25400" bIns="25400" anchor="t" anchorCtr="0">
            <a:noAutofit/>
          </a:bodyPr>
          <a:lstStyle/>
          <a:p>
            <a:pPr marL="0" marR="0" lvl="0" indent="0" algn="l" rtl="0">
              <a:lnSpc>
                <a:spcPct val="96667"/>
              </a:lnSpc>
              <a:spcBef>
                <a:spcPts val="0"/>
              </a:spcBef>
              <a:spcAft>
                <a:spcPts val="0"/>
              </a:spcAft>
              <a:buClr>
                <a:srgbClr val="C9BCA8"/>
              </a:buClr>
              <a:buSzPts val="1875"/>
              <a:buFont typeface="Poppins"/>
              <a:buNone/>
            </a:pPr>
            <a:r>
              <a:rPr lang="en-IN" sz="1875" b="0" i="0" u="none" strike="noStrike" cap="none" dirty="0">
                <a:solidFill>
                  <a:schemeClr val="dk1"/>
                </a:solidFill>
                <a:latin typeface="Calibri"/>
                <a:ea typeface="Calibri"/>
                <a:cs typeface="Calibri"/>
                <a:sym typeface="Calibri"/>
                <a:hlinkClick r:id="rId6"/>
              </a:rPr>
              <a:t>https://i4c.mha.gov.in/</a:t>
            </a:r>
            <a:endParaRPr lang="en-IN" sz="1875" dirty="0">
              <a:solidFill>
                <a:schemeClr val="dk1"/>
              </a:solidFill>
              <a:latin typeface="Calibri"/>
              <a:ea typeface="Calibri"/>
              <a:cs typeface="Calibri"/>
              <a:sym typeface="Calibri"/>
            </a:endParaRPr>
          </a:p>
          <a:p>
            <a:pPr marL="0" marR="0" lvl="0" indent="0" algn="l" rtl="0">
              <a:lnSpc>
                <a:spcPct val="96667"/>
              </a:lnSpc>
              <a:spcBef>
                <a:spcPts val="0"/>
              </a:spcBef>
              <a:spcAft>
                <a:spcPts val="0"/>
              </a:spcAft>
              <a:buClr>
                <a:srgbClr val="C9BCA8"/>
              </a:buClr>
              <a:buSzPts val="1875"/>
              <a:buFont typeface="Poppins"/>
              <a:buNone/>
            </a:pPr>
            <a:endParaRPr lang="en-IN" sz="1875" b="0" i="0" u="none" strike="noStrike" cap="none" dirty="0">
              <a:solidFill>
                <a:schemeClr val="dk1"/>
              </a:solidFill>
              <a:latin typeface="Calibri"/>
              <a:ea typeface="Calibri"/>
              <a:cs typeface="Calibri"/>
              <a:sym typeface="Calibri"/>
            </a:endParaRPr>
          </a:p>
          <a:p>
            <a:pPr marL="0" marR="0" lvl="0" indent="0" algn="l" rtl="0">
              <a:lnSpc>
                <a:spcPct val="96667"/>
              </a:lnSpc>
              <a:spcBef>
                <a:spcPts val="0"/>
              </a:spcBef>
              <a:spcAft>
                <a:spcPts val="0"/>
              </a:spcAft>
              <a:buClr>
                <a:srgbClr val="C9BCA8"/>
              </a:buClr>
              <a:buSzPts val="1875"/>
              <a:buFont typeface="Poppins"/>
              <a:buNone/>
            </a:pPr>
            <a:endParaRPr lang="en-IN" sz="1875" b="0" i="0" u="none" strike="noStrike" cap="none" dirty="0">
              <a:solidFill>
                <a:schemeClr val="dk1"/>
              </a:solidFill>
              <a:latin typeface="Calibri"/>
              <a:ea typeface="Calibri"/>
              <a:cs typeface="Calibri"/>
              <a:sym typeface="Calibri"/>
            </a:endParaRPr>
          </a:p>
          <a:p>
            <a:pPr marL="0" marR="0" lvl="0" indent="0" algn="l" rtl="0">
              <a:lnSpc>
                <a:spcPct val="96667"/>
              </a:lnSpc>
              <a:spcBef>
                <a:spcPts val="0"/>
              </a:spcBef>
              <a:spcAft>
                <a:spcPts val="0"/>
              </a:spcAft>
              <a:buClr>
                <a:srgbClr val="C9BCA8"/>
              </a:buClr>
              <a:buSzPts val="1875"/>
              <a:buFont typeface="Poppins"/>
              <a:buNone/>
            </a:pPr>
            <a:endParaRPr sz="1875" b="0" i="0" u="none" strike="noStrike" cap="none" dirty="0">
              <a:solidFill>
                <a:schemeClr val="dk1"/>
              </a:solidFill>
              <a:latin typeface="Calibri"/>
              <a:ea typeface="Calibri"/>
              <a:cs typeface="Calibri"/>
              <a:sym typeface="Calibri"/>
            </a:endParaRPr>
          </a:p>
        </p:txBody>
      </p:sp>
      <p:sp>
        <p:nvSpPr>
          <p:cNvPr id="17" name="Google Shape;111;p7">
            <a:extLst>
              <a:ext uri="{FF2B5EF4-FFF2-40B4-BE49-F238E27FC236}">
                <a16:creationId xmlns:a16="http://schemas.microsoft.com/office/drawing/2014/main" id="{19BD3031-F9A0-4984-9692-F2D8E15FC1AB}"/>
              </a:ext>
            </a:extLst>
          </p:cNvPr>
          <p:cNvSpPr/>
          <p:nvPr/>
        </p:nvSpPr>
        <p:spPr>
          <a:xfrm>
            <a:off x="9839591" y="7614489"/>
            <a:ext cx="7718493" cy="383381"/>
          </a:xfrm>
          <a:prstGeom prst="rect">
            <a:avLst/>
          </a:prstGeom>
          <a:noFill/>
          <a:ln>
            <a:noFill/>
          </a:ln>
        </p:spPr>
        <p:txBody>
          <a:bodyPr spcFirstLastPara="1" wrap="square" lIns="25400" tIns="25400" rIns="25400" bIns="25400" anchor="t" anchorCtr="0">
            <a:noAutofit/>
          </a:bodyPr>
          <a:lstStyle/>
          <a:p>
            <a:pPr marL="0" marR="0" lvl="0" indent="0" algn="l" rtl="0">
              <a:lnSpc>
                <a:spcPct val="96667"/>
              </a:lnSpc>
              <a:spcBef>
                <a:spcPts val="0"/>
              </a:spcBef>
              <a:spcAft>
                <a:spcPts val="0"/>
              </a:spcAft>
              <a:buClr>
                <a:srgbClr val="C9BCA8"/>
              </a:buClr>
              <a:buSzPts val="1875"/>
              <a:buFont typeface="Poppins"/>
              <a:buNone/>
            </a:pPr>
            <a:r>
              <a:rPr lang="en-IN" sz="1875" b="0" i="0" u="none" strike="noStrike" cap="none" dirty="0">
                <a:solidFill>
                  <a:schemeClr val="dk1"/>
                </a:solidFill>
                <a:latin typeface="Calibri"/>
                <a:ea typeface="Calibri"/>
                <a:cs typeface="Calibri"/>
                <a:sym typeface="Calibri"/>
                <a:hlinkClick r:id="rId7"/>
              </a:rPr>
              <a:t>https://cybercrime.gov.in/Webform/Advisory.aspx</a:t>
            </a:r>
            <a:endParaRPr lang="en-IN" sz="1875" dirty="0">
              <a:solidFill>
                <a:schemeClr val="dk1"/>
              </a:solidFill>
              <a:latin typeface="Calibri"/>
              <a:ea typeface="Calibri"/>
              <a:cs typeface="Calibri"/>
              <a:sym typeface="Calibri"/>
            </a:endParaRPr>
          </a:p>
          <a:p>
            <a:pPr marL="0" marR="0" lvl="0" indent="0" algn="l" rtl="0">
              <a:lnSpc>
                <a:spcPct val="96667"/>
              </a:lnSpc>
              <a:spcBef>
                <a:spcPts val="0"/>
              </a:spcBef>
              <a:spcAft>
                <a:spcPts val="0"/>
              </a:spcAft>
              <a:buClr>
                <a:srgbClr val="C9BCA8"/>
              </a:buClr>
              <a:buSzPts val="1875"/>
              <a:buFont typeface="Poppins"/>
              <a:buNone/>
            </a:pPr>
            <a:endParaRPr lang="en-IN" sz="1875" b="0" i="0" u="none" strike="noStrike" cap="none" dirty="0">
              <a:solidFill>
                <a:schemeClr val="dk1"/>
              </a:solidFill>
              <a:latin typeface="Calibri"/>
              <a:ea typeface="Calibri"/>
              <a:cs typeface="Calibri"/>
              <a:sym typeface="Calibri"/>
            </a:endParaRPr>
          </a:p>
          <a:p>
            <a:pPr marL="0" marR="0" lvl="0" indent="0" algn="l" rtl="0">
              <a:lnSpc>
                <a:spcPct val="96667"/>
              </a:lnSpc>
              <a:spcBef>
                <a:spcPts val="0"/>
              </a:spcBef>
              <a:spcAft>
                <a:spcPts val="0"/>
              </a:spcAft>
              <a:buClr>
                <a:srgbClr val="C9BCA8"/>
              </a:buClr>
              <a:buSzPts val="1875"/>
              <a:buFont typeface="Poppins"/>
              <a:buNone/>
            </a:pPr>
            <a:endParaRPr lang="en-IN" sz="1875" b="0" i="0" u="none" strike="noStrike" cap="none" dirty="0">
              <a:solidFill>
                <a:schemeClr val="dk1"/>
              </a:solidFill>
              <a:latin typeface="Calibri"/>
              <a:ea typeface="Calibri"/>
              <a:cs typeface="Calibri"/>
              <a:sym typeface="Calibri"/>
            </a:endParaRPr>
          </a:p>
          <a:p>
            <a:pPr marL="0" marR="0" lvl="0" indent="0" algn="l" rtl="0">
              <a:lnSpc>
                <a:spcPct val="96667"/>
              </a:lnSpc>
              <a:spcBef>
                <a:spcPts val="0"/>
              </a:spcBef>
              <a:spcAft>
                <a:spcPts val="0"/>
              </a:spcAft>
              <a:buClr>
                <a:srgbClr val="C9BCA8"/>
              </a:buClr>
              <a:buSzPts val="1875"/>
              <a:buFont typeface="Poppins"/>
              <a:buNone/>
            </a:pPr>
            <a:endParaRPr sz="1875" b="0" i="0" u="none" strike="noStrike" cap="none" dirty="0">
              <a:solidFill>
                <a:schemeClr val="dk1"/>
              </a:solidFill>
              <a:latin typeface="Calibri"/>
              <a:ea typeface="Calibri"/>
              <a:cs typeface="Calibri"/>
              <a:sym typeface="Calibri"/>
            </a:endParaRPr>
          </a:p>
        </p:txBody>
      </p:sp>
      <p:sp>
        <p:nvSpPr>
          <p:cNvPr id="18" name="Google Shape;111;p7">
            <a:extLst>
              <a:ext uri="{FF2B5EF4-FFF2-40B4-BE49-F238E27FC236}">
                <a16:creationId xmlns:a16="http://schemas.microsoft.com/office/drawing/2014/main" id="{DAC2F80A-48B5-46E5-A87D-26AF6C7F6DB7}"/>
              </a:ext>
            </a:extLst>
          </p:cNvPr>
          <p:cNvSpPr/>
          <p:nvPr/>
        </p:nvSpPr>
        <p:spPr>
          <a:xfrm>
            <a:off x="9824456" y="6057946"/>
            <a:ext cx="7718493" cy="383381"/>
          </a:xfrm>
          <a:prstGeom prst="rect">
            <a:avLst/>
          </a:prstGeom>
          <a:noFill/>
          <a:ln>
            <a:noFill/>
          </a:ln>
        </p:spPr>
        <p:txBody>
          <a:bodyPr spcFirstLastPara="1" wrap="square" lIns="25400" tIns="25400" rIns="25400" bIns="25400" anchor="t" anchorCtr="0">
            <a:noAutofit/>
          </a:bodyPr>
          <a:lstStyle/>
          <a:p>
            <a:pPr marL="0" marR="0" lvl="0" indent="0" algn="l" rtl="0">
              <a:lnSpc>
                <a:spcPct val="96667"/>
              </a:lnSpc>
              <a:spcBef>
                <a:spcPts val="0"/>
              </a:spcBef>
              <a:spcAft>
                <a:spcPts val="0"/>
              </a:spcAft>
              <a:buClr>
                <a:srgbClr val="C9BCA8"/>
              </a:buClr>
              <a:buSzPts val="1875"/>
              <a:buFont typeface="Poppins"/>
              <a:buNone/>
            </a:pPr>
            <a:r>
              <a:rPr lang="en-IN" sz="1875" b="0" i="0" u="none" strike="noStrike" cap="none" dirty="0">
                <a:solidFill>
                  <a:schemeClr val="dk1"/>
                </a:solidFill>
                <a:latin typeface="Calibri"/>
                <a:ea typeface="Calibri"/>
                <a:cs typeface="Calibri"/>
                <a:sym typeface="Calibri"/>
                <a:hlinkClick r:id="rId8"/>
              </a:rPr>
              <a:t>https://www.google.com/</a:t>
            </a:r>
            <a:r>
              <a:rPr lang="en-IN" sz="1875" b="0" i="0" u="none" strike="noStrike" cap="none" dirty="0">
                <a:solidFill>
                  <a:schemeClr val="dk1"/>
                </a:solidFill>
                <a:latin typeface="Calibri"/>
                <a:ea typeface="Calibri"/>
                <a:cs typeface="Calibri"/>
                <a:sym typeface="Calibri"/>
              </a:rPr>
              <a:t> </a:t>
            </a:r>
          </a:p>
          <a:p>
            <a:pPr marL="0" marR="0" lvl="0" indent="0" algn="l" rtl="0">
              <a:lnSpc>
                <a:spcPct val="96667"/>
              </a:lnSpc>
              <a:spcBef>
                <a:spcPts val="0"/>
              </a:spcBef>
              <a:spcAft>
                <a:spcPts val="0"/>
              </a:spcAft>
              <a:buClr>
                <a:srgbClr val="C9BCA8"/>
              </a:buClr>
              <a:buSzPts val="1875"/>
              <a:buFont typeface="Poppins"/>
              <a:buNone/>
            </a:pPr>
            <a:endParaRPr lang="en-IN" sz="1875" b="0" i="0" u="none" strike="noStrike" cap="none" dirty="0">
              <a:solidFill>
                <a:schemeClr val="dk1"/>
              </a:solidFill>
              <a:latin typeface="Calibri"/>
              <a:ea typeface="Calibri"/>
              <a:cs typeface="Calibri"/>
              <a:sym typeface="Calibri"/>
            </a:endParaRPr>
          </a:p>
          <a:p>
            <a:pPr marL="0" marR="0" lvl="0" indent="0" algn="l" rtl="0">
              <a:lnSpc>
                <a:spcPct val="96667"/>
              </a:lnSpc>
              <a:spcBef>
                <a:spcPts val="0"/>
              </a:spcBef>
              <a:spcAft>
                <a:spcPts val="0"/>
              </a:spcAft>
              <a:buClr>
                <a:srgbClr val="C9BCA8"/>
              </a:buClr>
              <a:buSzPts val="1875"/>
              <a:buFont typeface="Poppins"/>
              <a:buNone/>
            </a:pPr>
            <a:endParaRPr lang="en-IN" sz="1875" b="0" i="0" u="none" strike="noStrike" cap="none" dirty="0">
              <a:solidFill>
                <a:schemeClr val="dk1"/>
              </a:solidFill>
              <a:latin typeface="Calibri"/>
              <a:ea typeface="Calibri"/>
              <a:cs typeface="Calibri"/>
              <a:sym typeface="Calibri"/>
            </a:endParaRPr>
          </a:p>
          <a:p>
            <a:pPr marL="0" marR="0" lvl="0" indent="0" algn="l" rtl="0">
              <a:lnSpc>
                <a:spcPct val="96667"/>
              </a:lnSpc>
              <a:spcBef>
                <a:spcPts val="0"/>
              </a:spcBef>
              <a:spcAft>
                <a:spcPts val="0"/>
              </a:spcAft>
              <a:buClr>
                <a:srgbClr val="C9BCA8"/>
              </a:buClr>
              <a:buSzPts val="1875"/>
              <a:buFont typeface="Poppins"/>
              <a:buNone/>
            </a:pPr>
            <a:endParaRPr sz="1875"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BF7F0"/>
        </a:solidFill>
        <a:effectLst/>
      </p:bgPr>
    </p:bg>
    <p:spTree>
      <p:nvGrpSpPr>
        <p:cNvPr id="1" name="Shape 116"/>
        <p:cNvGrpSpPr/>
        <p:nvPr/>
      </p:nvGrpSpPr>
      <p:grpSpPr>
        <a:xfrm>
          <a:off x="0" y="0"/>
          <a:ext cx="0" cy="0"/>
          <a:chOff x="0" y="0"/>
          <a:chExt cx="0" cy="0"/>
        </a:xfrm>
      </p:grpSpPr>
      <p:sp>
        <p:nvSpPr>
          <p:cNvPr id="15" name="Google Shape;128;p8">
            <a:extLst>
              <a:ext uri="{FF2B5EF4-FFF2-40B4-BE49-F238E27FC236}">
                <a16:creationId xmlns:a16="http://schemas.microsoft.com/office/drawing/2014/main" id="{09EF3749-FD61-4161-AE72-746288BBF110}"/>
              </a:ext>
            </a:extLst>
          </p:cNvPr>
          <p:cNvSpPr/>
          <p:nvPr/>
        </p:nvSpPr>
        <p:spPr>
          <a:xfrm>
            <a:off x="1143000" y="3851920"/>
            <a:ext cx="4978425" cy="5749292"/>
          </a:xfrm>
          <a:prstGeom prst="rect">
            <a:avLst/>
          </a:prstGeom>
          <a:solidFill>
            <a:srgbClr val="F7F1E6"/>
          </a:solidFill>
          <a:ln w="15875" cap="flat" cmpd="sng">
            <a:solidFill>
              <a:srgbClr val="DCCFBB"/>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8"/>
          <p:cNvSpPr/>
          <p:nvPr/>
        </p:nvSpPr>
        <p:spPr>
          <a:xfrm>
            <a:off x="1143000" y="742900"/>
            <a:ext cx="1914122" cy="379412"/>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F0592B"/>
              </a:buClr>
              <a:buSzPts val="1800"/>
              <a:buFont typeface="Poppins"/>
              <a:buNone/>
            </a:pPr>
            <a:r>
              <a:rPr lang="en-US" sz="1800" b="1" i="0" u="none" strike="noStrike" cap="none">
                <a:solidFill>
                  <a:srgbClr val="F0592B"/>
                </a:solidFill>
                <a:latin typeface="Poppins"/>
                <a:ea typeface="Poppins"/>
                <a:cs typeface="Poppins"/>
                <a:sym typeface="Poppins"/>
              </a:rPr>
              <a:t>SECTION 05</a:t>
            </a:r>
            <a:endParaRPr sz="1800" b="0" i="0" u="none" strike="noStrike" cap="none">
              <a:solidFill>
                <a:schemeClr val="dk1"/>
              </a:solidFill>
              <a:latin typeface="Calibri"/>
              <a:ea typeface="Calibri"/>
              <a:cs typeface="Calibri"/>
              <a:sym typeface="Calibri"/>
            </a:endParaRPr>
          </a:p>
        </p:txBody>
      </p:sp>
      <p:pic>
        <p:nvPicPr>
          <p:cNvPr id="118" name="Google Shape;118;p8" descr="preencoded.png"/>
          <p:cNvPicPr preferRelativeResize="0"/>
          <p:nvPr/>
        </p:nvPicPr>
        <p:blipFill rotWithShape="1">
          <a:blip r:embed="rId3">
            <a:alphaModFix/>
          </a:blip>
          <a:srcRect/>
          <a:stretch/>
        </p:blipFill>
        <p:spPr>
          <a:xfrm>
            <a:off x="14954250" y="742900"/>
            <a:ext cx="2190750" cy="637666"/>
          </a:xfrm>
          <a:prstGeom prst="rect">
            <a:avLst/>
          </a:prstGeom>
          <a:noFill/>
          <a:ln>
            <a:noFill/>
          </a:ln>
        </p:spPr>
      </p:pic>
      <p:sp>
        <p:nvSpPr>
          <p:cNvPr id="119" name="Google Shape;119;p8"/>
          <p:cNvSpPr/>
          <p:nvPr/>
        </p:nvSpPr>
        <p:spPr>
          <a:xfrm>
            <a:off x="1143000" y="1628180"/>
            <a:ext cx="17602200" cy="757002"/>
          </a:xfrm>
          <a:prstGeom prst="rect">
            <a:avLst/>
          </a:prstGeom>
          <a:noFill/>
          <a:ln>
            <a:noFill/>
          </a:ln>
        </p:spPr>
        <p:txBody>
          <a:bodyPr spcFirstLastPara="1" wrap="square" lIns="25400" tIns="25400" rIns="25400" bIns="25400" anchor="t" anchorCtr="0">
            <a:noAutofit/>
          </a:bodyPr>
          <a:lstStyle/>
          <a:p>
            <a:pPr marL="0" marR="0" lvl="0" indent="0" algn="l" rtl="0">
              <a:lnSpc>
                <a:spcPct val="68102"/>
              </a:lnSpc>
              <a:spcBef>
                <a:spcPts val="0"/>
              </a:spcBef>
              <a:spcAft>
                <a:spcPts val="0"/>
              </a:spcAft>
              <a:buClr>
                <a:srgbClr val="2A1E16"/>
              </a:buClr>
              <a:buSzPts val="5550"/>
              <a:buFont typeface="Poppins"/>
              <a:buNone/>
            </a:pPr>
            <a:r>
              <a:rPr lang="en-US" sz="5550" b="1" i="0" u="none" strike="noStrike" cap="none">
                <a:solidFill>
                  <a:srgbClr val="2A1E16"/>
                </a:solidFill>
                <a:latin typeface="Poppins"/>
                <a:ea typeface="Poppins"/>
                <a:cs typeface="Poppins"/>
                <a:sym typeface="Poppins"/>
              </a:rPr>
              <a:t>Top pain points</a:t>
            </a:r>
            <a:endParaRPr sz="5550" b="0" i="0" u="none" strike="noStrike" cap="none">
              <a:solidFill>
                <a:schemeClr val="dk1"/>
              </a:solidFill>
              <a:latin typeface="Calibri"/>
              <a:ea typeface="Calibri"/>
              <a:cs typeface="Calibri"/>
              <a:sym typeface="Calibri"/>
            </a:endParaRPr>
          </a:p>
        </p:txBody>
      </p:sp>
      <p:sp>
        <p:nvSpPr>
          <p:cNvPr id="120" name="Google Shape;120;p8"/>
          <p:cNvSpPr/>
          <p:nvPr/>
        </p:nvSpPr>
        <p:spPr>
          <a:xfrm>
            <a:off x="1143000" y="2461369"/>
            <a:ext cx="17602200" cy="442913"/>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7A6A5B"/>
              </a:buClr>
              <a:buSzPts val="2100"/>
              <a:buFont typeface="Poppins"/>
              <a:buNone/>
            </a:pPr>
            <a:r>
              <a:rPr lang="en-US" sz="2100" b="0" i="0" u="none" strike="noStrike" cap="none">
                <a:solidFill>
                  <a:srgbClr val="7A6A5B"/>
                </a:solidFill>
                <a:latin typeface="Poppins"/>
                <a:ea typeface="Poppins"/>
                <a:cs typeface="Poppins"/>
                <a:sym typeface="Poppins"/>
              </a:rPr>
              <a:t>Three, ranked. Each needs evidence — not an assumption.</a:t>
            </a:r>
            <a:endParaRPr sz="2100" b="0" i="0" u="none" strike="noStrike" cap="none">
              <a:solidFill>
                <a:schemeClr val="dk1"/>
              </a:solidFill>
              <a:latin typeface="Calibri"/>
              <a:ea typeface="Calibri"/>
              <a:cs typeface="Calibri"/>
              <a:sym typeface="Calibri"/>
            </a:endParaRPr>
          </a:p>
        </p:txBody>
      </p:sp>
      <p:sp>
        <p:nvSpPr>
          <p:cNvPr id="121" name="Google Shape;121;p8"/>
          <p:cNvSpPr/>
          <p:nvPr/>
        </p:nvSpPr>
        <p:spPr>
          <a:xfrm>
            <a:off x="1143000" y="3113794"/>
            <a:ext cx="16002000" cy="15875"/>
          </a:xfrm>
          <a:prstGeom prst="rect">
            <a:avLst/>
          </a:prstGeom>
          <a:solidFill>
            <a:srgbClr val="E5DC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8"/>
          <p:cNvSpPr/>
          <p:nvPr/>
        </p:nvSpPr>
        <p:spPr>
          <a:xfrm>
            <a:off x="1143000" y="3358244"/>
            <a:ext cx="5476267" cy="379412"/>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F0592B"/>
              </a:buClr>
              <a:buSzPts val="1800"/>
              <a:buFont typeface="Poppins"/>
              <a:buNone/>
            </a:pPr>
            <a:r>
              <a:rPr lang="en-US" sz="1800" b="1" i="0" u="none" strike="noStrike" cap="none">
                <a:solidFill>
                  <a:srgbClr val="F0592B"/>
                </a:solidFill>
                <a:latin typeface="Poppins"/>
                <a:ea typeface="Poppins"/>
                <a:cs typeface="Poppins"/>
                <a:sym typeface="Poppins"/>
              </a:rPr>
              <a:t>Pain point 1</a:t>
            </a:r>
            <a:endParaRPr sz="1800" b="0" i="0" u="none" strike="noStrike" cap="none">
              <a:solidFill>
                <a:schemeClr val="dk1"/>
              </a:solidFill>
              <a:latin typeface="Calibri"/>
              <a:ea typeface="Calibri"/>
              <a:cs typeface="Calibri"/>
              <a:sym typeface="Calibri"/>
            </a:endParaRPr>
          </a:p>
        </p:txBody>
      </p:sp>
      <p:sp>
        <p:nvSpPr>
          <p:cNvPr id="123" name="Google Shape;123;p8"/>
          <p:cNvSpPr/>
          <p:nvPr/>
        </p:nvSpPr>
        <p:spPr>
          <a:xfrm>
            <a:off x="6654787" y="3358244"/>
            <a:ext cx="5476267" cy="379412"/>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F0592B"/>
              </a:buClr>
              <a:buSzPts val="1800"/>
              <a:buFont typeface="Poppins"/>
              <a:buNone/>
            </a:pPr>
            <a:r>
              <a:rPr lang="en-US" sz="1800" b="1" i="0" u="none" strike="noStrike" cap="none">
                <a:solidFill>
                  <a:srgbClr val="F0592B"/>
                </a:solidFill>
                <a:latin typeface="Poppins"/>
                <a:ea typeface="Poppins"/>
                <a:cs typeface="Poppins"/>
                <a:sym typeface="Poppins"/>
              </a:rPr>
              <a:t>Pain point 2</a:t>
            </a:r>
            <a:endParaRPr sz="1800" b="0" i="0" u="none" strike="noStrike" cap="none">
              <a:solidFill>
                <a:schemeClr val="dk1"/>
              </a:solidFill>
              <a:latin typeface="Calibri"/>
              <a:ea typeface="Calibri"/>
              <a:cs typeface="Calibri"/>
              <a:sym typeface="Calibri"/>
            </a:endParaRPr>
          </a:p>
        </p:txBody>
      </p:sp>
      <p:sp>
        <p:nvSpPr>
          <p:cNvPr id="124" name="Google Shape;124;p8"/>
          <p:cNvSpPr/>
          <p:nvPr/>
        </p:nvSpPr>
        <p:spPr>
          <a:xfrm>
            <a:off x="12166575" y="3358244"/>
            <a:ext cx="5476267" cy="379412"/>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F0592B"/>
              </a:buClr>
              <a:buSzPts val="1800"/>
              <a:buFont typeface="Poppins"/>
              <a:buNone/>
            </a:pPr>
            <a:r>
              <a:rPr lang="en-US" sz="1800" b="1" i="0" u="none" strike="noStrike" cap="none">
                <a:solidFill>
                  <a:srgbClr val="F0592B"/>
                </a:solidFill>
                <a:latin typeface="Poppins"/>
                <a:ea typeface="Poppins"/>
                <a:cs typeface="Poppins"/>
                <a:sym typeface="Poppins"/>
              </a:rPr>
              <a:t>Pain point 3</a:t>
            </a:r>
            <a:endParaRPr sz="1800" b="0" i="0" u="none" strike="noStrike" cap="none">
              <a:solidFill>
                <a:schemeClr val="dk1"/>
              </a:solidFill>
              <a:latin typeface="Calibri"/>
              <a:ea typeface="Calibri"/>
              <a:cs typeface="Calibri"/>
              <a:sym typeface="Calibri"/>
            </a:endParaRPr>
          </a:p>
        </p:txBody>
      </p:sp>
      <p:sp>
        <p:nvSpPr>
          <p:cNvPr id="128" name="Google Shape;128;p8"/>
          <p:cNvSpPr/>
          <p:nvPr/>
        </p:nvSpPr>
        <p:spPr>
          <a:xfrm>
            <a:off x="6654787" y="3851920"/>
            <a:ext cx="4978425" cy="5749292"/>
          </a:xfrm>
          <a:prstGeom prst="rect">
            <a:avLst/>
          </a:prstGeom>
          <a:solidFill>
            <a:srgbClr val="F7F1E6"/>
          </a:solidFill>
          <a:ln w="15875" cap="flat" cmpd="sng">
            <a:solidFill>
              <a:srgbClr val="DCCFBB"/>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8"/>
          <p:cNvSpPr/>
          <p:nvPr/>
        </p:nvSpPr>
        <p:spPr>
          <a:xfrm>
            <a:off x="6918275" y="4056509"/>
            <a:ext cx="4584993" cy="5290691"/>
          </a:xfrm>
          <a:prstGeom prst="rect">
            <a:avLst/>
          </a:prstGeom>
          <a:noFill/>
          <a:ln>
            <a:noFill/>
          </a:ln>
        </p:spPr>
        <p:txBody>
          <a:bodyPr spcFirstLastPara="1" wrap="square" lIns="25400" tIns="25400" rIns="25400" bIns="25400" anchor="t" anchorCtr="0">
            <a:noAutofit/>
          </a:bodyPr>
          <a:lstStyle/>
          <a:p>
            <a:pPr marL="342900" indent="-342900">
              <a:buFont typeface="Arial" panose="020B0604020202020204" pitchFamily="34" charset="0"/>
              <a:buChar char="•"/>
            </a:pPr>
            <a:r>
              <a:rPr lang="en-US" sz="1800" b="1" dirty="0">
                <a:latin typeface="Poppins" panose="00000500000000000000" pitchFamily="2" charset="0"/>
                <a:cs typeface="Poppins" panose="00000500000000000000" pitchFamily="2" charset="0"/>
              </a:rPr>
              <a:t>Users are exposed to SMS and QR-code scams</a:t>
            </a:r>
          </a:p>
          <a:p>
            <a:pPr marL="342900" indent="-342900">
              <a:buFont typeface="Arial" panose="020B0604020202020204" pitchFamily="34" charset="0"/>
              <a:buChar char="•"/>
            </a:pPr>
            <a:endParaRPr lang="en-US" sz="1800" b="1" dirty="0">
              <a:latin typeface="Poppins" panose="00000500000000000000" pitchFamily="2" charset="0"/>
              <a:cs typeface="Poppins" panose="00000500000000000000" pitchFamily="2" charset="0"/>
            </a:endParaRPr>
          </a:p>
          <a:p>
            <a:pPr marL="342900" indent="-342900">
              <a:buFont typeface="Arial" panose="020B0604020202020204" pitchFamily="34" charset="0"/>
              <a:buChar char="•"/>
            </a:pPr>
            <a:r>
              <a:rPr lang="en-US" sz="1800" b="1" dirty="0">
                <a:latin typeface="Poppins" panose="00000500000000000000" pitchFamily="2" charset="0"/>
                <a:cs typeface="Poppins" panose="00000500000000000000" pitchFamily="2" charset="0"/>
              </a:rPr>
              <a:t>Evidence:</a:t>
            </a:r>
            <a:br>
              <a:rPr lang="en-US" sz="1800" dirty="0">
                <a:latin typeface="Poppins" panose="00000500000000000000" pitchFamily="2" charset="0"/>
                <a:cs typeface="Poppins" panose="00000500000000000000" pitchFamily="2" charset="0"/>
              </a:rPr>
            </a:br>
            <a:r>
              <a:rPr lang="en-US" sz="1800" dirty="0">
                <a:latin typeface="Poppins" panose="00000500000000000000" pitchFamily="2" charset="0"/>
                <a:cs typeface="Poppins" panose="00000500000000000000" pitchFamily="2" charset="0"/>
              </a:rPr>
              <a:t>The interviewed 50+ government employees reported encountering scam SMS messages and QR-code scams.</a:t>
            </a:r>
          </a:p>
          <a:p>
            <a:pPr marL="0" marR="0" lvl="0" indent="0" algn="l" rtl="0">
              <a:lnSpc>
                <a:spcPct val="93767"/>
              </a:lnSpc>
              <a:spcBef>
                <a:spcPts val="0"/>
              </a:spcBef>
              <a:spcAft>
                <a:spcPts val="0"/>
              </a:spcAft>
              <a:buClr>
                <a:srgbClr val="C9BCA8"/>
              </a:buClr>
              <a:buSzPts val="1800"/>
              <a:buFont typeface="Poppins"/>
              <a:buNone/>
            </a:pPr>
            <a:endParaRPr sz="1800" b="0" i="0" u="none" strike="noStrike" cap="none" dirty="0">
              <a:solidFill>
                <a:schemeClr val="dk1"/>
              </a:solidFill>
              <a:latin typeface="Poppins" panose="00000500000000000000" pitchFamily="2" charset="0"/>
              <a:ea typeface="Calibri"/>
              <a:cs typeface="Poppins" panose="00000500000000000000" pitchFamily="2" charset="0"/>
              <a:sym typeface="Calibri"/>
            </a:endParaRPr>
          </a:p>
        </p:txBody>
      </p:sp>
      <p:sp>
        <p:nvSpPr>
          <p:cNvPr id="131" name="Google Shape;131;p8"/>
          <p:cNvSpPr/>
          <p:nvPr/>
        </p:nvSpPr>
        <p:spPr>
          <a:xfrm>
            <a:off x="12166575" y="3851920"/>
            <a:ext cx="4978425" cy="5749292"/>
          </a:xfrm>
          <a:prstGeom prst="rect">
            <a:avLst/>
          </a:prstGeom>
          <a:solidFill>
            <a:srgbClr val="F7F1E6"/>
          </a:solidFill>
          <a:ln w="15875" cap="flat" cmpd="sng">
            <a:solidFill>
              <a:srgbClr val="DCCFBB"/>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8"/>
          <p:cNvSpPr/>
          <p:nvPr/>
        </p:nvSpPr>
        <p:spPr>
          <a:xfrm>
            <a:off x="12430062" y="4039575"/>
            <a:ext cx="4584993" cy="5307625"/>
          </a:xfrm>
          <a:prstGeom prst="rect">
            <a:avLst/>
          </a:prstGeom>
          <a:noFill/>
          <a:ln>
            <a:noFill/>
          </a:ln>
        </p:spPr>
        <p:txBody>
          <a:bodyPr spcFirstLastPara="1" wrap="square" lIns="25400" tIns="25400" rIns="25400" bIns="25400" anchor="t" anchorCtr="0">
            <a:noAutofit/>
          </a:bodyPr>
          <a:lstStyle/>
          <a:p>
            <a:pPr marL="342900" indent="-342900">
              <a:buFont typeface="Arial" panose="020B0604020202020204" pitchFamily="34" charset="0"/>
              <a:buChar char="•"/>
            </a:pPr>
            <a:r>
              <a:rPr lang="en-US" sz="1800" b="1" dirty="0">
                <a:latin typeface="Poppins" panose="00000500000000000000" pitchFamily="2" charset="0"/>
                <a:cs typeface="Poppins" panose="00000500000000000000" pitchFamily="2" charset="0"/>
              </a:rPr>
              <a:t>Users need understandable explanations, not just scam alerts</a:t>
            </a:r>
          </a:p>
          <a:p>
            <a:endParaRPr lang="en-US" sz="1800" b="1" dirty="0">
              <a:latin typeface="Poppins" panose="00000500000000000000" pitchFamily="2" charset="0"/>
              <a:cs typeface="Poppins" panose="00000500000000000000" pitchFamily="2" charset="0"/>
            </a:endParaRPr>
          </a:p>
          <a:p>
            <a:pPr marL="342900" indent="-342900">
              <a:buFont typeface="Arial" panose="020B0604020202020204" pitchFamily="34" charset="0"/>
              <a:buChar char="•"/>
            </a:pPr>
            <a:r>
              <a:rPr lang="en-US" sz="1800" b="1" dirty="0">
                <a:latin typeface="Poppins" panose="00000500000000000000" pitchFamily="2" charset="0"/>
                <a:cs typeface="Poppins" panose="00000500000000000000" pitchFamily="2" charset="0"/>
              </a:rPr>
              <a:t>Evidence:</a:t>
            </a:r>
            <a:br>
              <a:rPr lang="en-US" sz="1800" dirty="0">
                <a:latin typeface="Poppins" panose="00000500000000000000" pitchFamily="2" charset="0"/>
                <a:cs typeface="Poppins" panose="00000500000000000000" pitchFamily="2" charset="0"/>
              </a:rPr>
            </a:br>
            <a:r>
              <a:rPr lang="en-US" sz="1800" dirty="0">
                <a:latin typeface="Poppins" panose="00000500000000000000" pitchFamily="2" charset="0"/>
                <a:cs typeface="Poppins" panose="00000500000000000000" pitchFamily="2" charset="0"/>
              </a:rPr>
              <a:t>Respondents preferred a detailed explanation of why something is suspicious.</a:t>
            </a:r>
          </a:p>
          <a:p>
            <a:r>
              <a:rPr lang="en-US" sz="1800" dirty="0">
                <a:latin typeface="Poppins" panose="00000500000000000000" pitchFamily="2" charset="0"/>
                <a:cs typeface="Poppins" panose="00000500000000000000" pitchFamily="2" charset="0"/>
              </a:rPr>
              <a:t> </a:t>
            </a:r>
          </a:p>
          <a:p>
            <a:pPr marL="342900" indent="-342900">
              <a:buFont typeface="Arial" panose="020B0604020202020204" pitchFamily="34" charset="0"/>
              <a:buChar char="•"/>
            </a:pPr>
            <a:r>
              <a:rPr lang="en-US" sz="1800" dirty="0">
                <a:latin typeface="Poppins" panose="00000500000000000000" pitchFamily="2" charset="0"/>
                <a:cs typeface="Poppins" panose="00000500000000000000" pitchFamily="2" charset="0"/>
              </a:rPr>
              <a:t>They also indicated that existing tools can sometimes create false positives, such as potentially flagging genuine courier/OTP communications.</a:t>
            </a:r>
          </a:p>
          <a:p>
            <a:pPr marL="0" marR="0" lvl="0" indent="0" algn="l" rtl="0">
              <a:lnSpc>
                <a:spcPct val="93767"/>
              </a:lnSpc>
              <a:spcBef>
                <a:spcPts val="0"/>
              </a:spcBef>
              <a:spcAft>
                <a:spcPts val="0"/>
              </a:spcAft>
              <a:buClr>
                <a:srgbClr val="C9BCA8"/>
              </a:buClr>
              <a:buSzPts val="1800"/>
              <a:buFont typeface="Poppins"/>
              <a:buNone/>
            </a:pPr>
            <a:endParaRPr lang="en-US" sz="1800" b="0" i="0" u="none" strike="noStrike" cap="none" dirty="0">
              <a:solidFill>
                <a:schemeClr val="dk1"/>
              </a:solidFill>
              <a:latin typeface="Poppins" panose="00000500000000000000" pitchFamily="2" charset="0"/>
              <a:ea typeface="Calibri"/>
              <a:cs typeface="Poppins" panose="00000500000000000000" pitchFamily="2" charset="0"/>
              <a:sym typeface="Calibri"/>
            </a:endParaRPr>
          </a:p>
        </p:txBody>
      </p:sp>
      <p:sp>
        <p:nvSpPr>
          <p:cNvPr id="25" name="TextBox 24">
            <a:extLst>
              <a:ext uri="{FF2B5EF4-FFF2-40B4-BE49-F238E27FC236}">
                <a16:creationId xmlns:a16="http://schemas.microsoft.com/office/drawing/2014/main" id="{11FB8B52-2E4C-4293-B205-10FD493ABBCC}"/>
              </a:ext>
            </a:extLst>
          </p:cNvPr>
          <p:cNvSpPr txBox="1"/>
          <p:nvPr/>
        </p:nvSpPr>
        <p:spPr>
          <a:xfrm>
            <a:off x="1143000" y="3846740"/>
            <a:ext cx="4978424" cy="2862322"/>
          </a:xfrm>
          <a:prstGeom prst="rect">
            <a:avLst/>
          </a:prstGeom>
          <a:noFill/>
        </p:spPr>
        <p:txBody>
          <a:bodyPr wrap="square">
            <a:spAutoFit/>
          </a:bodyPr>
          <a:lstStyle/>
          <a:p>
            <a:pPr marR="0" lvl="0" algn="l" defTabSz="914400" rtl="0" eaLnBrk="0" fontAlgn="base" latinLnBrk="0" hangingPunct="0">
              <a:lnSpc>
                <a:spcPct val="100000"/>
              </a:lnSpc>
              <a:spcBef>
                <a:spcPct val="0"/>
              </a:spcBef>
              <a:spcAft>
                <a:spcPct val="0"/>
              </a:spcAft>
              <a:buClrTx/>
              <a:buSzTx/>
              <a:tabLst/>
            </a:pPr>
            <a:endParaRPr kumimoji="0" lang="en-US" altLang="en-US" sz="1800" b="1" i="0" u="none" strike="noStrike" cap="none" normalizeH="0" baseline="0" dirty="0">
              <a:ln>
                <a:noFill/>
              </a:ln>
              <a:solidFill>
                <a:schemeClr val="tx1"/>
              </a:solidFill>
              <a:effectLst/>
              <a:latin typeface="Poppins" panose="00000500000000000000" pitchFamily="2" charset="0"/>
              <a:cs typeface="Poppins" panose="00000500000000000000" pitchFamily="2"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Poppins" panose="00000500000000000000" pitchFamily="2" charset="0"/>
                <a:cs typeface="Poppins" panose="00000500000000000000" pitchFamily="2" charset="0"/>
              </a:rPr>
              <a:t>Difficulty identifying genuine messages from scams</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1" i="0" u="none" strike="noStrike" cap="none" normalizeH="0" baseline="0" dirty="0">
              <a:ln>
                <a:noFill/>
              </a:ln>
              <a:solidFill>
                <a:schemeClr val="tx1"/>
              </a:solidFill>
              <a:effectLst/>
              <a:latin typeface="Poppins" panose="00000500000000000000" pitchFamily="2" charset="0"/>
              <a:cs typeface="Poppins" panose="00000500000000000000" pitchFamily="2"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Poppins" panose="00000500000000000000" pitchFamily="2" charset="0"/>
                <a:cs typeface="Poppins" panose="00000500000000000000" pitchFamily="2" charset="0"/>
              </a:rPr>
              <a:t>Evidence:</a:t>
            </a:r>
            <a:br>
              <a:rPr kumimoji="0" lang="en-US" altLang="en-US" sz="18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br>
            <a:r>
              <a:rPr kumimoji="0" lang="en-US" altLang="en-US" sz="18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In face-to-face interviews, identifying whether a message is genuine or fraudulent was identified as a key difficulty by the interviewed users.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Poppins" panose="00000500000000000000" pitchFamily="2" charset="0"/>
              <a:cs typeface="Poppins" panose="00000500000000000000" pitchFamily="2"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BF7F0"/>
        </a:solidFill>
        <a:effectLst/>
      </p:bgPr>
    </p:bg>
    <p:spTree>
      <p:nvGrpSpPr>
        <p:cNvPr id="1" name="Shape 138"/>
        <p:cNvGrpSpPr/>
        <p:nvPr/>
      </p:nvGrpSpPr>
      <p:grpSpPr>
        <a:xfrm>
          <a:off x="0" y="0"/>
          <a:ext cx="0" cy="0"/>
          <a:chOff x="0" y="0"/>
          <a:chExt cx="0" cy="0"/>
        </a:xfrm>
      </p:grpSpPr>
      <p:sp>
        <p:nvSpPr>
          <p:cNvPr id="139" name="Google Shape;139;p9"/>
          <p:cNvSpPr/>
          <p:nvPr/>
        </p:nvSpPr>
        <p:spPr>
          <a:xfrm>
            <a:off x="1143000" y="742900"/>
            <a:ext cx="1913167" cy="379412"/>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F0592B"/>
              </a:buClr>
              <a:buSzPts val="1800"/>
              <a:buFont typeface="Poppins"/>
              <a:buNone/>
            </a:pPr>
            <a:r>
              <a:rPr lang="en-US" sz="1800" b="1" i="0" u="none" strike="noStrike" cap="none">
                <a:solidFill>
                  <a:srgbClr val="F0592B"/>
                </a:solidFill>
                <a:latin typeface="Poppins"/>
                <a:ea typeface="Poppins"/>
                <a:cs typeface="Poppins"/>
                <a:sym typeface="Poppins"/>
              </a:rPr>
              <a:t>SECTION 06</a:t>
            </a:r>
            <a:endParaRPr sz="1800" b="0" i="0" u="none" strike="noStrike" cap="none">
              <a:solidFill>
                <a:schemeClr val="dk1"/>
              </a:solidFill>
              <a:latin typeface="Calibri"/>
              <a:ea typeface="Calibri"/>
              <a:cs typeface="Calibri"/>
              <a:sym typeface="Calibri"/>
            </a:endParaRPr>
          </a:p>
        </p:txBody>
      </p:sp>
      <p:pic>
        <p:nvPicPr>
          <p:cNvPr id="140" name="Google Shape;140;p9" descr="preencoded.png"/>
          <p:cNvPicPr preferRelativeResize="0"/>
          <p:nvPr/>
        </p:nvPicPr>
        <p:blipFill rotWithShape="1">
          <a:blip r:embed="rId3">
            <a:alphaModFix/>
          </a:blip>
          <a:srcRect/>
          <a:stretch/>
        </p:blipFill>
        <p:spPr>
          <a:xfrm>
            <a:off x="14954250" y="742900"/>
            <a:ext cx="2190750" cy="637666"/>
          </a:xfrm>
          <a:prstGeom prst="rect">
            <a:avLst/>
          </a:prstGeom>
          <a:noFill/>
          <a:ln>
            <a:noFill/>
          </a:ln>
        </p:spPr>
      </p:pic>
      <p:sp>
        <p:nvSpPr>
          <p:cNvPr id="141" name="Google Shape;141;p9"/>
          <p:cNvSpPr/>
          <p:nvPr/>
        </p:nvSpPr>
        <p:spPr>
          <a:xfrm>
            <a:off x="1143000" y="1628180"/>
            <a:ext cx="17602200" cy="757002"/>
          </a:xfrm>
          <a:prstGeom prst="rect">
            <a:avLst/>
          </a:prstGeom>
          <a:noFill/>
          <a:ln>
            <a:noFill/>
          </a:ln>
        </p:spPr>
        <p:txBody>
          <a:bodyPr spcFirstLastPara="1" wrap="square" lIns="25400" tIns="25400" rIns="25400" bIns="25400" anchor="t" anchorCtr="0">
            <a:noAutofit/>
          </a:bodyPr>
          <a:lstStyle/>
          <a:p>
            <a:pPr marL="0" marR="0" lvl="0" indent="0" algn="l" rtl="0">
              <a:lnSpc>
                <a:spcPct val="68102"/>
              </a:lnSpc>
              <a:spcBef>
                <a:spcPts val="0"/>
              </a:spcBef>
              <a:spcAft>
                <a:spcPts val="0"/>
              </a:spcAft>
              <a:buClr>
                <a:srgbClr val="2A1E16"/>
              </a:buClr>
              <a:buSzPts val="5550"/>
              <a:buFont typeface="Poppins"/>
              <a:buNone/>
            </a:pPr>
            <a:r>
              <a:rPr lang="en-US" sz="5550" b="1" i="0" u="none" strike="noStrike" cap="none">
                <a:solidFill>
                  <a:srgbClr val="2A1E16"/>
                </a:solidFill>
                <a:latin typeface="Poppins"/>
                <a:ea typeface="Poppins"/>
                <a:cs typeface="Poppins"/>
                <a:sym typeface="Poppins"/>
              </a:rPr>
              <a:t>Competitive analysis</a:t>
            </a:r>
            <a:endParaRPr sz="5550" b="0" i="0" u="none" strike="noStrike" cap="none">
              <a:solidFill>
                <a:schemeClr val="dk1"/>
              </a:solidFill>
              <a:latin typeface="Calibri"/>
              <a:ea typeface="Calibri"/>
              <a:cs typeface="Calibri"/>
              <a:sym typeface="Calibri"/>
            </a:endParaRPr>
          </a:p>
        </p:txBody>
      </p:sp>
      <p:sp>
        <p:nvSpPr>
          <p:cNvPr id="142" name="Google Shape;142;p9"/>
          <p:cNvSpPr/>
          <p:nvPr/>
        </p:nvSpPr>
        <p:spPr>
          <a:xfrm>
            <a:off x="1143000" y="2461369"/>
            <a:ext cx="17602200" cy="442913"/>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7A6A5B"/>
              </a:buClr>
              <a:buSzPts val="2100"/>
              <a:buFont typeface="Poppins"/>
              <a:buNone/>
            </a:pPr>
            <a:r>
              <a:rPr lang="en-US" sz="2100" b="0" i="0" u="none" strike="noStrike" cap="none">
                <a:solidFill>
                  <a:srgbClr val="7A6A5B"/>
                </a:solidFill>
                <a:latin typeface="Poppins"/>
                <a:ea typeface="Poppins"/>
                <a:cs typeface="Poppins"/>
                <a:sym typeface="Poppins"/>
              </a:rPr>
              <a:t>Who already exists, and where the gap is.</a:t>
            </a:r>
            <a:endParaRPr sz="2100" b="0" i="0" u="none" strike="noStrike" cap="none">
              <a:solidFill>
                <a:schemeClr val="dk1"/>
              </a:solidFill>
              <a:latin typeface="Calibri"/>
              <a:ea typeface="Calibri"/>
              <a:cs typeface="Calibri"/>
              <a:sym typeface="Calibri"/>
            </a:endParaRPr>
          </a:p>
        </p:txBody>
      </p:sp>
      <p:sp>
        <p:nvSpPr>
          <p:cNvPr id="143" name="Google Shape;143;p9"/>
          <p:cNvSpPr/>
          <p:nvPr/>
        </p:nvSpPr>
        <p:spPr>
          <a:xfrm>
            <a:off x="1143000" y="3113794"/>
            <a:ext cx="16002000" cy="15875"/>
          </a:xfrm>
          <a:prstGeom prst="rect">
            <a:avLst/>
          </a:prstGeom>
          <a:solidFill>
            <a:srgbClr val="E5DC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9"/>
          <p:cNvSpPr/>
          <p:nvPr/>
        </p:nvSpPr>
        <p:spPr>
          <a:xfrm>
            <a:off x="1143000" y="3890057"/>
            <a:ext cx="4000500" cy="15875"/>
          </a:xfrm>
          <a:prstGeom prst="rect">
            <a:avLst/>
          </a:prstGeom>
          <a:solidFill>
            <a:srgbClr val="2A1E1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9"/>
          <p:cNvSpPr/>
          <p:nvPr/>
        </p:nvSpPr>
        <p:spPr>
          <a:xfrm>
            <a:off x="1333500" y="3453494"/>
            <a:ext cx="3739515" cy="379412"/>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A3937F"/>
              </a:buClr>
              <a:buSzPts val="1800"/>
              <a:buFont typeface="Poppins"/>
              <a:buNone/>
            </a:pPr>
            <a:r>
              <a:rPr lang="en-US" sz="1800" b="1" i="0" u="none" strike="noStrike" cap="none">
                <a:solidFill>
                  <a:srgbClr val="A3937F"/>
                </a:solidFill>
                <a:latin typeface="Poppins"/>
                <a:ea typeface="Poppins"/>
                <a:cs typeface="Poppins"/>
                <a:sym typeface="Poppins"/>
              </a:rPr>
              <a:t>EXISTING SOLUTION</a:t>
            </a:r>
            <a:endParaRPr sz="1800" b="0" i="0" u="none" strike="noStrike" cap="none">
              <a:solidFill>
                <a:schemeClr val="dk1"/>
              </a:solidFill>
              <a:latin typeface="Calibri"/>
              <a:ea typeface="Calibri"/>
              <a:cs typeface="Calibri"/>
              <a:sym typeface="Calibri"/>
            </a:endParaRPr>
          </a:p>
        </p:txBody>
      </p:sp>
      <p:sp>
        <p:nvSpPr>
          <p:cNvPr id="146" name="Google Shape;146;p9"/>
          <p:cNvSpPr/>
          <p:nvPr/>
        </p:nvSpPr>
        <p:spPr>
          <a:xfrm>
            <a:off x="5143500" y="3890057"/>
            <a:ext cx="4000500" cy="15875"/>
          </a:xfrm>
          <a:prstGeom prst="rect">
            <a:avLst/>
          </a:prstGeom>
          <a:solidFill>
            <a:srgbClr val="2A1E1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9"/>
          <p:cNvSpPr/>
          <p:nvPr/>
        </p:nvSpPr>
        <p:spPr>
          <a:xfrm>
            <a:off x="5334000" y="3453494"/>
            <a:ext cx="3739515" cy="379412"/>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A3937F"/>
              </a:buClr>
              <a:buSzPts val="1800"/>
              <a:buFont typeface="Poppins"/>
              <a:buNone/>
            </a:pPr>
            <a:r>
              <a:rPr lang="en-US" sz="1800" b="1" i="0" u="none" strike="noStrike" cap="none">
                <a:solidFill>
                  <a:srgbClr val="A3937F"/>
                </a:solidFill>
                <a:latin typeface="Poppins"/>
                <a:ea typeface="Poppins"/>
                <a:cs typeface="Poppins"/>
                <a:sym typeface="Poppins"/>
              </a:rPr>
              <a:t>STRENGTH</a:t>
            </a:r>
            <a:endParaRPr sz="1800" b="0" i="0" u="none" strike="noStrike" cap="none">
              <a:solidFill>
                <a:schemeClr val="dk1"/>
              </a:solidFill>
              <a:latin typeface="Calibri"/>
              <a:ea typeface="Calibri"/>
              <a:cs typeface="Calibri"/>
              <a:sym typeface="Calibri"/>
            </a:endParaRPr>
          </a:p>
        </p:txBody>
      </p:sp>
      <p:sp>
        <p:nvSpPr>
          <p:cNvPr id="148" name="Google Shape;148;p9"/>
          <p:cNvSpPr/>
          <p:nvPr/>
        </p:nvSpPr>
        <p:spPr>
          <a:xfrm>
            <a:off x="9144000" y="3890057"/>
            <a:ext cx="4000500" cy="15875"/>
          </a:xfrm>
          <a:prstGeom prst="rect">
            <a:avLst/>
          </a:prstGeom>
          <a:solidFill>
            <a:srgbClr val="2A1E1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9"/>
          <p:cNvSpPr/>
          <p:nvPr/>
        </p:nvSpPr>
        <p:spPr>
          <a:xfrm>
            <a:off x="9334500" y="3453494"/>
            <a:ext cx="3739515" cy="379412"/>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A3937F"/>
              </a:buClr>
              <a:buSzPts val="1800"/>
              <a:buFont typeface="Poppins"/>
              <a:buNone/>
            </a:pPr>
            <a:r>
              <a:rPr lang="en-US" sz="1800" b="1" i="0" u="none" strike="noStrike" cap="none">
                <a:solidFill>
                  <a:srgbClr val="A3937F"/>
                </a:solidFill>
                <a:latin typeface="Poppins"/>
                <a:ea typeface="Poppins"/>
                <a:cs typeface="Poppins"/>
                <a:sym typeface="Poppins"/>
              </a:rPr>
              <a:t>WEAKNESS</a:t>
            </a:r>
            <a:endParaRPr sz="1800" b="0" i="0" u="none" strike="noStrike" cap="none">
              <a:solidFill>
                <a:schemeClr val="dk1"/>
              </a:solidFill>
              <a:latin typeface="Calibri"/>
              <a:ea typeface="Calibri"/>
              <a:cs typeface="Calibri"/>
              <a:sym typeface="Calibri"/>
            </a:endParaRPr>
          </a:p>
        </p:txBody>
      </p:sp>
      <p:sp>
        <p:nvSpPr>
          <p:cNvPr id="150" name="Google Shape;150;p9"/>
          <p:cNvSpPr/>
          <p:nvPr/>
        </p:nvSpPr>
        <p:spPr>
          <a:xfrm>
            <a:off x="13144500" y="3890057"/>
            <a:ext cx="4000500" cy="15875"/>
          </a:xfrm>
          <a:prstGeom prst="rect">
            <a:avLst/>
          </a:prstGeom>
          <a:solidFill>
            <a:srgbClr val="2A1E1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9"/>
          <p:cNvSpPr/>
          <p:nvPr/>
        </p:nvSpPr>
        <p:spPr>
          <a:xfrm>
            <a:off x="13335000" y="3453494"/>
            <a:ext cx="3739515" cy="379412"/>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A3937F"/>
              </a:buClr>
              <a:buSzPts val="1800"/>
              <a:buFont typeface="Poppins"/>
              <a:buNone/>
            </a:pPr>
            <a:r>
              <a:rPr lang="en-US" sz="1800" b="1" i="0" u="none" strike="noStrike" cap="none">
                <a:solidFill>
                  <a:srgbClr val="A3937F"/>
                </a:solidFill>
                <a:latin typeface="Poppins"/>
                <a:ea typeface="Poppins"/>
                <a:cs typeface="Poppins"/>
                <a:sym typeface="Poppins"/>
              </a:rPr>
              <a:t>OPPORTUNITY</a:t>
            </a:r>
            <a:endParaRPr sz="1800" b="0" i="0" u="none" strike="noStrike" cap="none">
              <a:solidFill>
                <a:schemeClr val="dk1"/>
              </a:solidFill>
              <a:latin typeface="Calibri"/>
              <a:ea typeface="Calibri"/>
              <a:cs typeface="Calibri"/>
              <a:sym typeface="Calibri"/>
            </a:endParaRPr>
          </a:p>
        </p:txBody>
      </p:sp>
      <p:sp>
        <p:nvSpPr>
          <p:cNvPr id="152" name="Google Shape;152;p9"/>
          <p:cNvSpPr/>
          <p:nvPr/>
        </p:nvSpPr>
        <p:spPr>
          <a:xfrm>
            <a:off x="1143000" y="5796421"/>
            <a:ext cx="4000500" cy="9525"/>
          </a:xfrm>
          <a:prstGeom prst="rect">
            <a:avLst/>
          </a:prstGeom>
          <a:solidFill>
            <a:srgbClr val="DCCF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9"/>
          <p:cNvSpPr/>
          <p:nvPr/>
        </p:nvSpPr>
        <p:spPr>
          <a:xfrm>
            <a:off x="1333500" y="4058332"/>
            <a:ext cx="3739515" cy="1623789"/>
          </a:xfrm>
          <a:prstGeom prst="rect">
            <a:avLst/>
          </a:prstGeom>
          <a:noFill/>
          <a:ln>
            <a:noFill/>
          </a:ln>
        </p:spPr>
        <p:txBody>
          <a:bodyPr spcFirstLastPara="1" wrap="square" lIns="25400" tIns="25400" rIns="25400" bIns="25400" anchor="ctr" anchorCtr="0">
            <a:noAutofit/>
          </a:bodyPr>
          <a:lstStyle/>
          <a:p>
            <a:pPr marL="0" marR="0" lvl="0" indent="0" rtl="0">
              <a:lnSpc>
                <a:spcPct val="90419"/>
              </a:lnSpc>
              <a:spcBef>
                <a:spcPts val="0"/>
              </a:spcBef>
              <a:spcAft>
                <a:spcPts val="0"/>
              </a:spcAft>
              <a:buClr>
                <a:srgbClr val="A3937F"/>
              </a:buClr>
              <a:buSzPts val="1800"/>
              <a:buFont typeface="Poppins"/>
              <a:buNone/>
            </a:pPr>
            <a:r>
              <a:rPr lang="en-IN" sz="1800" dirty="0">
                <a:latin typeface="Poppins" panose="00000500000000000000" pitchFamily="2" charset="0"/>
                <a:cs typeface="Poppins" panose="00000500000000000000" pitchFamily="2" charset="0"/>
              </a:rPr>
              <a:t>Truecaller</a:t>
            </a:r>
            <a:endParaRPr sz="1800" b="0" i="0" u="none" strike="noStrike" cap="none" dirty="0">
              <a:solidFill>
                <a:schemeClr val="dk1"/>
              </a:solidFill>
              <a:latin typeface="Poppins" panose="00000500000000000000" pitchFamily="2" charset="0"/>
              <a:ea typeface="Calibri"/>
              <a:cs typeface="Poppins" panose="00000500000000000000" pitchFamily="2" charset="0"/>
              <a:sym typeface="Calibri"/>
            </a:endParaRPr>
          </a:p>
        </p:txBody>
      </p:sp>
      <p:sp>
        <p:nvSpPr>
          <p:cNvPr id="154" name="Google Shape;154;p9"/>
          <p:cNvSpPr/>
          <p:nvPr/>
        </p:nvSpPr>
        <p:spPr>
          <a:xfrm>
            <a:off x="5143500" y="5796421"/>
            <a:ext cx="4000500" cy="9525"/>
          </a:xfrm>
          <a:prstGeom prst="rect">
            <a:avLst/>
          </a:prstGeom>
          <a:solidFill>
            <a:srgbClr val="DCCF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9"/>
          <p:cNvSpPr/>
          <p:nvPr/>
        </p:nvSpPr>
        <p:spPr>
          <a:xfrm>
            <a:off x="5334000" y="4058332"/>
            <a:ext cx="3739515" cy="1623789"/>
          </a:xfrm>
          <a:prstGeom prst="rect">
            <a:avLst/>
          </a:prstGeom>
          <a:noFill/>
          <a:ln>
            <a:noFill/>
          </a:ln>
        </p:spPr>
        <p:txBody>
          <a:bodyPr spcFirstLastPara="1" wrap="square" lIns="25400" tIns="25400" rIns="25400" bIns="25400" anchor="ctr" anchorCtr="0">
            <a:noAutofit/>
          </a:bodyPr>
          <a:lstStyle/>
          <a:p>
            <a:pPr marL="0" marR="0" lvl="0" indent="0" algn="l" rtl="0">
              <a:lnSpc>
                <a:spcPct val="90419"/>
              </a:lnSpc>
              <a:spcBef>
                <a:spcPts val="0"/>
              </a:spcBef>
              <a:spcAft>
                <a:spcPts val="0"/>
              </a:spcAft>
              <a:buClr>
                <a:srgbClr val="A3937F"/>
              </a:buClr>
              <a:buSzPts val="1800"/>
              <a:buFont typeface="Poppins"/>
              <a:buNone/>
            </a:pPr>
            <a:r>
              <a:rPr lang="en-IN" sz="1800" dirty="0">
                <a:latin typeface="Poppins" panose="00000500000000000000" pitchFamily="2" charset="0"/>
                <a:cs typeface="Poppins" panose="00000500000000000000" pitchFamily="2" charset="0"/>
              </a:rPr>
              <a:t>Helps identify suspicious callers/communications</a:t>
            </a:r>
            <a:endParaRPr sz="1800" b="0" i="0" u="none" strike="noStrike" cap="none" dirty="0">
              <a:solidFill>
                <a:schemeClr val="dk1"/>
              </a:solidFill>
              <a:latin typeface="Poppins" panose="00000500000000000000" pitchFamily="2" charset="0"/>
              <a:ea typeface="Calibri"/>
              <a:cs typeface="Poppins" panose="00000500000000000000" pitchFamily="2" charset="0"/>
              <a:sym typeface="Calibri"/>
            </a:endParaRPr>
          </a:p>
        </p:txBody>
      </p:sp>
      <p:sp>
        <p:nvSpPr>
          <p:cNvPr id="156" name="Google Shape;156;p9"/>
          <p:cNvSpPr/>
          <p:nvPr/>
        </p:nvSpPr>
        <p:spPr>
          <a:xfrm>
            <a:off x="9144000" y="5796421"/>
            <a:ext cx="4000500" cy="9525"/>
          </a:xfrm>
          <a:prstGeom prst="rect">
            <a:avLst/>
          </a:prstGeom>
          <a:solidFill>
            <a:srgbClr val="DCCF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9"/>
          <p:cNvSpPr/>
          <p:nvPr/>
        </p:nvSpPr>
        <p:spPr>
          <a:xfrm>
            <a:off x="9334500" y="4058332"/>
            <a:ext cx="3739515" cy="1623789"/>
          </a:xfrm>
          <a:prstGeom prst="rect">
            <a:avLst/>
          </a:prstGeom>
          <a:noFill/>
          <a:ln>
            <a:noFill/>
          </a:ln>
        </p:spPr>
        <p:txBody>
          <a:bodyPr spcFirstLastPara="1" wrap="square" lIns="25400" tIns="25400" rIns="25400" bIns="25400" anchor="ctr" anchorCtr="0">
            <a:noAutofit/>
          </a:bodyPr>
          <a:lstStyle/>
          <a:p>
            <a:pPr marL="0" marR="0" lvl="0" indent="0" algn="l" rtl="0">
              <a:lnSpc>
                <a:spcPct val="90419"/>
              </a:lnSpc>
              <a:spcBef>
                <a:spcPts val="0"/>
              </a:spcBef>
              <a:spcAft>
                <a:spcPts val="0"/>
              </a:spcAft>
              <a:buClr>
                <a:srgbClr val="A3937F"/>
              </a:buClr>
              <a:buSzPts val="1800"/>
              <a:buFont typeface="Poppins"/>
              <a:buNone/>
            </a:pPr>
            <a:r>
              <a:rPr lang="en-US" sz="1800" dirty="0">
                <a:latin typeface="Poppins" panose="00000500000000000000" pitchFamily="2" charset="0"/>
                <a:cs typeface="Poppins" panose="00000500000000000000" pitchFamily="2" charset="0"/>
              </a:rPr>
              <a:t>May not provide sufficient context for every threat and can sometimes create false positives, also most of the services are labelled as premium and may incur subscription cost.</a:t>
            </a:r>
            <a:endParaRPr sz="1800" b="0" i="0" u="none" strike="noStrike" cap="none" dirty="0">
              <a:solidFill>
                <a:schemeClr val="dk1"/>
              </a:solidFill>
              <a:latin typeface="Poppins" panose="00000500000000000000" pitchFamily="2" charset="0"/>
              <a:ea typeface="Calibri"/>
              <a:cs typeface="Poppins" panose="00000500000000000000" pitchFamily="2" charset="0"/>
              <a:sym typeface="Calibri"/>
            </a:endParaRPr>
          </a:p>
        </p:txBody>
      </p:sp>
      <p:sp>
        <p:nvSpPr>
          <p:cNvPr id="158" name="Google Shape;158;p9"/>
          <p:cNvSpPr/>
          <p:nvPr/>
        </p:nvSpPr>
        <p:spPr>
          <a:xfrm>
            <a:off x="13144500" y="5796421"/>
            <a:ext cx="4000500" cy="9525"/>
          </a:xfrm>
          <a:prstGeom prst="rect">
            <a:avLst/>
          </a:prstGeom>
          <a:solidFill>
            <a:srgbClr val="DCCF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9"/>
          <p:cNvSpPr/>
          <p:nvPr/>
        </p:nvSpPr>
        <p:spPr>
          <a:xfrm>
            <a:off x="13335000" y="4058332"/>
            <a:ext cx="3739515" cy="1623789"/>
          </a:xfrm>
          <a:prstGeom prst="rect">
            <a:avLst/>
          </a:prstGeom>
          <a:noFill/>
          <a:ln>
            <a:noFill/>
          </a:ln>
        </p:spPr>
        <p:txBody>
          <a:bodyPr spcFirstLastPara="1" wrap="square" lIns="25400" tIns="25400" rIns="25400" bIns="25400" anchor="ctr" anchorCtr="0">
            <a:noAutofit/>
          </a:bodyPr>
          <a:lstStyle/>
          <a:p>
            <a:pPr marL="0" marR="0" lvl="0" indent="0" algn="l" rtl="0">
              <a:lnSpc>
                <a:spcPct val="90419"/>
              </a:lnSpc>
              <a:spcBef>
                <a:spcPts val="0"/>
              </a:spcBef>
              <a:spcAft>
                <a:spcPts val="0"/>
              </a:spcAft>
              <a:buClr>
                <a:srgbClr val="A3937F"/>
              </a:buClr>
              <a:buSzPts val="1800"/>
              <a:buFont typeface="Poppins"/>
              <a:buNone/>
            </a:pPr>
            <a:r>
              <a:rPr lang="en-US" sz="1800" dirty="0">
                <a:latin typeface="Poppins" panose="00000500000000000000" pitchFamily="2" charset="0"/>
                <a:cs typeface="Poppins" panose="00000500000000000000" pitchFamily="2" charset="0"/>
              </a:rPr>
              <a:t>Provide broader content analysis with explanation and recommended action</a:t>
            </a:r>
            <a:endParaRPr sz="1800" b="0" i="0" u="none" strike="noStrike" cap="none" dirty="0">
              <a:solidFill>
                <a:schemeClr val="dk1"/>
              </a:solidFill>
              <a:latin typeface="Poppins" panose="00000500000000000000" pitchFamily="2" charset="0"/>
              <a:ea typeface="Calibri"/>
              <a:cs typeface="Poppins" panose="00000500000000000000" pitchFamily="2" charset="0"/>
              <a:sym typeface="Calibri"/>
            </a:endParaRPr>
          </a:p>
        </p:txBody>
      </p:sp>
      <p:sp>
        <p:nvSpPr>
          <p:cNvPr id="160" name="Google Shape;160;p9"/>
          <p:cNvSpPr/>
          <p:nvPr/>
        </p:nvSpPr>
        <p:spPr>
          <a:xfrm>
            <a:off x="1143000" y="5804358"/>
            <a:ext cx="4000500" cy="1898427"/>
          </a:xfrm>
          <a:prstGeom prst="rect">
            <a:avLst/>
          </a:prstGeom>
          <a:solidFill>
            <a:srgbClr val="F7F1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latin typeface="Poppins" panose="00000500000000000000" pitchFamily="2" charset="0"/>
              <a:cs typeface="Poppins" panose="00000500000000000000" pitchFamily="2" charset="0"/>
            </a:endParaRPr>
          </a:p>
        </p:txBody>
      </p:sp>
      <p:sp>
        <p:nvSpPr>
          <p:cNvPr id="161" name="Google Shape;161;p9"/>
          <p:cNvSpPr/>
          <p:nvPr/>
        </p:nvSpPr>
        <p:spPr>
          <a:xfrm>
            <a:off x="1143000" y="7694848"/>
            <a:ext cx="4000500" cy="9525"/>
          </a:xfrm>
          <a:prstGeom prst="rect">
            <a:avLst/>
          </a:prstGeom>
          <a:solidFill>
            <a:srgbClr val="DCCF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9"/>
          <p:cNvSpPr/>
          <p:nvPr/>
        </p:nvSpPr>
        <p:spPr>
          <a:xfrm>
            <a:off x="1333500" y="5956758"/>
            <a:ext cx="3739515" cy="1623789"/>
          </a:xfrm>
          <a:prstGeom prst="rect">
            <a:avLst/>
          </a:prstGeom>
          <a:noFill/>
          <a:ln>
            <a:noFill/>
          </a:ln>
        </p:spPr>
        <p:txBody>
          <a:bodyPr spcFirstLastPara="1" wrap="square" lIns="25400" tIns="25400" rIns="25400" bIns="25400" anchor="ctr" anchorCtr="0">
            <a:noAutofit/>
          </a:bodyPr>
          <a:lstStyle/>
          <a:p>
            <a:pPr marL="0" marR="0" lvl="0" indent="0" algn="l" rtl="0">
              <a:lnSpc>
                <a:spcPct val="90419"/>
              </a:lnSpc>
              <a:spcBef>
                <a:spcPts val="0"/>
              </a:spcBef>
              <a:spcAft>
                <a:spcPts val="0"/>
              </a:spcAft>
              <a:buClr>
                <a:srgbClr val="A3937F"/>
              </a:buClr>
              <a:buSzPts val="1800"/>
              <a:buFont typeface="Poppins"/>
              <a:buNone/>
            </a:pPr>
            <a:r>
              <a:rPr lang="en-IN" sz="1880" dirty="0">
                <a:latin typeface="Poppins" panose="00000500000000000000" pitchFamily="2" charset="0"/>
                <a:cs typeface="Poppins" panose="00000500000000000000" pitchFamily="2" charset="0"/>
              </a:rPr>
              <a:t>Google / Online Search</a:t>
            </a:r>
            <a:r>
              <a:rPr lang="en-US" sz="1800" b="0" i="0" u="none" strike="noStrike" cap="none" dirty="0">
                <a:solidFill>
                  <a:srgbClr val="A3937F"/>
                </a:solidFill>
                <a:latin typeface="Poppins"/>
                <a:ea typeface="Poppins"/>
                <a:cs typeface="Poppins"/>
                <a:sym typeface="Poppins"/>
              </a:rPr>
              <a:t>.</a:t>
            </a:r>
            <a:endParaRPr sz="1800" b="0" i="0" u="none" strike="noStrike" cap="none" dirty="0">
              <a:solidFill>
                <a:schemeClr val="dk1"/>
              </a:solidFill>
              <a:latin typeface="Calibri"/>
              <a:ea typeface="Calibri"/>
              <a:cs typeface="Calibri"/>
              <a:sym typeface="Calibri"/>
            </a:endParaRPr>
          </a:p>
        </p:txBody>
      </p:sp>
      <p:sp>
        <p:nvSpPr>
          <p:cNvPr id="163" name="Google Shape;163;p9"/>
          <p:cNvSpPr/>
          <p:nvPr/>
        </p:nvSpPr>
        <p:spPr>
          <a:xfrm>
            <a:off x="5143500" y="5804358"/>
            <a:ext cx="4000500" cy="1898427"/>
          </a:xfrm>
          <a:prstGeom prst="rect">
            <a:avLst/>
          </a:prstGeom>
          <a:solidFill>
            <a:srgbClr val="F7F1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9"/>
          <p:cNvSpPr/>
          <p:nvPr/>
        </p:nvSpPr>
        <p:spPr>
          <a:xfrm>
            <a:off x="5143500" y="7694848"/>
            <a:ext cx="4000500" cy="9525"/>
          </a:xfrm>
          <a:prstGeom prst="rect">
            <a:avLst/>
          </a:prstGeom>
          <a:solidFill>
            <a:srgbClr val="DCCF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9"/>
          <p:cNvSpPr/>
          <p:nvPr/>
        </p:nvSpPr>
        <p:spPr>
          <a:xfrm>
            <a:off x="5334000" y="5956758"/>
            <a:ext cx="3739515" cy="1623789"/>
          </a:xfrm>
          <a:prstGeom prst="rect">
            <a:avLst/>
          </a:prstGeom>
          <a:noFill/>
          <a:ln>
            <a:noFill/>
          </a:ln>
        </p:spPr>
        <p:txBody>
          <a:bodyPr spcFirstLastPara="1" wrap="square" lIns="25400" tIns="25400" rIns="25400" bIns="25400" anchor="ctr" anchorCtr="0">
            <a:noAutofit/>
          </a:bodyPr>
          <a:lstStyle/>
          <a:p>
            <a:pPr marL="0" marR="0" lvl="0" indent="0" algn="l" rtl="0">
              <a:lnSpc>
                <a:spcPct val="90419"/>
              </a:lnSpc>
              <a:spcBef>
                <a:spcPts val="0"/>
              </a:spcBef>
              <a:spcAft>
                <a:spcPts val="0"/>
              </a:spcAft>
              <a:buClr>
                <a:srgbClr val="A3937F"/>
              </a:buClr>
              <a:buSzPts val="1800"/>
              <a:buFont typeface="Poppins"/>
              <a:buNone/>
            </a:pPr>
            <a:r>
              <a:rPr lang="en-US" sz="1800" dirty="0">
                <a:latin typeface="Poppins" panose="00000500000000000000" pitchFamily="2" charset="0"/>
                <a:cs typeface="Poppins" panose="00000500000000000000" pitchFamily="2" charset="0"/>
              </a:rPr>
              <a:t>Provides access to large amounts of information</a:t>
            </a:r>
            <a:r>
              <a:rPr lang="en-US" sz="1800" b="0" i="0" u="none" strike="noStrike" cap="none" dirty="0">
                <a:solidFill>
                  <a:srgbClr val="A3937F"/>
                </a:solidFill>
                <a:latin typeface="Poppins" panose="00000500000000000000" pitchFamily="2" charset="0"/>
                <a:ea typeface="Poppins"/>
                <a:cs typeface="Poppins" panose="00000500000000000000" pitchFamily="2" charset="0"/>
                <a:sym typeface="Poppins"/>
              </a:rPr>
              <a:t>.</a:t>
            </a:r>
            <a:endParaRPr sz="1800" b="0" i="0" u="none" strike="noStrike" cap="none" dirty="0">
              <a:solidFill>
                <a:schemeClr val="dk1"/>
              </a:solidFill>
              <a:latin typeface="Poppins" panose="00000500000000000000" pitchFamily="2" charset="0"/>
              <a:ea typeface="Calibri"/>
              <a:cs typeface="Poppins" panose="00000500000000000000" pitchFamily="2" charset="0"/>
              <a:sym typeface="Calibri"/>
            </a:endParaRPr>
          </a:p>
        </p:txBody>
      </p:sp>
      <p:sp>
        <p:nvSpPr>
          <p:cNvPr id="166" name="Google Shape;166;p9"/>
          <p:cNvSpPr/>
          <p:nvPr/>
        </p:nvSpPr>
        <p:spPr>
          <a:xfrm>
            <a:off x="9144000" y="5804358"/>
            <a:ext cx="4000500" cy="1898427"/>
          </a:xfrm>
          <a:prstGeom prst="rect">
            <a:avLst/>
          </a:prstGeom>
          <a:solidFill>
            <a:srgbClr val="F7F1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9"/>
          <p:cNvSpPr/>
          <p:nvPr/>
        </p:nvSpPr>
        <p:spPr>
          <a:xfrm>
            <a:off x="9144000" y="7694848"/>
            <a:ext cx="4000500" cy="9525"/>
          </a:xfrm>
          <a:prstGeom prst="rect">
            <a:avLst/>
          </a:prstGeom>
          <a:solidFill>
            <a:srgbClr val="DCCF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9"/>
          <p:cNvSpPr/>
          <p:nvPr/>
        </p:nvSpPr>
        <p:spPr>
          <a:xfrm>
            <a:off x="9334500" y="5956758"/>
            <a:ext cx="3739515" cy="1623789"/>
          </a:xfrm>
          <a:prstGeom prst="rect">
            <a:avLst/>
          </a:prstGeom>
          <a:noFill/>
          <a:ln>
            <a:noFill/>
          </a:ln>
        </p:spPr>
        <p:txBody>
          <a:bodyPr spcFirstLastPara="1" wrap="square" lIns="25400" tIns="25400" rIns="25400" bIns="25400" anchor="ctr" anchorCtr="0">
            <a:noAutofit/>
          </a:bodyPr>
          <a:lstStyle/>
          <a:p>
            <a:pPr marL="0" marR="0" lvl="0" indent="0" algn="l" rtl="0">
              <a:lnSpc>
                <a:spcPct val="90419"/>
              </a:lnSpc>
              <a:spcBef>
                <a:spcPts val="0"/>
              </a:spcBef>
              <a:spcAft>
                <a:spcPts val="0"/>
              </a:spcAft>
              <a:buClr>
                <a:srgbClr val="A3937F"/>
              </a:buClr>
              <a:buSzPts val="1800"/>
              <a:buFont typeface="Poppins"/>
              <a:buNone/>
            </a:pPr>
            <a:r>
              <a:rPr lang="en-US" sz="1800" dirty="0">
                <a:latin typeface="Poppins" panose="00000500000000000000" pitchFamily="2" charset="0"/>
                <a:cs typeface="Poppins" panose="00000500000000000000" pitchFamily="2" charset="0"/>
              </a:rPr>
              <a:t>User must manually search, compare and interpret information</a:t>
            </a:r>
            <a:r>
              <a:rPr lang="en-US" sz="1800" b="0" i="0" u="none" strike="noStrike" cap="none" dirty="0">
                <a:solidFill>
                  <a:srgbClr val="A3937F"/>
                </a:solidFill>
                <a:latin typeface="Poppins" panose="00000500000000000000" pitchFamily="2" charset="0"/>
                <a:ea typeface="Poppins"/>
                <a:cs typeface="Poppins" panose="00000500000000000000" pitchFamily="2" charset="0"/>
                <a:sym typeface="Poppins"/>
              </a:rPr>
              <a:t> </a:t>
            </a:r>
            <a:endParaRPr sz="1800" b="0" i="0" u="none" strike="noStrike" cap="none" dirty="0">
              <a:solidFill>
                <a:schemeClr val="dk1"/>
              </a:solidFill>
              <a:latin typeface="Poppins" panose="00000500000000000000" pitchFamily="2" charset="0"/>
              <a:ea typeface="Calibri"/>
              <a:cs typeface="Poppins" panose="00000500000000000000" pitchFamily="2" charset="0"/>
              <a:sym typeface="Calibri"/>
            </a:endParaRPr>
          </a:p>
        </p:txBody>
      </p:sp>
      <p:sp>
        <p:nvSpPr>
          <p:cNvPr id="169" name="Google Shape;169;p9"/>
          <p:cNvSpPr/>
          <p:nvPr/>
        </p:nvSpPr>
        <p:spPr>
          <a:xfrm>
            <a:off x="13144500" y="5804358"/>
            <a:ext cx="4000500" cy="1898427"/>
          </a:xfrm>
          <a:prstGeom prst="rect">
            <a:avLst/>
          </a:prstGeom>
          <a:solidFill>
            <a:srgbClr val="F7F1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9"/>
          <p:cNvSpPr/>
          <p:nvPr/>
        </p:nvSpPr>
        <p:spPr>
          <a:xfrm>
            <a:off x="13144500" y="7694848"/>
            <a:ext cx="4000500" cy="9525"/>
          </a:xfrm>
          <a:prstGeom prst="rect">
            <a:avLst/>
          </a:prstGeom>
          <a:solidFill>
            <a:srgbClr val="DCCF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9"/>
          <p:cNvSpPr/>
          <p:nvPr/>
        </p:nvSpPr>
        <p:spPr>
          <a:xfrm>
            <a:off x="13335000" y="5956758"/>
            <a:ext cx="3739515" cy="1623789"/>
          </a:xfrm>
          <a:prstGeom prst="rect">
            <a:avLst/>
          </a:prstGeom>
          <a:noFill/>
          <a:ln>
            <a:noFill/>
          </a:ln>
        </p:spPr>
        <p:txBody>
          <a:bodyPr spcFirstLastPara="1" wrap="square" lIns="25400" tIns="25400" rIns="25400" bIns="25400" anchor="ctr" anchorCtr="0">
            <a:noAutofit/>
          </a:bodyPr>
          <a:lstStyle/>
          <a:p>
            <a:pPr marL="0" marR="0" lvl="0" indent="0" algn="l" rtl="0">
              <a:lnSpc>
                <a:spcPct val="90419"/>
              </a:lnSpc>
              <a:spcBef>
                <a:spcPts val="0"/>
              </a:spcBef>
              <a:spcAft>
                <a:spcPts val="0"/>
              </a:spcAft>
              <a:buClr>
                <a:srgbClr val="A3937F"/>
              </a:buClr>
              <a:buSzPts val="1800"/>
              <a:buFont typeface="Poppins"/>
              <a:buNone/>
            </a:pPr>
            <a:r>
              <a:rPr lang="en-US" sz="1800" dirty="0">
                <a:latin typeface="Poppins" panose="00000500000000000000" pitchFamily="2" charset="0"/>
                <a:cs typeface="Poppins" panose="00000500000000000000" pitchFamily="2" charset="0"/>
              </a:rPr>
              <a:t>Provide a simple automated risk assessment</a:t>
            </a:r>
            <a:endParaRPr sz="1800" b="0" i="0" u="none" strike="noStrike" cap="none" dirty="0">
              <a:solidFill>
                <a:schemeClr val="dk1"/>
              </a:solidFill>
              <a:latin typeface="Poppins" panose="00000500000000000000" pitchFamily="2" charset="0"/>
              <a:ea typeface="Calibri"/>
              <a:cs typeface="Poppins" panose="00000500000000000000" pitchFamily="2" charset="0"/>
              <a:sym typeface="Calibri"/>
            </a:endParaRPr>
          </a:p>
        </p:txBody>
      </p:sp>
      <p:sp>
        <p:nvSpPr>
          <p:cNvPr id="172" name="Google Shape;172;p9"/>
          <p:cNvSpPr/>
          <p:nvPr/>
        </p:nvSpPr>
        <p:spPr>
          <a:xfrm>
            <a:off x="1143000" y="9593275"/>
            <a:ext cx="4000500" cy="9525"/>
          </a:xfrm>
          <a:prstGeom prst="rect">
            <a:avLst/>
          </a:prstGeom>
          <a:solidFill>
            <a:srgbClr val="DCCF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9"/>
          <p:cNvSpPr/>
          <p:nvPr/>
        </p:nvSpPr>
        <p:spPr>
          <a:xfrm>
            <a:off x="1333500" y="7855186"/>
            <a:ext cx="3739515" cy="1623789"/>
          </a:xfrm>
          <a:prstGeom prst="rect">
            <a:avLst/>
          </a:prstGeom>
          <a:noFill/>
          <a:ln>
            <a:noFill/>
          </a:ln>
        </p:spPr>
        <p:txBody>
          <a:bodyPr spcFirstLastPara="1" wrap="square" lIns="25400" tIns="25400" rIns="25400" bIns="25400" anchor="ctr" anchorCtr="0">
            <a:noAutofit/>
          </a:bodyPr>
          <a:lstStyle/>
          <a:p>
            <a:pPr marL="0" marR="0" lvl="0" indent="0" algn="l" rtl="0">
              <a:lnSpc>
                <a:spcPct val="90419"/>
              </a:lnSpc>
              <a:spcBef>
                <a:spcPts val="0"/>
              </a:spcBef>
              <a:spcAft>
                <a:spcPts val="0"/>
              </a:spcAft>
              <a:buClr>
                <a:srgbClr val="A3937F"/>
              </a:buClr>
              <a:buSzPts val="1800"/>
              <a:buFont typeface="Poppins"/>
              <a:buNone/>
            </a:pPr>
            <a:r>
              <a:rPr lang="en-IN" sz="1800" dirty="0">
                <a:latin typeface="Poppins" panose="00000500000000000000" pitchFamily="2" charset="0"/>
                <a:cs typeface="Poppins" panose="00000500000000000000" pitchFamily="2" charset="0"/>
              </a:rPr>
              <a:t>Manual checking</a:t>
            </a:r>
            <a:endParaRPr sz="1800" b="0" i="0" u="none" strike="noStrike" cap="none" dirty="0">
              <a:solidFill>
                <a:schemeClr val="dk1"/>
              </a:solidFill>
              <a:latin typeface="Poppins" panose="00000500000000000000" pitchFamily="2" charset="0"/>
              <a:ea typeface="Calibri"/>
              <a:cs typeface="Poppins" panose="00000500000000000000" pitchFamily="2" charset="0"/>
              <a:sym typeface="Calibri"/>
            </a:endParaRPr>
          </a:p>
        </p:txBody>
      </p:sp>
      <p:sp>
        <p:nvSpPr>
          <p:cNvPr id="174" name="Google Shape;174;p9"/>
          <p:cNvSpPr/>
          <p:nvPr/>
        </p:nvSpPr>
        <p:spPr>
          <a:xfrm>
            <a:off x="5143500" y="9593275"/>
            <a:ext cx="4000500" cy="9525"/>
          </a:xfrm>
          <a:prstGeom prst="rect">
            <a:avLst/>
          </a:prstGeom>
          <a:solidFill>
            <a:srgbClr val="DCCF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9"/>
          <p:cNvSpPr/>
          <p:nvPr/>
        </p:nvSpPr>
        <p:spPr>
          <a:xfrm>
            <a:off x="5334000" y="7855186"/>
            <a:ext cx="3739515" cy="1623789"/>
          </a:xfrm>
          <a:prstGeom prst="rect">
            <a:avLst/>
          </a:prstGeom>
          <a:noFill/>
          <a:ln>
            <a:noFill/>
          </a:ln>
        </p:spPr>
        <p:txBody>
          <a:bodyPr spcFirstLastPara="1" wrap="square" lIns="25400" tIns="25400" rIns="25400" bIns="25400" anchor="ctr" anchorCtr="0">
            <a:noAutofit/>
          </a:bodyPr>
          <a:lstStyle/>
          <a:p>
            <a:pPr marL="0" marR="0" lvl="0" indent="0" algn="l" rtl="0">
              <a:lnSpc>
                <a:spcPct val="90419"/>
              </a:lnSpc>
              <a:spcBef>
                <a:spcPts val="0"/>
              </a:spcBef>
              <a:spcAft>
                <a:spcPts val="0"/>
              </a:spcAft>
              <a:buClr>
                <a:srgbClr val="A3937F"/>
              </a:buClr>
              <a:buSzPts val="1800"/>
              <a:buFont typeface="Poppins"/>
              <a:buNone/>
            </a:pPr>
            <a:r>
              <a:rPr lang="en-IN" sz="1800" dirty="0">
                <a:latin typeface="Poppins" panose="00000500000000000000" pitchFamily="2" charset="0"/>
                <a:cs typeface="Poppins" panose="00000500000000000000" pitchFamily="2" charset="0"/>
              </a:rPr>
              <a:t>No additional technology required</a:t>
            </a:r>
            <a:endParaRPr sz="1800" b="0" i="0" u="none" strike="noStrike" cap="none" dirty="0">
              <a:solidFill>
                <a:schemeClr val="dk1"/>
              </a:solidFill>
              <a:latin typeface="Poppins" panose="00000500000000000000" pitchFamily="2" charset="0"/>
              <a:ea typeface="Calibri"/>
              <a:cs typeface="Poppins" panose="00000500000000000000" pitchFamily="2" charset="0"/>
              <a:sym typeface="Calibri"/>
            </a:endParaRPr>
          </a:p>
        </p:txBody>
      </p:sp>
      <p:sp>
        <p:nvSpPr>
          <p:cNvPr id="176" name="Google Shape;176;p9"/>
          <p:cNvSpPr/>
          <p:nvPr/>
        </p:nvSpPr>
        <p:spPr>
          <a:xfrm>
            <a:off x="9144000" y="9593275"/>
            <a:ext cx="4000500" cy="9525"/>
          </a:xfrm>
          <a:prstGeom prst="rect">
            <a:avLst/>
          </a:prstGeom>
          <a:solidFill>
            <a:srgbClr val="DCCF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9"/>
          <p:cNvSpPr/>
          <p:nvPr/>
        </p:nvSpPr>
        <p:spPr>
          <a:xfrm>
            <a:off x="9334500" y="7855186"/>
            <a:ext cx="3739515" cy="1623789"/>
          </a:xfrm>
          <a:prstGeom prst="rect">
            <a:avLst/>
          </a:prstGeom>
          <a:noFill/>
          <a:ln>
            <a:noFill/>
          </a:ln>
        </p:spPr>
        <p:txBody>
          <a:bodyPr spcFirstLastPara="1" wrap="square" lIns="25400" tIns="25400" rIns="25400" bIns="25400" anchor="ctr" anchorCtr="0">
            <a:noAutofit/>
          </a:bodyPr>
          <a:lstStyle/>
          <a:p>
            <a:pPr marL="0" marR="0" lvl="0" indent="0" algn="l" rtl="0">
              <a:lnSpc>
                <a:spcPct val="90419"/>
              </a:lnSpc>
              <a:spcBef>
                <a:spcPts val="0"/>
              </a:spcBef>
              <a:spcAft>
                <a:spcPts val="0"/>
              </a:spcAft>
              <a:buClr>
                <a:srgbClr val="A3937F"/>
              </a:buClr>
              <a:buSzPts val="1800"/>
              <a:buFont typeface="Poppins"/>
              <a:buNone/>
            </a:pPr>
            <a:r>
              <a:rPr lang="en-US" sz="1800" dirty="0">
                <a:latin typeface="Poppins" panose="00000500000000000000" pitchFamily="2" charset="0"/>
                <a:cs typeface="Poppins" panose="00000500000000000000" pitchFamily="2" charset="0"/>
              </a:rPr>
              <a:t>Time-consuming and difficult for less tech-confident users</a:t>
            </a:r>
            <a:endParaRPr sz="1800" b="0" i="0" u="none" strike="noStrike" cap="none" dirty="0">
              <a:solidFill>
                <a:schemeClr val="dk1"/>
              </a:solidFill>
              <a:latin typeface="Poppins" panose="00000500000000000000" pitchFamily="2" charset="0"/>
              <a:ea typeface="Calibri"/>
              <a:cs typeface="Poppins" panose="00000500000000000000" pitchFamily="2" charset="0"/>
              <a:sym typeface="Calibri"/>
            </a:endParaRPr>
          </a:p>
        </p:txBody>
      </p:sp>
      <p:sp>
        <p:nvSpPr>
          <p:cNvPr id="178" name="Google Shape;178;p9"/>
          <p:cNvSpPr/>
          <p:nvPr/>
        </p:nvSpPr>
        <p:spPr>
          <a:xfrm>
            <a:off x="13144500" y="9593275"/>
            <a:ext cx="4000500" cy="9525"/>
          </a:xfrm>
          <a:prstGeom prst="rect">
            <a:avLst/>
          </a:prstGeom>
          <a:solidFill>
            <a:srgbClr val="DCCF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9"/>
          <p:cNvSpPr/>
          <p:nvPr/>
        </p:nvSpPr>
        <p:spPr>
          <a:xfrm>
            <a:off x="13335000" y="7855186"/>
            <a:ext cx="3739515" cy="1623789"/>
          </a:xfrm>
          <a:prstGeom prst="rect">
            <a:avLst/>
          </a:prstGeom>
          <a:noFill/>
          <a:ln>
            <a:noFill/>
          </a:ln>
        </p:spPr>
        <p:txBody>
          <a:bodyPr spcFirstLastPara="1" wrap="square" lIns="25400" tIns="25400" rIns="25400" bIns="25400" anchor="ctr" anchorCtr="0">
            <a:noAutofit/>
          </a:bodyPr>
          <a:lstStyle/>
          <a:p>
            <a:pPr marL="0" marR="0" lvl="0" indent="0" algn="l" rtl="0">
              <a:lnSpc>
                <a:spcPct val="90419"/>
              </a:lnSpc>
              <a:spcBef>
                <a:spcPts val="0"/>
              </a:spcBef>
              <a:spcAft>
                <a:spcPts val="0"/>
              </a:spcAft>
              <a:buClr>
                <a:srgbClr val="A3937F"/>
              </a:buClr>
              <a:buSzPts val="1800"/>
              <a:buFont typeface="Poppins"/>
              <a:buNone/>
            </a:pPr>
            <a:r>
              <a:rPr lang="en-US" sz="1800" dirty="0">
                <a:latin typeface="Poppins" panose="00000500000000000000" pitchFamily="2" charset="0"/>
                <a:cs typeface="Poppins" panose="00000500000000000000" pitchFamily="2" charset="0"/>
              </a:rPr>
              <a:t>Make verification simple and accessible</a:t>
            </a:r>
            <a:endParaRPr sz="1800" b="0" i="0" u="none" strike="noStrike" cap="none" dirty="0">
              <a:solidFill>
                <a:schemeClr val="dk1"/>
              </a:solidFill>
              <a:latin typeface="Poppins" panose="00000500000000000000" pitchFamily="2" charset="0"/>
              <a:ea typeface="Calibri"/>
              <a:cs typeface="Poppins" panose="00000500000000000000" pitchFamily="2" charset="0"/>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BF7F0"/>
        </a:solidFill>
        <a:effectLst/>
      </p:bgPr>
    </p:bg>
    <p:spTree>
      <p:nvGrpSpPr>
        <p:cNvPr id="1" name="Shape 184"/>
        <p:cNvGrpSpPr/>
        <p:nvPr/>
      </p:nvGrpSpPr>
      <p:grpSpPr>
        <a:xfrm>
          <a:off x="0" y="0"/>
          <a:ext cx="0" cy="0"/>
          <a:chOff x="0" y="0"/>
          <a:chExt cx="0" cy="0"/>
        </a:xfrm>
      </p:grpSpPr>
      <p:sp>
        <p:nvSpPr>
          <p:cNvPr id="185" name="Google Shape;185;p10"/>
          <p:cNvSpPr/>
          <p:nvPr/>
        </p:nvSpPr>
        <p:spPr>
          <a:xfrm>
            <a:off x="1143000" y="742900"/>
            <a:ext cx="1889975" cy="379412"/>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F0592B"/>
              </a:buClr>
              <a:buSzPts val="1800"/>
              <a:buFont typeface="Poppins"/>
              <a:buNone/>
            </a:pPr>
            <a:r>
              <a:rPr lang="en-US" sz="1800" b="1" i="0" u="none" strike="noStrike" cap="none">
                <a:solidFill>
                  <a:srgbClr val="F0592B"/>
                </a:solidFill>
                <a:latin typeface="Poppins"/>
                <a:ea typeface="Poppins"/>
                <a:cs typeface="Poppins"/>
                <a:sym typeface="Poppins"/>
              </a:rPr>
              <a:t>SECTION 07</a:t>
            </a:r>
            <a:endParaRPr sz="1800" b="0" i="0" u="none" strike="noStrike" cap="none">
              <a:solidFill>
                <a:schemeClr val="dk1"/>
              </a:solidFill>
              <a:latin typeface="Calibri"/>
              <a:ea typeface="Calibri"/>
              <a:cs typeface="Calibri"/>
              <a:sym typeface="Calibri"/>
            </a:endParaRPr>
          </a:p>
        </p:txBody>
      </p:sp>
      <p:pic>
        <p:nvPicPr>
          <p:cNvPr id="186" name="Google Shape;186;p10" descr="preencoded.png"/>
          <p:cNvPicPr preferRelativeResize="0"/>
          <p:nvPr/>
        </p:nvPicPr>
        <p:blipFill rotWithShape="1">
          <a:blip r:embed="rId3">
            <a:alphaModFix/>
          </a:blip>
          <a:srcRect/>
          <a:stretch/>
        </p:blipFill>
        <p:spPr>
          <a:xfrm>
            <a:off x="14954250" y="742900"/>
            <a:ext cx="2190750" cy="637666"/>
          </a:xfrm>
          <a:prstGeom prst="rect">
            <a:avLst/>
          </a:prstGeom>
          <a:noFill/>
          <a:ln>
            <a:noFill/>
          </a:ln>
        </p:spPr>
      </p:pic>
      <p:sp>
        <p:nvSpPr>
          <p:cNvPr id="187" name="Google Shape;187;p10"/>
          <p:cNvSpPr/>
          <p:nvPr/>
        </p:nvSpPr>
        <p:spPr>
          <a:xfrm>
            <a:off x="1143000" y="1628180"/>
            <a:ext cx="17602200" cy="757002"/>
          </a:xfrm>
          <a:prstGeom prst="rect">
            <a:avLst/>
          </a:prstGeom>
          <a:noFill/>
          <a:ln>
            <a:noFill/>
          </a:ln>
        </p:spPr>
        <p:txBody>
          <a:bodyPr spcFirstLastPara="1" wrap="square" lIns="25400" tIns="25400" rIns="25400" bIns="25400" anchor="t" anchorCtr="0">
            <a:noAutofit/>
          </a:bodyPr>
          <a:lstStyle/>
          <a:p>
            <a:pPr marL="0" marR="0" lvl="0" indent="0" algn="l" rtl="0">
              <a:lnSpc>
                <a:spcPct val="68102"/>
              </a:lnSpc>
              <a:spcBef>
                <a:spcPts val="0"/>
              </a:spcBef>
              <a:spcAft>
                <a:spcPts val="0"/>
              </a:spcAft>
              <a:buClr>
                <a:srgbClr val="2A1E16"/>
              </a:buClr>
              <a:buSzPts val="5550"/>
              <a:buFont typeface="Poppins"/>
              <a:buNone/>
            </a:pPr>
            <a:r>
              <a:rPr lang="en-US" sz="5550" b="1" i="0" u="none" strike="noStrike" cap="none">
                <a:solidFill>
                  <a:srgbClr val="2A1E16"/>
                </a:solidFill>
                <a:latin typeface="Poppins"/>
                <a:ea typeface="Poppins"/>
                <a:cs typeface="Poppins"/>
                <a:sym typeface="Poppins"/>
              </a:rPr>
              <a:t>Opportunity</a:t>
            </a:r>
            <a:endParaRPr sz="5550" b="0" i="0" u="none" strike="noStrike" cap="none">
              <a:solidFill>
                <a:schemeClr val="dk1"/>
              </a:solidFill>
              <a:latin typeface="Calibri"/>
              <a:ea typeface="Calibri"/>
              <a:cs typeface="Calibri"/>
              <a:sym typeface="Calibri"/>
            </a:endParaRPr>
          </a:p>
        </p:txBody>
      </p:sp>
      <p:sp>
        <p:nvSpPr>
          <p:cNvPr id="188" name="Google Shape;188;p10"/>
          <p:cNvSpPr/>
          <p:nvPr/>
        </p:nvSpPr>
        <p:spPr>
          <a:xfrm>
            <a:off x="1143000" y="2461369"/>
            <a:ext cx="17602200" cy="442913"/>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7A6A5B"/>
              </a:buClr>
              <a:buSzPts val="2100"/>
              <a:buFont typeface="Poppins"/>
              <a:buNone/>
            </a:pPr>
            <a:r>
              <a:rPr lang="en-US" sz="2100" b="0" i="0" u="none" strike="noStrike" cap="none">
                <a:solidFill>
                  <a:srgbClr val="7A6A5B"/>
                </a:solidFill>
                <a:latin typeface="Poppins"/>
                <a:ea typeface="Poppins"/>
                <a:cs typeface="Poppins"/>
                <a:sym typeface="Poppins"/>
              </a:rPr>
              <a:t>The gap between how things work today and how they could work.</a:t>
            </a:r>
            <a:endParaRPr sz="2100" b="0" i="0" u="none" strike="noStrike" cap="none">
              <a:solidFill>
                <a:schemeClr val="dk1"/>
              </a:solidFill>
              <a:latin typeface="Calibri"/>
              <a:ea typeface="Calibri"/>
              <a:cs typeface="Calibri"/>
              <a:sym typeface="Calibri"/>
            </a:endParaRPr>
          </a:p>
        </p:txBody>
      </p:sp>
      <p:sp>
        <p:nvSpPr>
          <p:cNvPr id="189" name="Google Shape;189;p10"/>
          <p:cNvSpPr/>
          <p:nvPr/>
        </p:nvSpPr>
        <p:spPr>
          <a:xfrm>
            <a:off x="1143000" y="3113794"/>
            <a:ext cx="16002000" cy="15875"/>
          </a:xfrm>
          <a:prstGeom prst="rect">
            <a:avLst/>
          </a:prstGeom>
          <a:solidFill>
            <a:srgbClr val="E5DC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10"/>
          <p:cNvSpPr/>
          <p:nvPr/>
        </p:nvSpPr>
        <p:spPr>
          <a:xfrm>
            <a:off x="1143000" y="3358244"/>
            <a:ext cx="5476267" cy="395288"/>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F0592B"/>
              </a:buClr>
              <a:buSzPts val="1875"/>
              <a:buFont typeface="Poppins"/>
              <a:buNone/>
            </a:pPr>
            <a:r>
              <a:rPr lang="en-US" sz="1875" b="1" i="0" u="none" strike="noStrike" cap="none">
                <a:solidFill>
                  <a:srgbClr val="F0592B"/>
                </a:solidFill>
                <a:latin typeface="Poppins"/>
                <a:ea typeface="Poppins"/>
                <a:cs typeface="Poppins"/>
                <a:sym typeface="Poppins"/>
              </a:rPr>
              <a:t>CURRENTLY BROKEN</a:t>
            </a:r>
            <a:endParaRPr sz="1875" b="0" i="0" u="none" strike="noStrike" cap="none">
              <a:solidFill>
                <a:schemeClr val="dk1"/>
              </a:solidFill>
              <a:latin typeface="Calibri"/>
              <a:ea typeface="Calibri"/>
              <a:cs typeface="Calibri"/>
              <a:sym typeface="Calibri"/>
            </a:endParaRPr>
          </a:p>
        </p:txBody>
      </p:sp>
      <p:sp>
        <p:nvSpPr>
          <p:cNvPr id="191" name="Google Shape;191;p10"/>
          <p:cNvSpPr/>
          <p:nvPr/>
        </p:nvSpPr>
        <p:spPr>
          <a:xfrm>
            <a:off x="1143000" y="3867795"/>
            <a:ext cx="4978425" cy="5733417"/>
          </a:xfrm>
          <a:prstGeom prst="rect">
            <a:avLst/>
          </a:prstGeom>
          <a:solidFill>
            <a:srgbClr val="F7F1E6"/>
          </a:solidFill>
          <a:ln w="15875" cap="flat" cmpd="sng">
            <a:solidFill>
              <a:srgbClr val="DCCFBB"/>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10"/>
          <p:cNvSpPr/>
          <p:nvPr/>
        </p:nvSpPr>
        <p:spPr>
          <a:xfrm>
            <a:off x="1243532" y="4065655"/>
            <a:ext cx="4770809" cy="4892080"/>
          </a:xfrm>
          <a:prstGeom prst="rect">
            <a:avLst/>
          </a:prstGeom>
          <a:noFill/>
          <a:ln>
            <a:noFill/>
          </a:ln>
        </p:spPr>
        <p:txBody>
          <a:bodyPr spcFirstLastPara="1" wrap="square" lIns="25400" tIns="25400" rIns="25400" bIns="25400" anchor="t" anchorCtr="0">
            <a:noAutofit/>
          </a:bodyPr>
          <a:lstStyle/>
          <a:p>
            <a:pPr marL="342900" indent="-342900">
              <a:buFont typeface="Arial" panose="020B0604020202020204" pitchFamily="34" charset="0"/>
              <a:buChar char="•"/>
            </a:pPr>
            <a:r>
              <a:rPr lang="en-US" sz="1800" dirty="0">
                <a:latin typeface="Poppins" panose="00000500000000000000" pitchFamily="2" charset="0"/>
                <a:cs typeface="Poppins" panose="00000500000000000000" pitchFamily="2" charset="0"/>
              </a:rPr>
              <a:t>Users receive suspicious messages, links, QR codes and payment requests but often do not have a simple way to determine the risk before taking appropriate action.</a:t>
            </a:r>
          </a:p>
          <a:p>
            <a:endParaRPr lang="en-US" sz="1800" dirty="0">
              <a:latin typeface="Poppins" panose="00000500000000000000" pitchFamily="2" charset="0"/>
              <a:cs typeface="Poppins" panose="00000500000000000000" pitchFamily="2" charset="0"/>
            </a:endParaRPr>
          </a:p>
          <a:p>
            <a:pPr marL="342900" indent="-342900">
              <a:buFont typeface="Arial" panose="020B0604020202020204" pitchFamily="34" charset="0"/>
              <a:buChar char="•"/>
            </a:pPr>
            <a:r>
              <a:rPr lang="en-US" sz="1800" dirty="0">
                <a:latin typeface="Poppins" panose="00000500000000000000" pitchFamily="2" charset="0"/>
                <a:cs typeface="Poppins" panose="00000500000000000000" pitchFamily="2" charset="0"/>
              </a:rPr>
              <a:t>They currently depend on family members, online searches and individual tools, which may require manual interpretation.</a:t>
            </a:r>
          </a:p>
          <a:p>
            <a:pPr marL="0" marR="0" lvl="0" indent="0" algn="l" rtl="0">
              <a:lnSpc>
                <a:spcPct val="96667"/>
              </a:lnSpc>
              <a:spcBef>
                <a:spcPts val="0"/>
              </a:spcBef>
              <a:spcAft>
                <a:spcPts val="0"/>
              </a:spcAft>
              <a:buClr>
                <a:srgbClr val="A3937F"/>
              </a:buClr>
              <a:buSzPts val="1875"/>
              <a:buFont typeface="Poppins"/>
              <a:buNone/>
            </a:pPr>
            <a:r>
              <a:rPr lang="en-US" sz="1800" b="0" i="0" u="none" strike="noStrike" cap="none" dirty="0">
                <a:solidFill>
                  <a:srgbClr val="A3937F"/>
                </a:solidFill>
                <a:latin typeface="Poppins"/>
                <a:ea typeface="Poppins"/>
                <a:cs typeface="Poppins"/>
                <a:sym typeface="Poppins"/>
              </a:rPr>
              <a:t>.</a:t>
            </a:r>
            <a:endParaRPr sz="1800" b="0" i="0" u="none" strike="noStrike" cap="none" dirty="0">
              <a:solidFill>
                <a:schemeClr val="dk1"/>
              </a:solidFill>
              <a:latin typeface="Calibri"/>
              <a:ea typeface="Calibri"/>
              <a:cs typeface="Calibri"/>
              <a:sym typeface="Calibri"/>
            </a:endParaRPr>
          </a:p>
        </p:txBody>
      </p:sp>
      <p:sp>
        <p:nvSpPr>
          <p:cNvPr id="194" name="Google Shape;194;p10"/>
          <p:cNvSpPr/>
          <p:nvPr/>
        </p:nvSpPr>
        <p:spPr>
          <a:xfrm>
            <a:off x="6654787" y="3358244"/>
            <a:ext cx="5476267" cy="395288"/>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F0592B"/>
              </a:buClr>
              <a:buSzPts val="1875"/>
              <a:buFont typeface="Poppins"/>
              <a:buNone/>
            </a:pPr>
            <a:r>
              <a:rPr lang="en-US" sz="1875" b="1" i="0" u="none" strike="noStrike" cap="none">
                <a:solidFill>
                  <a:srgbClr val="F0592B"/>
                </a:solidFill>
                <a:latin typeface="Poppins"/>
                <a:ea typeface="Poppins"/>
                <a:cs typeface="Poppins"/>
                <a:sym typeface="Poppins"/>
              </a:rPr>
              <a:t>COULD BE BETTER</a:t>
            </a:r>
            <a:endParaRPr sz="1875" b="0" i="0" u="none" strike="noStrike" cap="none">
              <a:solidFill>
                <a:schemeClr val="dk1"/>
              </a:solidFill>
              <a:latin typeface="Calibri"/>
              <a:ea typeface="Calibri"/>
              <a:cs typeface="Calibri"/>
              <a:sym typeface="Calibri"/>
            </a:endParaRPr>
          </a:p>
        </p:txBody>
      </p:sp>
      <p:sp>
        <p:nvSpPr>
          <p:cNvPr id="195" name="Google Shape;195;p10"/>
          <p:cNvSpPr/>
          <p:nvPr/>
        </p:nvSpPr>
        <p:spPr>
          <a:xfrm>
            <a:off x="6654787" y="3867795"/>
            <a:ext cx="4978425" cy="5733417"/>
          </a:xfrm>
          <a:prstGeom prst="rect">
            <a:avLst/>
          </a:prstGeom>
          <a:solidFill>
            <a:srgbClr val="F7F1E6"/>
          </a:solidFill>
          <a:ln w="15875" cap="flat" cmpd="sng">
            <a:solidFill>
              <a:srgbClr val="DCCFBB"/>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IN"/>
          </a:p>
        </p:txBody>
      </p:sp>
      <p:sp>
        <p:nvSpPr>
          <p:cNvPr id="196" name="Google Shape;196;p10"/>
          <p:cNvSpPr/>
          <p:nvPr/>
        </p:nvSpPr>
        <p:spPr>
          <a:xfrm>
            <a:off x="6975450" y="4150320"/>
            <a:ext cx="4467212" cy="4807415"/>
          </a:xfrm>
          <a:prstGeom prst="rect">
            <a:avLst/>
          </a:prstGeom>
          <a:noFill/>
          <a:ln>
            <a:noFill/>
          </a:ln>
        </p:spPr>
        <p:txBody>
          <a:bodyPr spcFirstLastPara="1" wrap="square" lIns="25400" tIns="25400" rIns="25400" bIns="25400" anchor="t" anchorCtr="0">
            <a:noAutofit/>
          </a:bodyPr>
          <a:lstStyle/>
          <a:p>
            <a:pPr marL="342900" indent="-342900">
              <a:buFont typeface="Arial" panose="020B0604020202020204" pitchFamily="34" charset="0"/>
              <a:buChar char="•"/>
            </a:pPr>
            <a:r>
              <a:rPr lang="en-US" sz="1800" dirty="0">
                <a:latin typeface="Poppins" panose="00000500000000000000" pitchFamily="2" charset="0"/>
                <a:cs typeface="Poppins" panose="00000500000000000000" pitchFamily="2" charset="0"/>
              </a:rPr>
              <a:t>Users should be able to check suspicious digital content and immediately understand:</a:t>
            </a:r>
          </a:p>
          <a:p>
            <a:endParaRPr lang="en-US" sz="1800" b="1" dirty="0">
              <a:latin typeface="Poppins" panose="00000500000000000000" pitchFamily="2" charset="0"/>
              <a:cs typeface="Poppins" panose="00000500000000000000" pitchFamily="2" charset="0"/>
            </a:endParaRPr>
          </a:p>
          <a:p>
            <a:pPr marL="342900" indent="-342900">
              <a:buFont typeface="Arial" panose="020B0604020202020204" pitchFamily="34" charset="0"/>
              <a:buChar char="•"/>
            </a:pPr>
            <a:r>
              <a:rPr lang="en-US" sz="1800" b="1" dirty="0">
                <a:latin typeface="Poppins" panose="00000500000000000000" pitchFamily="2" charset="0"/>
                <a:cs typeface="Poppins" panose="00000500000000000000" pitchFamily="2" charset="0"/>
              </a:rPr>
              <a:t>What is suspicious → Why it is suspicious → How serious the risk is → What should I do next?</a:t>
            </a:r>
            <a:endParaRPr lang="en-US" sz="1800" dirty="0">
              <a:latin typeface="Poppins" panose="00000500000000000000" pitchFamily="2" charset="0"/>
              <a:cs typeface="Poppins" panose="00000500000000000000" pitchFamily="2" charset="0"/>
            </a:endParaRPr>
          </a:p>
          <a:p>
            <a:pPr marL="0" marR="0" lvl="0" indent="0" algn="l" rtl="0">
              <a:lnSpc>
                <a:spcPct val="96667"/>
              </a:lnSpc>
              <a:spcBef>
                <a:spcPts val="0"/>
              </a:spcBef>
              <a:spcAft>
                <a:spcPts val="0"/>
              </a:spcAft>
              <a:buClr>
                <a:srgbClr val="A3937F"/>
              </a:buClr>
              <a:buSzPts val="1875"/>
              <a:buFont typeface="Poppins"/>
              <a:buNone/>
            </a:pPr>
            <a:endParaRPr sz="1800" b="0" i="0" u="none" strike="noStrike" cap="none" dirty="0">
              <a:solidFill>
                <a:schemeClr val="dk1"/>
              </a:solidFill>
              <a:latin typeface="Calibri"/>
              <a:ea typeface="Calibri"/>
              <a:cs typeface="Calibri"/>
              <a:sym typeface="Calibri"/>
            </a:endParaRPr>
          </a:p>
        </p:txBody>
      </p:sp>
      <p:sp>
        <p:nvSpPr>
          <p:cNvPr id="198" name="Google Shape;198;p10"/>
          <p:cNvSpPr/>
          <p:nvPr/>
        </p:nvSpPr>
        <p:spPr>
          <a:xfrm>
            <a:off x="12166575" y="3358244"/>
            <a:ext cx="5476267" cy="395288"/>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F0592B"/>
              </a:buClr>
              <a:buSzPts val="1875"/>
              <a:buFont typeface="Poppins"/>
              <a:buNone/>
            </a:pPr>
            <a:r>
              <a:rPr lang="en-US" sz="1875" b="1" i="0" u="none" strike="noStrike" cap="none">
                <a:solidFill>
                  <a:srgbClr val="F0592B"/>
                </a:solidFill>
                <a:latin typeface="Poppins"/>
                <a:ea typeface="Poppins"/>
                <a:cs typeface="Poppins"/>
                <a:sym typeface="Poppins"/>
              </a:rPr>
              <a:t>OUR OPPORTUNITY</a:t>
            </a:r>
            <a:endParaRPr sz="1875" b="0" i="0" u="none" strike="noStrike" cap="none">
              <a:solidFill>
                <a:schemeClr val="dk1"/>
              </a:solidFill>
              <a:latin typeface="Calibri"/>
              <a:ea typeface="Calibri"/>
              <a:cs typeface="Calibri"/>
              <a:sym typeface="Calibri"/>
            </a:endParaRPr>
          </a:p>
        </p:txBody>
      </p:sp>
      <p:sp>
        <p:nvSpPr>
          <p:cNvPr id="199" name="Google Shape;199;p10"/>
          <p:cNvSpPr/>
          <p:nvPr/>
        </p:nvSpPr>
        <p:spPr>
          <a:xfrm>
            <a:off x="12166575" y="3867795"/>
            <a:ext cx="4978425" cy="5733417"/>
          </a:xfrm>
          <a:prstGeom prst="rect">
            <a:avLst/>
          </a:prstGeom>
          <a:solidFill>
            <a:srgbClr val="F7F1E6"/>
          </a:solidFill>
          <a:ln w="15875" cap="flat" cmpd="sng">
            <a:solidFill>
              <a:srgbClr val="DCCFBB"/>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0"/>
          <p:cNvSpPr/>
          <p:nvPr/>
        </p:nvSpPr>
        <p:spPr>
          <a:xfrm>
            <a:off x="12284040" y="4150320"/>
            <a:ext cx="4770809" cy="4807415"/>
          </a:xfrm>
          <a:prstGeom prst="rect">
            <a:avLst/>
          </a:prstGeom>
          <a:noFill/>
          <a:ln>
            <a:noFill/>
          </a:ln>
        </p:spPr>
        <p:txBody>
          <a:bodyPr spcFirstLastPara="1" wrap="square" lIns="25400" tIns="25400" rIns="25400" bIns="25400" anchor="t" anchorCtr="0">
            <a:noAutofit/>
          </a:bodyPr>
          <a:lstStyle/>
          <a:p>
            <a:pPr marL="342900" indent="-342900">
              <a:buFont typeface="Arial" panose="020B0604020202020204" pitchFamily="34" charset="0"/>
              <a:buChar char="•"/>
            </a:pPr>
            <a:r>
              <a:rPr lang="en-US" sz="1800" dirty="0">
                <a:latin typeface="Poppins" panose="00000500000000000000" pitchFamily="2" charset="0"/>
                <a:cs typeface="Poppins" panose="00000500000000000000" pitchFamily="2" charset="0"/>
              </a:rPr>
              <a:t>Build a simple </a:t>
            </a:r>
            <a:r>
              <a:rPr lang="en-US" sz="1800" b="1" dirty="0">
                <a:latin typeface="Poppins" panose="00000500000000000000" pitchFamily="2" charset="0"/>
                <a:cs typeface="Poppins" panose="00000500000000000000" pitchFamily="2" charset="0"/>
              </a:rPr>
              <a:t>"Check Before You Act"</a:t>
            </a:r>
            <a:r>
              <a:rPr lang="en-US" sz="1800" dirty="0">
                <a:latin typeface="Poppins" panose="00000500000000000000" pitchFamily="2" charset="0"/>
                <a:cs typeface="Poppins" panose="00000500000000000000" pitchFamily="2" charset="0"/>
              </a:rPr>
              <a:t> experience that helps ordinary citizens assess suspicious digital content before they click, pay, download or share sensitive information.</a:t>
            </a:r>
          </a:p>
          <a:p>
            <a:pPr marL="342900" indent="-342900">
              <a:buFont typeface="Arial" panose="020B0604020202020204" pitchFamily="34" charset="0"/>
              <a:buChar char="•"/>
            </a:pPr>
            <a:r>
              <a:rPr lang="en-US" sz="1800" dirty="0">
                <a:latin typeface="Poppins" panose="00000500000000000000" pitchFamily="2" charset="0"/>
                <a:cs typeface="Poppins" panose="00000500000000000000" pitchFamily="2" charset="0"/>
              </a:rPr>
              <a:t>The system will analyze submitted content and provide a risk assessment, understandable explanation and recommended safety action.</a:t>
            </a:r>
          </a:p>
          <a:p>
            <a:pPr marL="342900" indent="-342900">
              <a:buFont typeface="Arial" panose="020B0604020202020204" pitchFamily="34" charset="0"/>
              <a:buChar char="•"/>
            </a:pPr>
            <a:r>
              <a:rPr lang="en-US" sz="1800" dirty="0">
                <a:latin typeface="Poppins" panose="00000500000000000000" pitchFamily="2" charset="0"/>
                <a:cs typeface="Poppins" panose="00000500000000000000" pitchFamily="2" charset="0"/>
              </a:rPr>
              <a:t>If by any chance user has clicked or responded to the scam alert, we provide the immediate steps to be taken and create awareness. </a:t>
            </a:r>
          </a:p>
          <a:p>
            <a:pPr marL="0" marR="0" lvl="0" indent="0" algn="l" rtl="0">
              <a:lnSpc>
                <a:spcPct val="96667"/>
              </a:lnSpc>
              <a:spcBef>
                <a:spcPts val="0"/>
              </a:spcBef>
              <a:spcAft>
                <a:spcPts val="0"/>
              </a:spcAft>
              <a:buClr>
                <a:srgbClr val="A3937F"/>
              </a:buClr>
              <a:buSzPts val="1875"/>
              <a:buFont typeface="Poppins"/>
              <a:buNone/>
            </a:pPr>
            <a:endParaRPr sz="1800" b="0" i="0" u="none" strike="noStrike" cap="none" dirty="0">
              <a:solidFill>
                <a:schemeClr val="dk1"/>
              </a:solidFill>
              <a:latin typeface="Poppins" panose="00000500000000000000" pitchFamily="2" charset="0"/>
              <a:ea typeface="Calibri"/>
              <a:cs typeface="Poppins" panose="00000500000000000000" pitchFamily="2" charset="0"/>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BF7F0"/>
        </a:solidFill>
        <a:effectLst/>
      </p:bgPr>
    </p:bg>
    <p:spTree>
      <p:nvGrpSpPr>
        <p:cNvPr id="1" name="Shape 206"/>
        <p:cNvGrpSpPr/>
        <p:nvPr/>
      </p:nvGrpSpPr>
      <p:grpSpPr>
        <a:xfrm>
          <a:off x="0" y="0"/>
          <a:ext cx="0" cy="0"/>
          <a:chOff x="0" y="0"/>
          <a:chExt cx="0" cy="0"/>
        </a:xfrm>
      </p:grpSpPr>
      <p:sp>
        <p:nvSpPr>
          <p:cNvPr id="207" name="Google Shape;207;p11"/>
          <p:cNvSpPr/>
          <p:nvPr/>
        </p:nvSpPr>
        <p:spPr>
          <a:xfrm>
            <a:off x="1143000" y="742900"/>
            <a:ext cx="1913917" cy="379412"/>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F0592B"/>
              </a:buClr>
              <a:buSzPts val="1800"/>
              <a:buFont typeface="Poppins"/>
              <a:buNone/>
            </a:pPr>
            <a:r>
              <a:rPr lang="en-US" sz="1800" b="1" i="0" u="none" strike="noStrike" cap="none">
                <a:solidFill>
                  <a:srgbClr val="F0592B"/>
                </a:solidFill>
                <a:latin typeface="Poppins"/>
                <a:ea typeface="Poppins"/>
                <a:cs typeface="Poppins"/>
                <a:sym typeface="Poppins"/>
              </a:rPr>
              <a:t>SECTION 08</a:t>
            </a:r>
            <a:endParaRPr sz="1800" b="0" i="0" u="none" strike="noStrike" cap="none">
              <a:solidFill>
                <a:schemeClr val="dk1"/>
              </a:solidFill>
              <a:latin typeface="Calibri"/>
              <a:ea typeface="Calibri"/>
              <a:cs typeface="Calibri"/>
              <a:sym typeface="Calibri"/>
            </a:endParaRPr>
          </a:p>
        </p:txBody>
      </p:sp>
      <p:pic>
        <p:nvPicPr>
          <p:cNvPr id="208" name="Google Shape;208;p11" descr="preencoded.png"/>
          <p:cNvPicPr preferRelativeResize="0"/>
          <p:nvPr/>
        </p:nvPicPr>
        <p:blipFill rotWithShape="1">
          <a:blip r:embed="rId3">
            <a:alphaModFix/>
          </a:blip>
          <a:srcRect/>
          <a:stretch/>
        </p:blipFill>
        <p:spPr>
          <a:xfrm>
            <a:off x="14954250" y="742900"/>
            <a:ext cx="2190750" cy="637666"/>
          </a:xfrm>
          <a:prstGeom prst="rect">
            <a:avLst/>
          </a:prstGeom>
          <a:noFill/>
          <a:ln>
            <a:noFill/>
          </a:ln>
        </p:spPr>
      </p:pic>
      <p:sp>
        <p:nvSpPr>
          <p:cNvPr id="209" name="Google Shape;209;p11"/>
          <p:cNvSpPr/>
          <p:nvPr/>
        </p:nvSpPr>
        <p:spPr>
          <a:xfrm>
            <a:off x="1143000" y="1628180"/>
            <a:ext cx="17602200" cy="757002"/>
          </a:xfrm>
          <a:prstGeom prst="rect">
            <a:avLst/>
          </a:prstGeom>
          <a:noFill/>
          <a:ln>
            <a:noFill/>
          </a:ln>
        </p:spPr>
        <p:txBody>
          <a:bodyPr spcFirstLastPara="1" wrap="square" lIns="25400" tIns="25400" rIns="25400" bIns="25400" anchor="t" anchorCtr="0">
            <a:noAutofit/>
          </a:bodyPr>
          <a:lstStyle/>
          <a:p>
            <a:pPr marL="0" marR="0" lvl="0" indent="0" algn="l" rtl="0">
              <a:lnSpc>
                <a:spcPct val="68102"/>
              </a:lnSpc>
              <a:spcBef>
                <a:spcPts val="0"/>
              </a:spcBef>
              <a:spcAft>
                <a:spcPts val="0"/>
              </a:spcAft>
              <a:buClr>
                <a:srgbClr val="2A1E16"/>
              </a:buClr>
              <a:buSzPts val="5550"/>
              <a:buFont typeface="Poppins"/>
              <a:buNone/>
            </a:pPr>
            <a:r>
              <a:rPr lang="en-US" sz="5550" b="1" i="0" u="none" strike="noStrike" cap="none">
                <a:solidFill>
                  <a:srgbClr val="2A1E16"/>
                </a:solidFill>
                <a:latin typeface="Poppins"/>
                <a:ea typeface="Poppins"/>
                <a:cs typeface="Poppins"/>
                <a:sym typeface="Poppins"/>
              </a:rPr>
              <a:t>Feature prioritisation</a:t>
            </a:r>
            <a:endParaRPr sz="5550" b="0" i="0" u="none" strike="noStrike" cap="none">
              <a:solidFill>
                <a:schemeClr val="dk1"/>
              </a:solidFill>
              <a:latin typeface="Calibri"/>
              <a:ea typeface="Calibri"/>
              <a:cs typeface="Calibri"/>
              <a:sym typeface="Calibri"/>
            </a:endParaRPr>
          </a:p>
        </p:txBody>
      </p:sp>
      <p:sp>
        <p:nvSpPr>
          <p:cNvPr id="210" name="Google Shape;210;p11"/>
          <p:cNvSpPr/>
          <p:nvPr/>
        </p:nvSpPr>
        <p:spPr>
          <a:xfrm>
            <a:off x="1143000" y="2461369"/>
            <a:ext cx="17602200" cy="442913"/>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7A6A5B"/>
              </a:buClr>
              <a:buSzPts val="2100"/>
              <a:buFont typeface="Poppins"/>
              <a:buNone/>
            </a:pPr>
            <a:r>
              <a:rPr lang="en-US" sz="2100" b="0" i="0" u="none" strike="noStrike" cap="none">
                <a:solidFill>
                  <a:srgbClr val="7A6A5B"/>
                </a:solidFill>
                <a:latin typeface="Poppins"/>
                <a:ea typeface="Poppins"/>
                <a:cs typeface="Poppins"/>
                <a:sym typeface="Poppins"/>
              </a:rPr>
              <a:t>What gets built first, and what each feature solves.</a:t>
            </a:r>
            <a:endParaRPr sz="2100" b="0" i="0" u="none" strike="noStrike" cap="none">
              <a:solidFill>
                <a:schemeClr val="dk1"/>
              </a:solidFill>
              <a:latin typeface="Calibri"/>
              <a:ea typeface="Calibri"/>
              <a:cs typeface="Calibri"/>
              <a:sym typeface="Calibri"/>
            </a:endParaRPr>
          </a:p>
        </p:txBody>
      </p:sp>
      <p:sp>
        <p:nvSpPr>
          <p:cNvPr id="211" name="Google Shape;211;p11"/>
          <p:cNvSpPr/>
          <p:nvPr/>
        </p:nvSpPr>
        <p:spPr>
          <a:xfrm>
            <a:off x="1143000" y="3113794"/>
            <a:ext cx="16002000" cy="15875"/>
          </a:xfrm>
          <a:prstGeom prst="rect">
            <a:avLst/>
          </a:prstGeom>
          <a:solidFill>
            <a:srgbClr val="E5DC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11"/>
          <p:cNvSpPr/>
          <p:nvPr/>
        </p:nvSpPr>
        <p:spPr>
          <a:xfrm>
            <a:off x="1143000" y="3358244"/>
            <a:ext cx="3960508" cy="411162"/>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F0592B"/>
              </a:buClr>
              <a:buSzPts val="1950"/>
              <a:buFont typeface="Poppins"/>
              <a:buNone/>
            </a:pPr>
            <a:r>
              <a:rPr lang="en-US" sz="1950" b="1" i="0" u="none" strike="noStrike" cap="none">
                <a:solidFill>
                  <a:srgbClr val="F0592B"/>
                </a:solidFill>
                <a:latin typeface="Poppins"/>
                <a:ea typeface="Poppins"/>
                <a:cs typeface="Poppins"/>
                <a:sym typeface="Poppins"/>
              </a:rPr>
              <a:t>MUST</a:t>
            </a:r>
            <a:endParaRPr sz="1950" b="0" i="0" u="none" strike="noStrike" cap="none">
              <a:solidFill>
                <a:schemeClr val="dk1"/>
              </a:solidFill>
              <a:latin typeface="Calibri"/>
              <a:ea typeface="Calibri"/>
              <a:cs typeface="Calibri"/>
              <a:sym typeface="Calibri"/>
            </a:endParaRPr>
          </a:p>
        </p:txBody>
      </p:sp>
      <p:sp>
        <p:nvSpPr>
          <p:cNvPr id="213" name="Google Shape;213;p11"/>
          <p:cNvSpPr/>
          <p:nvPr/>
        </p:nvSpPr>
        <p:spPr>
          <a:xfrm>
            <a:off x="5276825" y="3358244"/>
            <a:ext cx="3960508" cy="411162"/>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4A3C31"/>
              </a:buClr>
              <a:buSzPts val="1950"/>
              <a:buFont typeface="Poppins"/>
              <a:buNone/>
            </a:pPr>
            <a:r>
              <a:rPr lang="en-US" sz="1950" b="1" i="0" u="none" strike="noStrike" cap="none">
                <a:solidFill>
                  <a:srgbClr val="4A3C31"/>
                </a:solidFill>
                <a:latin typeface="Poppins"/>
                <a:ea typeface="Poppins"/>
                <a:cs typeface="Poppins"/>
                <a:sym typeface="Poppins"/>
              </a:rPr>
              <a:t>SHOULD</a:t>
            </a:r>
            <a:endParaRPr sz="1950" b="0" i="0" u="none" strike="noStrike" cap="none">
              <a:solidFill>
                <a:schemeClr val="dk1"/>
              </a:solidFill>
              <a:latin typeface="Calibri"/>
              <a:ea typeface="Calibri"/>
              <a:cs typeface="Calibri"/>
              <a:sym typeface="Calibri"/>
            </a:endParaRPr>
          </a:p>
        </p:txBody>
      </p:sp>
      <p:sp>
        <p:nvSpPr>
          <p:cNvPr id="214" name="Google Shape;214;p11"/>
          <p:cNvSpPr/>
          <p:nvPr/>
        </p:nvSpPr>
        <p:spPr>
          <a:xfrm>
            <a:off x="9410650" y="3358244"/>
            <a:ext cx="3960508" cy="411162"/>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4A3C31"/>
              </a:buClr>
              <a:buSzPts val="1950"/>
              <a:buFont typeface="Poppins"/>
              <a:buNone/>
            </a:pPr>
            <a:r>
              <a:rPr lang="en-US" sz="1950" b="1" i="0" u="none" strike="noStrike" cap="none">
                <a:solidFill>
                  <a:srgbClr val="4A3C31"/>
                </a:solidFill>
                <a:latin typeface="Poppins"/>
                <a:ea typeface="Poppins"/>
                <a:cs typeface="Poppins"/>
                <a:sym typeface="Poppins"/>
              </a:rPr>
              <a:t>COULD</a:t>
            </a:r>
            <a:endParaRPr sz="1950" b="0" i="0" u="none" strike="noStrike" cap="none">
              <a:solidFill>
                <a:schemeClr val="dk1"/>
              </a:solidFill>
              <a:latin typeface="Calibri"/>
              <a:ea typeface="Calibri"/>
              <a:cs typeface="Calibri"/>
              <a:sym typeface="Calibri"/>
            </a:endParaRPr>
          </a:p>
        </p:txBody>
      </p:sp>
      <p:sp>
        <p:nvSpPr>
          <p:cNvPr id="215" name="Google Shape;215;p11"/>
          <p:cNvSpPr/>
          <p:nvPr/>
        </p:nvSpPr>
        <p:spPr>
          <a:xfrm>
            <a:off x="13544476" y="3358244"/>
            <a:ext cx="3960577" cy="411162"/>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7A6A5B"/>
              </a:buClr>
              <a:buSzPts val="1950"/>
              <a:buFont typeface="Poppins"/>
              <a:buNone/>
            </a:pPr>
            <a:r>
              <a:rPr lang="en-US" sz="1950" b="1" i="0" u="none" strike="noStrike" cap="none">
                <a:solidFill>
                  <a:srgbClr val="7A6A5B"/>
                </a:solidFill>
                <a:latin typeface="Poppins"/>
                <a:ea typeface="Poppins"/>
                <a:cs typeface="Poppins"/>
                <a:sym typeface="Poppins"/>
              </a:rPr>
              <a:t>FUTURE</a:t>
            </a:r>
            <a:endParaRPr sz="1950" b="0" i="0" u="none" strike="noStrike" cap="none">
              <a:solidFill>
                <a:schemeClr val="dk1"/>
              </a:solidFill>
              <a:latin typeface="Calibri"/>
              <a:ea typeface="Calibri"/>
              <a:cs typeface="Calibri"/>
              <a:sym typeface="Calibri"/>
            </a:endParaRPr>
          </a:p>
        </p:txBody>
      </p:sp>
      <p:sp>
        <p:nvSpPr>
          <p:cNvPr id="216" name="Google Shape;216;p11"/>
          <p:cNvSpPr/>
          <p:nvPr/>
        </p:nvSpPr>
        <p:spPr>
          <a:xfrm>
            <a:off x="1143000" y="3883670"/>
            <a:ext cx="3600462" cy="5717542"/>
          </a:xfrm>
          <a:prstGeom prst="rect">
            <a:avLst/>
          </a:prstGeom>
          <a:solidFill>
            <a:srgbClr val="F7F1E6"/>
          </a:solidFill>
          <a:ln w="15875" cap="flat" cmpd="sng">
            <a:solidFill>
              <a:srgbClr val="DCCFBB"/>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11"/>
          <p:cNvSpPr/>
          <p:nvPr/>
        </p:nvSpPr>
        <p:spPr>
          <a:xfrm>
            <a:off x="1406488" y="4128120"/>
            <a:ext cx="3165691" cy="678061"/>
          </a:xfrm>
          <a:prstGeom prst="rect">
            <a:avLst/>
          </a:prstGeom>
          <a:noFill/>
          <a:ln>
            <a:noFill/>
          </a:ln>
        </p:spPr>
        <p:txBody>
          <a:bodyPr spcFirstLastPara="1" wrap="square" lIns="25400" tIns="25400" rIns="25400" bIns="25400" anchor="t" anchorCtr="0">
            <a:noAutofit/>
          </a:bodyPr>
          <a:lstStyle/>
          <a:p>
            <a:pPr marL="342900" marR="0" lvl="0" indent="-34290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Poppins" panose="00000500000000000000" pitchFamily="2" charset="0"/>
                <a:cs typeface="Poppins" panose="00000500000000000000" pitchFamily="2" charset="0"/>
              </a:rPr>
              <a:t>AI-powered scam/fraud detection</a:t>
            </a:r>
            <a:endParaRPr lang="en-US" altLang="en-US" sz="1800" dirty="0">
              <a:solidFill>
                <a:schemeClr val="tx1"/>
              </a:solidFill>
              <a:latin typeface="Poppins" panose="00000500000000000000" pitchFamily="2" charset="0"/>
              <a:cs typeface="Poppins" panose="00000500000000000000" pitchFamily="2" charset="0"/>
            </a:endParaRPr>
          </a:p>
          <a:p>
            <a:pPr marL="342900" marR="0" lvl="0" indent="-34290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Poppins" panose="00000500000000000000" pitchFamily="2" charset="0"/>
                <a:cs typeface="Poppins" panose="00000500000000000000" pitchFamily="2" charset="0"/>
              </a:rPr>
              <a:t>Suspicious message analysis</a:t>
            </a:r>
            <a:endParaRPr lang="en-US" altLang="en-US" sz="1800" dirty="0">
              <a:solidFill>
                <a:schemeClr val="tx1"/>
              </a:solidFill>
              <a:latin typeface="Poppins" panose="00000500000000000000" pitchFamily="2" charset="0"/>
              <a:cs typeface="Poppins" panose="00000500000000000000" pitchFamily="2" charset="0"/>
            </a:endParaRPr>
          </a:p>
          <a:p>
            <a:pPr marL="342900" marR="0" lvl="0" indent="-34290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Poppins" panose="00000500000000000000" pitchFamily="2" charset="0"/>
                <a:cs typeface="Poppins" panose="00000500000000000000" pitchFamily="2" charset="0"/>
              </a:rPr>
              <a:t>URL/link analysis</a:t>
            </a:r>
            <a:endParaRPr lang="en-US" altLang="en-US" sz="1800" dirty="0">
              <a:solidFill>
                <a:schemeClr val="tx1"/>
              </a:solidFill>
              <a:latin typeface="Poppins" panose="00000500000000000000" pitchFamily="2" charset="0"/>
              <a:cs typeface="Poppins" panose="00000500000000000000" pitchFamily="2" charset="0"/>
            </a:endParaRPr>
          </a:p>
          <a:p>
            <a:pPr marL="342900" marR="0" lvl="0" indent="-34290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Poppins" panose="00000500000000000000" pitchFamily="2" charset="0"/>
                <a:cs typeface="Poppins" panose="00000500000000000000" pitchFamily="2" charset="0"/>
              </a:rPr>
              <a:t>Risk score — Low / Medium / High / Critical</a:t>
            </a:r>
            <a:endParaRPr lang="en-US" altLang="en-US" sz="1800" dirty="0">
              <a:solidFill>
                <a:schemeClr val="tx1"/>
              </a:solidFill>
              <a:latin typeface="Poppins" panose="00000500000000000000" pitchFamily="2" charset="0"/>
              <a:cs typeface="Poppins" panose="00000500000000000000" pitchFamily="2" charset="0"/>
            </a:endParaRPr>
          </a:p>
          <a:p>
            <a:pPr marL="342900" marR="0" lvl="0" indent="-34290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Poppins" panose="00000500000000000000" pitchFamily="2" charset="0"/>
                <a:cs typeface="Poppins" panose="00000500000000000000" pitchFamily="2" charset="0"/>
              </a:rPr>
              <a:t>Simple explanation + recommended safety action </a:t>
            </a:r>
          </a:p>
          <a:p>
            <a:pPr marL="0" marR="0" lvl="0" indent="0" algn="l" rtl="0">
              <a:lnSpc>
                <a:spcPct val="93767"/>
              </a:lnSpc>
              <a:spcBef>
                <a:spcPts val="0"/>
              </a:spcBef>
              <a:spcAft>
                <a:spcPts val="0"/>
              </a:spcAft>
              <a:buClr>
                <a:srgbClr val="A3937F"/>
              </a:buClr>
              <a:buSzPts val="1800"/>
              <a:buFont typeface="Poppins"/>
              <a:buNone/>
            </a:pPr>
            <a:endParaRPr sz="1800" i="0" u="none" strike="noStrike" cap="none" dirty="0">
              <a:solidFill>
                <a:schemeClr val="dk1"/>
              </a:solidFill>
              <a:latin typeface="Calibri"/>
              <a:ea typeface="Calibri"/>
              <a:cs typeface="Calibri"/>
              <a:sym typeface="Calibri"/>
            </a:endParaRPr>
          </a:p>
        </p:txBody>
      </p:sp>
      <p:sp>
        <p:nvSpPr>
          <p:cNvPr id="219" name="Google Shape;219;p11"/>
          <p:cNvSpPr/>
          <p:nvPr/>
        </p:nvSpPr>
        <p:spPr>
          <a:xfrm>
            <a:off x="5276825" y="3883670"/>
            <a:ext cx="3600462" cy="5717542"/>
          </a:xfrm>
          <a:prstGeom prst="rect">
            <a:avLst/>
          </a:prstGeom>
          <a:solidFill>
            <a:srgbClr val="F7F1E6"/>
          </a:solidFill>
          <a:ln w="15875" cap="flat" cmpd="sng">
            <a:solidFill>
              <a:srgbClr val="DCCFBB"/>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11"/>
          <p:cNvSpPr/>
          <p:nvPr/>
        </p:nvSpPr>
        <p:spPr>
          <a:xfrm>
            <a:off x="5540313" y="4128120"/>
            <a:ext cx="3165691" cy="678061"/>
          </a:xfrm>
          <a:prstGeom prst="rect">
            <a:avLst/>
          </a:prstGeom>
          <a:noFill/>
          <a:ln>
            <a:noFill/>
          </a:ln>
        </p:spPr>
        <p:txBody>
          <a:bodyPr spcFirstLastPara="1" wrap="square" lIns="25400" tIns="25400" rIns="25400" bIns="25400" anchor="t" anchorCtr="0">
            <a:no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Screenshot/image analysis using OCR</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QR-code analysis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Payment/UPI risk assessment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Warning-sign identification</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Trusted-source verification </a:t>
            </a:r>
          </a:p>
          <a:p>
            <a:pPr marL="0" marR="0" lvl="0" indent="0" algn="l" rtl="0">
              <a:lnSpc>
                <a:spcPct val="93767"/>
              </a:lnSpc>
              <a:spcBef>
                <a:spcPts val="0"/>
              </a:spcBef>
              <a:spcAft>
                <a:spcPts val="0"/>
              </a:spcAft>
              <a:buClr>
                <a:srgbClr val="A3937F"/>
              </a:buClr>
              <a:buSzPts val="1800"/>
              <a:buFont typeface="Poppins"/>
              <a:buNone/>
            </a:pPr>
            <a:endParaRPr sz="1800" b="0" i="0" u="none" strike="noStrike" cap="none" dirty="0">
              <a:solidFill>
                <a:schemeClr val="dk1"/>
              </a:solidFill>
              <a:latin typeface="Calibri"/>
              <a:ea typeface="Calibri"/>
              <a:cs typeface="Calibri"/>
              <a:sym typeface="Calibri"/>
            </a:endParaRPr>
          </a:p>
        </p:txBody>
      </p:sp>
      <p:sp>
        <p:nvSpPr>
          <p:cNvPr id="221" name="Google Shape;221;p11"/>
          <p:cNvSpPr/>
          <p:nvPr/>
        </p:nvSpPr>
        <p:spPr>
          <a:xfrm>
            <a:off x="9410650" y="3883670"/>
            <a:ext cx="3600462" cy="5717542"/>
          </a:xfrm>
          <a:prstGeom prst="rect">
            <a:avLst/>
          </a:prstGeom>
          <a:solidFill>
            <a:srgbClr val="F7F1E6"/>
          </a:solidFill>
          <a:ln w="15875" cap="flat" cmpd="sng">
            <a:solidFill>
              <a:srgbClr val="DCCFBB"/>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11"/>
          <p:cNvSpPr/>
          <p:nvPr/>
        </p:nvSpPr>
        <p:spPr>
          <a:xfrm>
            <a:off x="9674138" y="4128120"/>
            <a:ext cx="3380835" cy="358080"/>
          </a:xfrm>
          <a:prstGeom prst="rect">
            <a:avLst/>
          </a:prstGeom>
          <a:noFill/>
          <a:ln>
            <a:noFill/>
          </a:ln>
        </p:spPr>
        <p:txBody>
          <a:bodyPr spcFirstLastPara="1" wrap="square" lIns="25400" tIns="25400" rIns="25400" bIns="25400" anchor="t" anchorCtr="0">
            <a:no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Document analysis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Family/caretaker assistance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Voice-based interaction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1800" dirty="0">
                <a:solidFill>
                  <a:schemeClr val="tx1"/>
                </a:solidFill>
                <a:latin typeface="Poppins" panose="00000500000000000000" pitchFamily="2" charset="0"/>
                <a:cs typeface="Poppins" panose="00000500000000000000" pitchFamily="2" charset="0"/>
              </a:rPr>
              <a:t>Digital arrest savior</a:t>
            </a:r>
          </a:p>
          <a:p>
            <a:pPr marR="0" lvl="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Poppins" panose="00000500000000000000" pitchFamily="2" charset="0"/>
              <a:cs typeface="Poppins" panose="00000500000000000000" pitchFamily="2" charset="0"/>
            </a:endParaRPr>
          </a:p>
          <a:p>
            <a:pPr marL="0" marR="0" lvl="0" indent="0" algn="l" rtl="0">
              <a:lnSpc>
                <a:spcPct val="93767"/>
              </a:lnSpc>
              <a:spcBef>
                <a:spcPts val="0"/>
              </a:spcBef>
              <a:spcAft>
                <a:spcPts val="0"/>
              </a:spcAft>
              <a:buClr>
                <a:srgbClr val="A3937F"/>
              </a:buClr>
              <a:buSzPts val="1800"/>
              <a:buFont typeface="Poppins"/>
              <a:buNone/>
            </a:pPr>
            <a:endParaRPr sz="1800" b="0" i="0" u="none" strike="noStrike" cap="none" dirty="0">
              <a:solidFill>
                <a:schemeClr val="dk1"/>
              </a:solidFill>
              <a:latin typeface="Calibri"/>
              <a:ea typeface="Calibri"/>
              <a:cs typeface="Calibri"/>
              <a:sym typeface="Calibri"/>
            </a:endParaRPr>
          </a:p>
        </p:txBody>
      </p:sp>
      <p:sp>
        <p:nvSpPr>
          <p:cNvPr id="223" name="Google Shape;223;p11"/>
          <p:cNvSpPr/>
          <p:nvPr/>
        </p:nvSpPr>
        <p:spPr>
          <a:xfrm>
            <a:off x="13544476" y="3883670"/>
            <a:ext cx="3600524" cy="5717542"/>
          </a:xfrm>
          <a:prstGeom prst="rect">
            <a:avLst/>
          </a:prstGeom>
          <a:solidFill>
            <a:srgbClr val="F7F1E6"/>
          </a:solidFill>
          <a:ln w="15875" cap="flat" cmpd="sng">
            <a:solidFill>
              <a:srgbClr val="DCCFBB"/>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11"/>
          <p:cNvSpPr/>
          <p:nvPr/>
        </p:nvSpPr>
        <p:spPr>
          <a:xfrm>
            <a:off x="13807963" y="4128120"/>
            <a:ext cx="3165755" cy="678061"/>
          </a:xfrm>
          <a:prstGeom prst="rect">
            <a:avLst/>
          </a:prstGeom>
          <a:noFill/>
          <a:ln>
            <a:noFill/>
          </a:ln>
        </p:spPr>
        <p:txBody>
          <a:bodyPr spcFirstLastPara="1" wrap="square" lIns="25400" tIns="25400" rIns="25400" bIns="25400" anchor="t" anchorCtr="0">
            <a:no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Advanced real-time scam intelligence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Broader digital-service integration</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Personalized continuous protection</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Advanced call/voice scam analysis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1800" dirty="0">
                <a:solidFill>
                  <a:schemeClr val="tx1"/>
                </a:solidFill>
                <a:latin typeface="Poppins" panose="00000500000000000000" pitchFamily="2" charset="0"/>
                <a:cs typeface="Poppins" panose="00000500000000000000" pitchFamily="2" charset="0"/>
              </a:rPr>
              <a:t>Information sharing among user’s close aides by cautioning them about possible fraud using WhatsApp. </a:t>
            </a:r>
            <a:endParaRPr kumimoji="0" lang="en-US" altLang="en-US" sz="1800" b="0" i="0" u="none" strike="noStrike" cap="none" normalizeH="0" baseline="0" dirty="0">
              <a:ln>
                <a:noFill/>
              </a:ln>
              <a:solidFill>
                <a:schemeClr val="tx1"/>
              </a:solidFill>
              <a:effectLst/>
              <a:latin typeface="Poppins" panose="00000500000000000000" pitchFamily="2" charset="0"/>
              <a:cs typeface="Poppins" panose="00000500000000000000" pitchFamily="2" charset="0"/>
            </a:endParaRPr>
          </a:p>
          <a:p>
            <a:pPr marL="0" marR="0" lvl="0" indent="0" algn="l" rtl="0">
              <a:lnSpc>
                <a:spcPct val="93767"/>
              </a:lnSpc>
              <a:spcBef>
                <a:spcPts val="0"/>
              </a:spcBef>
              <a:spcAft>
                <a:spcPts val="0"/>
              </a:spcAft>
              <a:buClr>
                <a:srgbClr val="A3937F"/>
              </a:buClr>
              <a:buSzPts val="1800"/>
              <a:buFont typeface="Poppins"/>
              <a:buNone/>
            </a:pPr>
            <a:endParaRPr sz="1800"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BF7F0"/>
        </a:solidFill>
        <a:effectLst/>
      </p:bgPr>
    </p:bg>
    <p:spTree>
      <p:nvGrpSpPr>
        <p:cNvPr id="1" name="Shape 229"/>
        <p:cNvGrpSpPr/>
        <p:nvPr/>
      </p:nvGrpSpPr>
      <p:grpSpPr>
        <a:xfrm>
          <a:off x="0" y="0"/>
          <a:ext cx="0" cy="0"/>
          <a:chOff x="0" y="0"/>
          <a:chExt cx="0" cy="0"/>
        </a:xfrm>
      </p:grpSpPr>
      <p:sp>
        <p:nvSpPr>
          <p:cNvPr id="230" name="Google Shape;230;p12"/>
          <p:cNvSpPr/>
          <p:nvPr/>
        </p:nvSpPr>
        <p:spPr>
          <a:xfrm>
            <a:off x="1143000" y="742900"/>
            <a:ext cx="1909620" cy="379412"/>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F0592B"/>
              </a:buClr>
              <a:buSzPts val="1800"/>
              <a:buFont typeface="Poppins"/>
              <a:buNone/>
            </a:pPr>
            <a:r>
              <a:rPr lang="en-US" sz="1800" b="1" i="0" u="none" strike="noStrike" cap="none">
                <a:solidFill>
                  <a:srgbClr val="F0592B"/>
                </a:solidFill>
                <a:latin typeface="Poppins"/>
                <a:ea typeface="Poppins"/>
                <a:cs typeface="Poppins"/>
                <a:sym typeface="Poppins"/>
              </a:rPr>
              <a:t>SECTION 09</a:t>
            </a:r>
            <a:endParaRPr sz="1800" b="0" i="0" u="none" strike="noStrike" cap="none">
              <a:solidFill>
                <a:schemeClr val="dk1"/>
              </a:solidFill>
              <a:latin typeface="Calibri"/>
              <a:ea typeface="Calibri"/>
              <a:cs typeface="Calibri"/>
              <a:sym typeface="Calibri"/>
            </a:endParaRPr>
          </a:p>
        </p:txBody>
      </p:sp>
      <p:pic>
        <p:nvPicPr>
          <p:cNvPr id="231" name="Google Shape;231;p12" descr="preencoded.png"/>
          <p:cNvPicPr preferRelativeResize="0"/>
          <p:nvPr/>
        </p:nvPicPr>
        <p:blipFill rotWithShape="1">
          <a:blip r:embed="rId3">
            <a:alphaModFix/>
          </a:blip>
          <a:srcRect/>
          <a:stretch/>
        </p:blipFill>
        <p:spPr>
          <a:xfrm>
            <a:off x="14954250" y="742900"/>
            <a:ext cx="2190750" cy="637666"/>
          </a:xfrm>
          <a:prstGeom prst="rect">
            <a:avLst/>
          </a:prstGeom>
          <a:noFill/>
          <a:ln>
            <a:noFill/>
          </a:ln>
        </p:spPr>
      </p:pic>
      <p:sp>
        <p:nvSpPr>
          <p:cNvPr id="232" name="Google Shape;232;p12"/>
          <p:cNvSpPr/>
          <p:nvPr/>
        </p:nvSpPr>
        <p:spPr>
          <a:xfrm>
            <a:off x="1143000" y="1628180"/>
            <a:ext cx="17602200" cy="757002"/>
          </a:xfrm>
          <a:prstGeom prst="rect">
            <a:avLst/>
          </a:prstGeom>
          <a:noFill/>
          <a:ln>
            <a:noFill/>
          </a:ln>
        </p:spPr>
        <p:txBody>
          <a:bodyPr spcFirstLastPara="1" wrap="square" lIns="25400" tIns="25400" rIns="25400" bIns="25400" anchor="t" anchorCtr="0">
            <a:noAutofit/>
          </a:bodyPr>
          <a:lstStyle/>
          <a:p>
            <a:pPr marL="0" marR="0" lvl="0" indent="0" algn="l" rtl="0">
              <a:lnSpc>
                <a:spcPct val="68102"/>
              </a:lnSpc>
              <a:spcBef>
                <a:spcPts val="0"/>
              </a:spcBef>
              <a:spcAft>
                <a:spcPts val="0"/>
              </a:spcAft>
              <a:buClr>
                <a:srgbClr val="2A1E16"/>
              </a:buClr>
              <a:buSzPts val="5550"/>
              <a:buFont typeface="Poppins"/>
              <a:buNone/>
            </a:pPr>
            <a:r>
              <a:rPr lang="en-US" sz="5550" b="1" i="0" u="none" strike="noStrike" cap="none">
                <a:solidFill>
                  <a:srgbClr val="2A1E16"/>
                </a:solidFill>
                <a:latin typeface="Poppins"/>
                <a:ea typeface="Poppins"/>
                <a:cs typeface="Poppins"/>
                <a:sym typeface="Poppins"/>
              </a:rPr>
              <a:t>MVP definition</a:t>
            </a:r>
            <a:endParaRPr sz="5550" b="0" i="0" u="none" strike="noStrike" cap="none">
              <a:solidFill>
                <a:schemeClr val="dk1"/>
              </a:solidFill>
              <a:latin typeface="Calibri"/>
              <a:ea typeface="Calibri"/>
              <a:cs typeface="Calibri"/>
              <a:sym typeface="Calibri"/>
            </a:endParaRPr>
          </a:p>
        </p:txBody>
      </p:sp>
      <p:sp>
        <p:nvSpPr>
          <p:cNvPr id="233" name="Google Shape;233;p12"/>
          <p:cNvSpPr/>
          <p:nvPr/>
        </p:nvSpPr>
        <p:spPr>
          <a:xfrm>
            <a:off x="1143000" y="2461369"/>
            <a:ext cx="17602200" cy="442913"/>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7A6A5B"/>
              </a:buClr>
              <a:buSzPts val="2100"/>
              <a:buFont typeface="Poppins"/>
              <a:buNone/>
            </a:pPr>
            <a:r>
              <a:rPr lang="en-US" sz="2100" b="0" i="0" u="none" strike="noStrike" cap="none" dirty="0">
                <a:solidFill>
                  <a:srgbClr val="7A6A5B"/>
                </a:solidFill>
                <a:latin typeface="Poppins"/>
                <a:ea typeface="Poppins"/>
                <a:cs typeface="Poppins"/>
                <a:sym typeface="Poppins"/>
              </a:rPr>
              <a:t>Target user, core problem, proposed solution, must-haves, and what you are not building.</a:t>
            </a:r>
            <a:endParaRPr sz="2100" b="0" i="0" u="none" strike="noStrike" cap="none" dirty="0">
              <a:solidFill>
                <a:schemeClr val="dk1"/>
              </a:solidFill>
              <a:latin typeface="Calibri"/>
              <a:ea typeface="Calibri"/>
              <a:cs typeface="Calibri"/>
              <a:sym typeface="Calibri"/>
            </a:endParaRPr>
          </a:p>
        </p:txBody>
      </p:sp>
      <p:sp>
        <p:nvSpPr>
          <p:cNvPr id="234" name="Google Shape;234;p12"/>
          <p:cNvSpPr/>
          <p:nvPr/>
        </p:nvSpPr>
        <p:spPr>
          <a:xfrm>
            <a:off x="1143000" y="3113794"/>
            <a:ext cx="16002000" cy="15875"/>
          </a:xfrm>
          <a:prstGeom prst="rect">
            <a:avLst/>
          </a:prstGeom>
          <a:solidFill>
            <a:srgbClr val="E5DC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12"/>
          <p:cNvSpPr/>
          <p:nvPr/>
        </p:nvSpPr>
        <p:spPr>
          <a:xfrm>
            <a:off x="1143000" y="3358244"/>
            <a:ext cx="3185133" cy="379412"/>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F0592B"/>
              </a:buClr>
              <a:buSzPts val="1800"/>
              <a:buFont typeface="Poppins"/>
              <a:buNone/>
            </a:pPr>
            <a:r>
              <a:rPr lang="en-US" sz="1800" b="1" i="0" u="none" strike="noStrike" cap="none">
                <a:solidFill>
                  <a:srgbClr val="F0592B"/>
                </a:solidFill>
                <a:latin typeface="Poppins"/>
                <a:ea typeface="Poppins"/>
                <a:cs typeface="Poppins"/>
                <a:sym typeface="Poppins"/>
              </a:rPr>
              <a:t>Target user</a:t>
            </a:r>
            <a:endParaRPr sz="1800" b="0" i="0" u="none" strike="noStrike" cap="none">
              <a:solidFill>
                <a:schemeClr val="dk1"/>
              </a:solidFill>
              <a:latin typeface="Calibri"/>
              <a:ea typeface="Calibri"/>
              <a:cs typeface="Calibri"/>
              <a:sym typeface="Calibri"/>
            </a:endParaRPr>
          </a:p>
        </p:txBody>
      </p:sp>
      <p:sp>
        <p:nvSpPr>
          <p:cNvPr id="236" name="Google Shape;236;p12"/>
          <p:cNvSpPr/>
          <p:nvPr/>
        </p:nvSpPr>
        <p:spPr>
          <a:xfrm>
            <a:off x="4419575" y="3358244"/>
            <a:ext cx="3185133" cy="379412"/>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F0592B"/>
              </a:buClr>
              <a:buSzPts val="1800"/>
              <a:buFont typeface="Poppins"/>
              <a:buNone/>
            </a:pPr>
            <a:r>
              <a:rPr lang="en-US" sz="1800" b="1" i="0" u="none" strike="noStrike" cap="none">
                <a:solidFill>
                  <a:srgbClr val="F0592B"/>
                </a:solidFill>
                <a:latin typeface="Poppins"/>
                <a:ea typeface="Poppins"/>
                <a:cs typeface="Poppins"/>
                <a:sym typeface="Poppins"/>
              </a:rPr>
              <a:t>Core problem</a:t>
            </a:r>
            <a:endParaRPr sz="1800" b="0" i="0" u="none" strike="noStrike" cap="none">
              <a:solidFill>
                <a:schemeClr val="dk1"/>
              </a:solidFill>
              <a:latin typeface="Calibri"/>
              <a:ea typeface="Calibri"/>
              <a:cs typeface="Calibri"/>
              <a:sym typeface="Calibri"/>
            </a:endParaRPr>
          </a:p>
        </p:txBody>
      </p:sp>
      <p:sp>
        <p:nvSpPr>
          <p:cNvPr id="237" name="Google Shape;237;p12"/>
          <p:cNvSpPr/>
          <p:nvPr/>
        </p:nvSpPr>
        <p:spPr>
          <a:xfrm>
            <a:off x="7696150" y="3358244"/>
            <a:ext cx="3185201" cy="379412"/>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F0592B"/>
              </a:buClr>
              <a:buSzPts val="1800"/>
              <a:buFont typeface="Poppins"/>
              <a:buNone/>
            </a:pPr>
            <a:r>
              <a:rPr lang="en-US" sz="1800" b="1" i="0" u="none" strike="noStrike" cap="none">
                <a:solidFill>
                  <a:srgbClr val="F0592B"/>
                </a:solidFill>
                <a:latin typeface="Poppins"/>
                <a:ea typeface="Poppins"/>
                <a:cs typeface="Poppins"/>
                <a:sym typeface="Poppins"/>
              </a:rPr>
              <a:t>Proposed solution</a:t>
            </a:r>
            <a:endParaRPr sz="1800" b="0" i="0" u="none" strike="noStrike" cap="none">
              <a:solidFill>
                <a:schemeClr val="dk1"/>
              </a:solidFill>
              <a:latin typeface="Calibri"/>
              <a:ea typeface="Calibri"/>
              <a:cs typeface="Calibri"/>
              <a:sym typeface="Calibri"/>
            </a:endParaRPr>
          </a:p>
        </p:txBody>
      </p:sp>
      <p:sp>
        <p:nvSpPr>
          <p:cNvPr id="238" name="Google Shape;238;p12"/>
          <p:cNvSpPr/>
          <p:nvPr/>
        </p:nvSpPr>
        <p:spPr>
          <a:xfrm>
            <a:off x="10972787" y="3358244"/>
            <a:ext cx="3185133" cy="379412"/>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F0592B"/>
              </a:buClr>
              <a:buSzPts val="1800"/>
              <a:buFont typeface="Poppins"/>
              <a:buNone/>
            </a:pPr>
            <a:r>
              <a:rPr lang="en-US" sz="1800" b="1" i="0" u="none" strike="noStrike" cap="none">
                <a:solidFill>
                  <a:srgbClr val="F0592B"/>
                </a:solidFill>
                <a:latin typeface="Poppins"/>
                <a:ea typeface="Poppins"/>
                <a:cs typeface="Poppins"/>
                <a:sym typeface="Poppins"/>
              </a:rPr>
              <a:t>Must-have features</a:t>
            </a:r>
            <a:endParaRPr sz="1800" b="0" i="0" u="none" strike="noStrike" cap="none">
              <a:solidFill>
                <a:schemeClr val="dk1"/>
              </a:solidFill>
              <a:latin typeface="Calibri"/>
              <a:ea typeface="Calibri"/>
              <a:cs typeface="Calibri"/>
              <a:sym typeface="Calibri"/>
            </a:endParaRPr>
          </a:p>
        </p:txBody>
      </p:sp>
      <p:sp>
        <p:nvSpPr>
          <p:cNvPr id="239" name="Google Shape;239;p12"/>
          <p:cNvSpPr/>
          <p:nvPr/>
        </p:nvSpPr>
        <p:spPr>
          <a:xfrm>
            <a:off x="14249363" y="3358244"/>
            <a:ext cx="3185133" cy="379412"/>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7A6A5B"/>
              </a:buClr>
              <a:buSzPts val="1800"/>
              <a:buFont typeface="Poppins"/>
              <a:buNone/>
            </a:pPr>
            <a:r>
              <a:rPr lang="en-US" sz="1800" b="1" i="0" u="none" strike="noStrike" cap="none">
                <a:solidFill>
                  <a:srgbClr val="7A6A5B"/>
                </a:solidFill>
                <a:latin typeface="Poppins"/>
                <a:ea typeface="Poppins"/>
                <a:cs typeface="Poppins"/>
                <a:sym typeface="Poppins"/>
              </a:rPr>
              <a:t>Not building</a:t>
            </a:r>
            <a:endParaRPr sz="1800" b="0" i="0" u="none" strike="noStrike" cap="none">
              <a:solidFill>
                <a:schemeClr val="dk1"/>
              </a:solidFill>
              <a:latin typeface="Calibri"/>
              <a:ea typeface="Calibri"/>
              <a:cs typeface="Calibri"/>
              <a:sym typeface="Calibri"/>
            </a:endParaRPr>
          </a:p>
        </p:txBody>
      </p:sp>
      <p:sp>
        <p:nvSpPr>
          <p:cNvPr id="240" name="Google Shape;240;p12"/>
          <p:cNvSpPr/>
          <p:nvPr/>
        </p:nvSpPr>
        <p:spPr>
          <a:xfrm>
            <a:off x="1143000" y="3851920"/>
            <a:ext cx="2895575" cy="5749292"/>
          </a:xfrm>
          <a:prstGeom prst="rect">
            <a:avLst/>
          </a:prstGeom>
          <a:solidFill>
            <a:srgbClr val="F7F1E6"/>
          </a:solidFill>
          <a:ln w="15875" cap="flat" cmpd="sng">
            <a:solidFill>
              <a:srgbClr val="DCCFBB"/>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2"/>
          <p:cNvSpPr/>
          <p:nvPr/>
        </p:nvSpPr>
        <p:spPr>
          <a:xfrm>
            <a:off x="1406488" y="4096370"/>
            <a:ext cx="2444800" cy="678061"/>
          </a:xfrm>
          <a:prstGeom prst="rect">
            <a:avLst/>
          </a:prstGeom>
          <a:noFill/>
          <a:ln>
            <a:noFill/>
          </a:ln>
        </p:spPr>
        <p:txBody>
          <a:bodyPr spcFirstLastPara="1" wrap="square" lIns="25400" tIns="25400" rIns="25400" bIns="25400" anchor="t" anchorCtr="0">
            <a:noAutofit/>
          </a:bodyPr>
          <a:lstStyle/>
          <a:p>
            <a:pPr marL="285750" marR="0" lvl="0" indent="-285750" algn="l" rtl="0">
              <a:lnSpc>
                <a:spcPct val="93767"/>
              </a:lnSpc>
              <a:spcBef>
                <a:spcPts val="0"/>
              </a:spcBef>
              <a:spcAft>
                <a:spcPts val="0"/>
              </a:spcAft>
              <a:buClr>
                <a:srgbClr val="A3937F"/>
              </a:buClr>
              <a:buSzPts val="1800"/>
              <a:buFont typeface="Arial" panose="020B0604020202020204" pitchFamily="34" charset="0"/>
              <a:buChar char="•"/>
            </a:pPr>
            <a:r>
              <a:rPr lang="en-US" sz="1800" dirty="0">
                <a:latin typeface="Poppins" panose="00000500000000000000" pitchFamily="2" charset="0"/>
                <a:cs typeface="Poppins" panose="00000500000000000000" pitchFamily="2" charset="0"/>
              </a:rPr>
              <a:t>Senior citizens and users aged 50+ and digitally active but less tech-confident users in India.</a:t>
            </a:r>
            <a:endParaRPr sz="1800" b="0" i="0" u="none" strike="noStrike" cap="none" dirty="0">
              <a:solidFill>
                <a:schemeClr val="dk1"/>
              </a:solidFill>
              <a:latin typeface="Poppins" panose="00000500000000000000" pitchFamily="2" charset="0"/>
              <a:ea typeface="Calibri"/>
              <a:cs typeface="Poppins" panose="00000500000000000000" pitchFamily="2" charset="0"/>
              <a:sym typeface="Calibri"/>
            </a:endParaRPr>
          </a:p>
        </p:txBody>
      </p:sp>
      <p:sp>
        <p:nvSpPr>
          <p:cNvPr id="242" name="Google Shape;242;p12"/>
          <p:cNvSpPr/>
          <p:nvPr/>
        </p:nvSpPr>
        <p:spPr>
          <a:xfrm>
            <a:off x="4419575" y="3851920"/>
            <a:ext cx="2895575" cy="5749292"/>
          </a:xfrm>
          <a:prstGeom prst="rect">
            <a:avLst/>
          </a:prstGeom>
          <a:solidFill>
            <a:srgbClr val="F7F1E6"/>
          </a:solidFill>
          <a:ln w="15875" cap="flat" cmpd="sng">
            <a:solidFill>
              <a:srgbClr val="DCCFBB"/>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12"/>
          <p:cNvSpPr/>
          <p:nvPr/>
        </p:nvSpPr>
        <p:spPr>
          <a:xfrm>
            <a:off x="4683063" y="4096370"/>
            <a:ext cx="2444800" cy="678061"/>
          </a:xfrm>
          <a:prstGeom prst="rect">
            <a:avLst/>
          </a:prstGeom>
          <a:noFill/>
          <a:ln>
            <a:noFill/>
          </a:ln>
        </p:spPr>
        <p:txBody>
          <a:bodyPr spcFirstLastPara="1" wrap="square" lIns="25400" tIns="25400" rIns="25400" bIns="25400" anchor="t" anchorCtr="0">
            <a:noAutofit/>
          </a:bodyPr>
          <a:lstStyle/>
          <a:p>
            <a:pPr marL="285750" marR="0" lvl="0" indent="-285750" algn="l" rtl="0">
              <a:lnSpc>
                <a:spcPct val="93767"/>
              </a:lnSpc>
              <a:spcBef>
                <a:spcPts val="0"/>
              </a:spcBef>
              <a:spcAft>
                <a:spcPts val="0"/>
              </a:spcAft>
              <a:buClr>
                <a:srgbClr val="A3937F"/>
              </a:buClr>
              <a:buSzPts val="1800"/>
              <a:buFont typeface="Arial" panose="020B0604020202020204" pitchFamily="34" charset="0"/>
              <a:buChar char="•"/>
            </a:pPr>
            <a:r>
              <a:rPr lang="en-US" sz="1800" dirty="0">
                <a:latin typeface="Poppins" panose="00000500000000000000" pitchFamily="2" charset="0"/>
                <a:cs typeface="Poppins" panose="00000500000000000000" pitchFamily="2" charset="0"/>
              </a:rPr>
              <a:t>Users struggle to determine whether suspicious digital communications, links, QR codes and payment requests are genuine or fraudulent before acting.</a:t>
            </a:r>
            <a:endParaRPr sz="1800" b="0" i="0" u="none" strike="noStrike" cap="none" dirty="0">
              <a:solidFill>
                <a:schemeClr val="dk1"/>
              </a:solidFill>
              <a:latin typeface="Poppins" panose="00000500000000000000" pitchFamily="2" charset="0"/>
              <a:ea typeface="Calibri"/>
              <a:cs typeface="Poppins" panose="00000500000000000000" pitchFamily="2" charset="0"/>
              <a:sym typeface="Calibri"/>
            </a:endParaRPr>
          </a:p>
        </p:txBody>
      </p:sp>
      <p:sp>
        <p:nvSpPr>
          <p:cNvPr id="244" name="Google Shape;244;p12"/>
          <p:cNvSpPr/>
          <p:nvPr/>
        </p:nvSpPr>
        <p:spPr>
          <a:xfrm>
            <a:off x="7696150" y="3851920"/>
            <a:ext cx="2895637" cy="5749292"/>
          </a:xfrm>
          <a:prstGeom prst="rect">
            <a:avLst/>
          </a:prstGeom>
          <a:solidFill>
            <a:srgbClr val="F7F1E6"/>
          </a:solidFill>
          <a:ln w="15875" cap="flat" cmpd="sng">
            <a:solidFill>
              <a:srgbClr val="DCCFBB"/>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12"/>
          <p:cNvSpPr/>
          <p:nvPr/>
        </p:nvSpPr>
        <p:spPr>
          <a:xfrm>
            <a:off x="7959638" y="4096370"/>
            <a:ext cx="2444862" cy="678061"/>
          </a:xfrm>
          <a:prstGeom prst="rect">
            <a:avLst/>
          </a:prstGeom>
          <a:noFill/>
          <a:ln>
            <a:noFill/>
          </a:ln>
        </p:spPr>
        <p:txBody>
          <a:bodyPr spcFirstLastPara="1" wrap="square" lIns="25400" tIns="25400" rIns="25400" bIns="25400" anchor="t" anchorCtr="0">
            <a:noAutofit/>
          </a:bodyPr>
          <a:lstStyle/>
          <a:p>
            <a:pPr marL="285750" marR="0" lvl="0" indent="-285750" algn="l" rtl="0">
              <a:lnSpc>
                <a:spcPct val="93767"/>
              </a:lnSpc>
              <a:spcBef>
                <a:spcPts val="0"/>
              </a:spcBef>
              <a:spcAft>
                <a:spcPts val="0"/>
              </a:spcAft>
              <a:buClr>
                <a:srgbClr val="A3937F"/>
              </a:buClr>
              <a:buSzPts val="1800"/>
              <a:buFont typeface="Arial" panose="020B0604020202020204" pitchFamily="34" charset="0"/>
              <a:buChar char="•"/>
            </a:pPr>
            <a:r>
              <a:rPr lang="en-US" sz="1800" dirty="0">
                <a:latin typeface="Poppins" panose="00000500000000000000" pitchFamily="2" charset="0"/>
                <a:cs typeface="Poppins" panose="00000500000000000000" pitchFamily="2" charset="0"/>
              </a:rPr>
              <a:t>An AI-powered Digital assistant where users can check suspicious digital content and receive a risk assessment, explanation of warning signs along with a  recommended safety action.</a:t>
            </a:r>
            <a:endParaRPr sz="1800" b="0" i="0" u="none" strike="noStrike" cap="none" dirty="0">
              <a:solidFill>
                <a:schemeClr val="dk1"/>
              </a:solidFill>
              <a:latin typeface="Poppins" panose="00000500000000000000" pitchFamily="2" charset="0"/>
              <a:ea typeface="Calibri"/>
              <a:cs typeface="Poppins" panose="00000500000000000000" pitchFamily="2" charset="0"/>
              <a:sym typeface="Calibri"/>
            </a:endParaRPr>
          </a:p>
        </p:txBody>
      </p:sp>
      <p:sp>
        <p:nvSpPr>
          <p:cNvPr id="246" name="Google Shape;246;p12"/>
          <p:cNvSpPr/>
          <p:nvPr/>
        </p:nvSpPr>
        <p:spPr>
          <a:xfrm>
            <a:off x="10972787" y="3851920"/>
            <a:ext cx="2895575" cy="5749292"/>
          </a:xfrm>
          <a:prstGeom prst="rect">
            <a:avLst/>
          </a:prstGeom>
          <a:solidFill>
            <a:srgbClr val="F7F1E6"/>
          </a:solidFill>
          <a:ln w="15875" cap="flat" cmpd="sng">
            <a:solidFill>
              <a:srgbClr val="DCCFBB"/>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2"/>
          <p:cNvSpPr/>
          <p:nvPr/>
        </p:nvSpPr>
        <p:spPr>
          <a:xfrm>
            <a:off x="11236275" y="4096370"/>
            <a:ext cx="2444800" cy="4562450"/>
          </a:xfrm>
          <a:prstGeom prst="rect">
            <a:avLst/>
          </a:prstGeom>
          <a:noFill/>
          <a:ln>
            <a:noFill/>
          </a:ln>
        </p:spPr>
        <p:txBody>
          <a:bodyPr spcFirstLastPara="1" wrap="square" lIns="25400" tIns="25400" rIns="25400" bIns="25400" anchor="t" anchorCtr="0">
            <a:no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1800" dirty="0">
                <a:solidFill>
                  <a:schemeClr val="tx1"/>
                </a:solidFill>
                <a:latin typeface="Poppins" panose="00000500000000000000" pitchFamily="2" charset="0"/>
                <a:cs typeface="Poppins" panose="00000500000000000000" pitchFamily="2" charset="0"/>
              </a:rPr>
              <a:t>S</a:t>
            </a:r>
            <a:r>
              <a:rPr kumimoji="0" lang="en-US" altLang="en-US" sz="18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creenshot / Message </a:t>
            </a:r>
            <a:r>
              <a:rPr lang="en-US" altLang="en-US" sz="1800" dirty="0">
                <a:solidFill>
                  <a:schemeClr val="tx1"/>
                </a:solidFill>
                <a:latin typeface="Poppins" panose="00000500000000000000" pitchFamily="2" charset="0"/>
                <a:cs typeface="Poppins" panose="00000500000000000000" pitchFamily="2" charset="0"/>
              </a:rPr>
              <a:t>text received.</a:t>
            </a:r>
            <a:endParaRPr kumimoji="0" lang="en-US" altLang="en-US" sz="1800" b="0" i="0" u="none" strike="noStrike" cap="none" normalizeH="0" baseline="0" dirty="0">
              <a:ln>
                <a:noFill/>
              </a:ln>
              <a:solidFill>
                <a:schemeClr val="tx1"/>
              </a:solidFill>
              <a:effectLst/>
              <a:latin typeface="Poppins" panose="00000500000000000000" pitchFamily="2" charset="0"/>
              <a:cs typeface="Poppins" panose="00000500000000000000" pitchFamily="2"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URL analysis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Risk level: Low / Medium / High / Critical</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Explanation of detected warning signs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Recommended safety actions for both pre and post actions.</a:t>
            </a:r>
          </a:p>
          <a:p>
            <a:pPr marL="0" marR="0" lvl="0" indent="0" algn="l" rtl="0">
              <a:lnSpc>
                <a:spcPct val="93767"/>
              </a:lnSpc>
              <a:spcBef>
                <a:spcPts val="0"/>
              </a:spcBef>
              <a:spcAft>
                <a:spcPts val="0"/>
              </a:spcAft>
              <a:buClr>
                <a:srgbClr val="A3937F"/>
              </a:buClr>
              <a:buSzPts val="1800"/>
              <a:buFont typeface="Poppins"/>
              <a:buNone/>
            </a:pPr>
            <a:endParaRPr sz="1800" b="0" i="0" u="none" strike="noStrike" cap="none" dirty="0">
              <a:solidFill>
                <a:schemeClr val="dk1"/>
              </a:solidFill>
              <a:latin typeface="Calibri"/>
              <a:ea typeface="Calibri"/>
              <a:cs typeface="Calibri"/>
              <a:sym typeface="Calibri"/>
            </a:endParaRPr>
          </a:p>
        </p:txBody>
      </p:sp>
      <p:sp>
        <p:nvSpPr>
          <p:cNvPr id="248" name="Google Shape;248;p12"/>
          <p:cNvSpPr/>
          <p:nvPr/>
        </p:nvSpPr>
        <p:spPr>
          <a:xfrm>
            <a:off x="14249363" y="3851920"/>
            <a:ext cx="2895575" cy="5749292"/>
          </a:xfrm>
          <a:prstGeom prst="rect">
            <a:avLst/>
          </a:prstGeom>
          <a:solidFill>
            <a:srgbClr val="F7F1E6"/>
          </a:solidFill>
          <a:ln w="15875" cap="flat" cmpd="sng">
            <a:solidFill>
              <a:srgbClr val="DCCFBB"/>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12"/>
          <p:cNvSpPr/>
          <p:nvPr/>
        </p:nvSpPr>
        <p:spPr>
          <a:xfrm>
            <a:off x="14512850" y="4096370"/>
            <a:ext cx="2444800" cy="998041"/>
          </a:xfrm>
          <a:prstGeom prst="rect">
            <a:avLst/>
          </a:prstGeom>
          <a:noFill/>
          <a:ln>
            <a:noFill/>
          </a:ln>
        </p:spPr>
        <p:txBody>
          <a:bodyPr spcFirstLastPara="1" wrap="square" lIns="25400" tIns="25400" rIns="25400" bIns="25400" anchor="t" anchorCtr="0">
            <a:noAutofit/>
          </a:bodyPr>
          <a:lstStyle/>
          <a:p>
            <a:pPr marL="285750" indent="-285750">
              <a:buFont typeface="Arial" panose="020B0604020202020204" pitchFamily="34" charset="0"/>
              <a:buChar char="•"/>
            </a:pPr>
            <a:r>
              <a:rPr lang="en-US" sz="1800" dirty="0">
                <a:latin typeface="Poppins" panose="00000500000000000000" pitchFamily="2" charset="0"/>
                <a:cs typeface="Poppins" panose="00000500000000000000" pitchFamily="2" charset="0"/>
              </a:rPr>
              <a:t>We are not attempting to replace banks, law-enforcement agencies, cybersecurity professionals or official fraud-reporting systems.</a:t>
            </a:r>
          </a:p>
          <a:p>
            <a:pPr marL="285750" indent="-285750">
              <a:buFont typeface="Arial" panose="020B0604020202020204" pitchFamily="34" charset="0"/>
              <a:buChar char="•"/>
            </a:pPr>
            <a:r>
              <a:rPr lang="en-US" sz="1800" dirty="0">
                <a:latin typeface="Poppins" panose="00000500000000000000" pitchFamily="2" charset="0"/>
                <a:cs typeface="Poppins" panose="00000500000000000000" pitchFamily="2" charset="0"/>
              </a:rPr>
              <a:t>The MVP focuses specifically on </a:t>
            </a:r>
            <a:r>
              <a:rPr lang="en-US" sz="1800" b="1" dirty="0">
                <a:latin typeface="Poppins" panose="00000500000000000000" pitchFamily="2" charset="0"/>
                <a:cs typeface="Poppins" panose="00000500000000000000" pitchFamily="2" charset="0"/>
              </a:rPr>
              <a:t>preventive and reactive  assistance before a user clicks, pays, downloads or shares sensitive information</a:t>
            </a:r>
            <a:r>
              <a:rPr lang="en-US" sz="1800" dirty="0">
                <a:latin typeface="Poppins" panose="00000500000000000000" pitchFamily="2" charset="0"/>
                <a:cs typeface="Poppins" panose="00000500000000000000" pitchFamily="2" charset="0"/>
              </a:rPr>
              <a:t>.</a:t>
            </a:r>
          </a:p>
          <a:p>
            <a:pPr marL="0" marR="0" lvl="0" indent="0" algn="l" rtl="0">
              <a:lnSpc>
                <a:spcPct val="93767"/>
              </a:lnSpc>
              <a:spcBef>
                <a:spcPts val="0"/>
              </a:spcBef>
              <a:spcAft>
                <a:spcPts val="0"/>
              </a:spcAft>
              <a:buClr>
                <a:srgbClr val="A3937F"/>
              </a:buClr>
              <a:buSzPts val="1800"/>
              <a:buFont typeface="Poppins"/>
              <a:buNone/>
            </a:pPr>
            <a:endParaRPr sz="1800"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BF7F0"/>
        </a:solidFill>
        <a:effectLst/>
      </p:bgPr>
    </p:bg>
    <p:spTree>
      <p:nvGrpSpPr>
        <p:cNvPr id="1" name="Shape 254"/>
        <p:cNvGrpSpPr/>
        <p:nvPr/>
      </p:nvGrpSpPr>
      <p:grpSpPr>
        <a:xfrm>
          <a:off x="0" y="0"/>
          <a:ext cx="0" cy="0"/>
          <a:chOff x="0" y="0"/>
          <a:chExt cx="0" cy="0"/>
        </a:xfrm>
      </p:grpSpPr>
      <p:sp>
        <p:nvSpPr>
          <p:cNvPr id="255" name="Google Shape;255;p13"/>
          <p:cNvSpPr/>
          <p:nvPr/>
        </p:nvSpPr>
        <p:spPr>
          <a:xfrm>
            <a:off x="1143000" y="742900"/>
            <a:ext cx="1843249" cy="379412"/>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F0592B"/>
              </a:buClr>
              <a:buSzPts val="1800"/>
              <a:buFont typeface="Poppins"/>
              <a:buNone/>
            </a:pPr>
            <a:r>
              <a:rPr lang="en-US" sz="1800" b="1" i="0" u="none" strike="noStrike" cap="none" dirty="0">
                <a:solidFill>
                  <a:srgbClr val="F0592B"/>
                </a:solidFill>
                <a:latin typeface="Poppins"/>
                <a:ea typeface="Poppins"/>
                <a:cs typeface="Poppins"/>
                <a:sym typeface="Poppins"/>
              </a:rPr>
              <a:t>SECTION 10</a:t>
            </a:r>
            <a:endParaRPr sz="1800" b="0" i="0" u="none" strike="noStrike" cap="none" dirty="0">
              <a:solidFill>
                <a:schemeClr val="dk1"/>
              </a:solidFill>
              <a:latin typeface="Calibri"/>
              <a:ea typeface="Calibri"/>
              <a:cs typeface="Calibri"/>
              <a:sym typeface="Calibri"/>
            </a:endParaRPr>
          </a:p>
        </p:txBody>
      </p:sp>
      <p:pic>
        <p:nvPicPr>
          <p:cNvPr id="256" name="Google Shape;256;p13" descr="preencoded.png"/>
          <p:cNvPicPr preferRelativeResize="0"/>
          <p:nvPr/>
        </p:nvPicPr>
        <p:blipFill rotWithShape="1">
          <a:blip r:embed="rId3">
            <a:alphaModFix/>
          </a:blip>
          <a:srcRect/>
          <a:stretch/>
        </p:blipFill>
        <p:spPr>
          <a:xfrm>
            <a:off x="14954250" y="742900"/>
            <a:ext cx="2190750" cy="637666"/>
          </a:xfrm>
          <a:prstGeom prst="rect">
            <a:avLst/>
          </a:prstGeom>
          <a:noFill/>
          <a:ln>
            <a:noFill/>
          </a:ln>
        </p:spPr>
      </p:pic>
      <p:sp>
        <p:nvSpPr>
          <p:cNvPr id="257" name="Google Shape;257;p13"/>
          <p:cNvSpPr/>
          <p:nvPr/>
        </p:nvSpPr>
        <p:spPr>
          <a:xfrm>
            <a:off x="1143000" y="1628180"/>
            <a:ext cx="17602200" cy="757002"/>
          </a:xfrm>
          <a:prstGeom prst="rect">
            <a:avLst/>
          </a:prstGeom>
          <a:noFill/>
          <a:ln>
            <a:noFill/>
          </a:ln>
        </p:spPr>
        <p:txBody>
          <a:bodyPr spcFirstLastPara="1" wrap="square" lIns="25400" tIns="25400" rIns="25400" bIns="25400" anchor="t" anchorCtr="0">
            <a:noAutofit/>
          </a:bodyPr>
          <a:lstStyle/>
          <a:p>
            <a:pPr marL="0" marR="0" lvl="0" indent="0" algn="l" rtl="0">
              <a:lnSpc>
                <a:spcPct val="68102"/>
              </a:lnSpc>
              <a:spcBef>
                <a:spcPts val="0"/>
              </a:spcBef>
              <a:spcAft>
                <a:spcPts val="0"/>
              </a:spcAft>
              <a:buClr>
                <a:srgbClr val="2A1E16"/>
              </a:buClr>
              <a:buSzPts val="5550"/>
              <a:buFont typeface="Poppins"/>
              <a:buNone/>
            </a:pPr>
            <a:r>
              <a:rPr lang="en-US" sz="5550" b="1" i="0" u="none" strike="noStrike" cap="none">
                <a:solidFill>
                  <a:srgbClr val="2A1E16"/>
                </a:solidFill>
                <a:latin typeface="Poppins"/>
                <a:ea typeface="Poppins"/>
                <a:cs typeface="Poppins"/>
                <a:sym typeface="Poppins"/>
              </a:rPr>
              <a:t>User journey</a:t>
            </a:r>
            <a:endParaRPr sz="5550" b="0" i="0" u="none" strike="noStrike" cap="none">
              <a:solidFill>
                <a:schemeClr val="dk1"/>
              </a:solidFill>
              <a:latin typeface="Calibri"/>
              <a:ea typeface="Calibri"/>
              <a:cs typeface="Calibri"/>
              <a:sym typeface="Calibri"/>
            </a:endParaRPr>
          </a:p>
        </p:txBody>
      </p:sp>
      <p:sp>
        <p:nvSpPr>
          <p:cNvPr id="258" name="Google Shape;258;p13"/>
          <p:cNvSpPr/>
          <p:nvPr/>
        </p:nvSpPr>
        <p:spPr>
          <a:xfrm>
            <a:off x="1143000" y="2461369"/>
            <a:ext cx="17602200" cy="442913"/>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7A6A5B"/>
              </a:buClr>
              <a:buSzPts val="2100"/>
              <a:buFont typeface="Poppins"/>
              <a:buNone/>
            </a:pPr>
            <a:r>
              <a:rPr lang="en-US" sz="2100" b="0" i="0" u="none" strike="noStrike" cap="none">
                <a:solidFill>
                  <a:srgbClr val="7A6A5B"/>
                </a:solidFill>
                <a:latin typeface="Poppins"/>
                <a:ea typeface="Poppins"/>
                <a:cs typeface="Poppins"/>
                <a:sym typeface="Poppins"/>
              </a:rPr>
              <a:t>Four steps, ending in an outcome for the user.</a:t>
            </a:r>
            <a:endParaRPr sz="2100" b="0" i="0" u="none" strike="noStrike" cap="none">
              <a:solidFill>
                <a:schemeClr val="dk1"/>
              </a:solidFill>
              <a:latin typeface="Calibri"/>
              <a:ea typeface="Calibri"/>
              <a:cs typeface="Calibri"/>
              <a:sym typeface="Calibri"/>
            </a:endParaRPr>
          </a:p>
        </p:txBody>
      </p:sp>
      <p:sp>
        <p:nvSpPr>
          <p:cNvPr id="259" name="Google Shape;259;p13"/>
          <p:cNvSpPr/>
          <p:nvPr/>
        </p:nvSpPr>
        <p:spPr>
          <a:xfrm>
            <a:off x="1143000" y="3113794"/>
            <a:ext cx="16002000" cy="15875"/>
          </a:xfrm>
          <a:prstGeom prst="rect">
            <a:avLst/>
          </a:prstGeom>
          <a:solidFill>
            <a:srgbClr val="E5DC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13"/>
          <p:cNvSpPr/>
          <p:nvPr/>
        </p:nvSpPr>
        <p:spPr>
          <a:xfrm>
            <a:off x="1143000" y="3358244"/>
            <a:ext cx="3151640" cy="379412"/>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F0592B"/>
              </a:buClr>
              <a:buSzPts val="1800"/>
              <a:buFont typeface="Poppins"/>
              <a:buNone/>
            </a:pPr>
            <a:r>
              <a:rPr lang="en-US" sz="1800" b="1" i="0" u="none" strike="noStrike" cap="none" dirty="0">
                <a:solidFill>
                  <a:srgbClr val="F0592B"/>
                </a:solidFill>
                <a:latin typeface="Poppins"/>
                <a:ea typeface="Poppins"/>
                <a:cs typeface="Poppins"/>
                <a:sym typeface="Poppins"/>
              </a:rPr>
              <a:t>Step 1 : RECEIVE</a:t>
            </a:r>
            <a:endParaRPr sz="1800" b="0" i="0" u="none" strike="noStrike" cap="none" dirty="0">
              <a:solidFill>
                <a:schemeClr val="dk1"/>
              </a:solidFill>
              <a:latin typeface="Calibri"/>
              <a:ea typeface="Calibri"/>
              <a:cs typeface="Calibri"/>
              <a:sym typeface="Calibri"/>
            </a:endParaRPr>
          </a:p>
        </p:txBody>
      </p:sp>
      <p:sp>
        <p:nvSpPr>
          <p:cNvPr id="261" name="Google Shape;261;p13"/>
          <p:cNvSpPr/>
          <p:nvPr/>
        </p:nvSpPr>
        <p:spPr>
          <a:xfrm>
            <a:off x="4427202" y="3358244"/>
            <a:ext cx="3151640" cy="379412"/>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F0592B"/>
              </a:buClr>
              <a:buSzPts val="1800"/>
              <a:buFont typeface="Poppins"/>
              <a:buNone/>
            </a:pPr>
            <a:r>
              <a:rPr lang="en-US" sz="1800" b="1" i="0" u="none" strike="noStrike" cap="none" dirty="0">
                <a:solidFill>
                  <a:srgbClr val="F0592B"/>
                </a:solidFill>
                <a:latin typeface="Poppins"/>
                <a:ea typeface="Poppins"/>
                <a:cs typeface="Poppins"/>
                <a:sym typeface="Poppins"/>
              </a:rPr>
              <a:t>Step 2 : CHECK</a:t>
            </a:r>
            <a:endParaRPr sz="1800" b="0" i="0" u="none" strike="noStrike" cap="none" dirty="0">
              <a:solidFill>
                <a:schemeClr val="dk1"/>
              </a:solidFill>
              <a:latin typeface="Calibri"/>
              <a:ea typeface="Calibri"/>
              <a:cs typeface="Calibri"/>
              <a:sym typeface="Calibri"/>
            </a:endParaRPr>
          </a:p>
        </p:txBody>
      </p:sp>
      <p:sp>
        <p:nvSpPr>
          <p:cNvPr id="262" name="Google Shape;262;p13"/>
          <p:cNvSpPr/>
          <p:nvPr/>
        </p:nvSpPr>
        <p:spPr>
          <a:xfrm>
            <a:off x="7711405" y="3358244"/>
            <a:ext cx="3151640" cy="379412"/>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F0592B"/>
              </a:buClr>
              <a:buSzPts val="1800"/>
              <a:buFont typeface="Poppins"/>
              <a:buNone/>
            </a:pPr>
            <a:r>
              <a:rPr lang="en-US" sz="1800" b="1" i="0" u="none" strike="noStrike" cap="none" dirty="0">
                <a:solidFill>
                  <a:srgbClr val="F0592B"/>
                </a:solidFill>
                <a:latin typeface="Poppins"/>
                <a:ea typeface="Poppins"/>
                <a:cs typeface="Poppins"/>
                <a:sym typeface="Poppins"/>
              </a:rPr>
              <a:t>Step 3 : </a:t>
            </a:r>
            <a:r>
              <a:rPr lang="en-US" sz="1800" b="1" dirty="0">
                <a:solidFill>
                  <a:srgbClr val="F0592B"/>
                </a:solidFill>
                <a:latin typeface="Poppins"/>
                <a:ea typeface="Poppins"/>
                <a:cs typeface="Poppins"/>
                <a:sym typeface="Poppins"/>
              </a:rPr>
              <a:t>A</a:t>
            </a:r>
            <a:r>
              <a:rPr lang="en-US" sz="1800" b="1" i="0" u="none" strike="noStrike" cap="none" dirty="0">
                <a:solidFill>
                  <a:srgbClr val="F0592B"/>
                </a:solidFill>
                <a:latin typeface="Poppins"/>
                <a:ea typeface="Poppins"/>
                <a:cs typeface="Poppins"/>
                <a:sym typeface="Poppins"/>
              </a:rPr>
              <a:t>NALYSE</a:t>
            </a:r>
            <a:endParaRPr sz="1800" b="0" i="0" u="none" strike="noStrike" cap="none" dirty="0">
              <a:solidFill>
                <a:schemeClr val="dk1"/>
              </a:solidFill>
              <a:latin typeface="Calibri"/>
              <a:ea typeface="Calibri"/>
              <a:cs typeface="Calibri"/>
              <a:sym typeface="Calibri"/>
            </a:endParaRPr>
          </a:p>
        </p:txBody>
      </p:sp>
      <p:sp>
        <p:nvSpPr>
          <p:cNvPr id="263" name="Google Shape;263;p13"/>
          <p:cNvSpPr/>
          <p:nvPr/>
        </p:nvSpPr>
        <p:spPr>
          <a:xfrm>
            <a:off x="10995608" y="3358244"/>
            <a:ext cx="3151640" cy="379412"/>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F0592B"/>
              </a:buClr>
              <a:buSzPts val="1800"/>
              <a:buFont typeface="Poppins"/>
              <a:buNone/>
            </a:pPr>
            <a:r>
              <a:rPr lang="en-US" sz="1800" b="1" i="0" u="none" strike="noStrike" cap="none" dirty="0">
                <a:solidFill>
                  <a:srgbClr val="F0592B"/>
                </a:solidFill>
                <a:latin typeface="Poppins"/>
                <a:ea typeface="Poppins"/>
                <a:cs typeface="Poppins"/>
                <a:sym typeface="Poppins"/>
              </a:rPr>
              <a:t>Step 4 : DECIDE</a:t>
            </a:r>
            <a:endParaRPr sz="1800" b="0" i="0" u="none" strike="noStrike" cap="none" dirty="0">
              <a:solidFill>
                <a:schemeClr val="dk1"/>
              </a:solidFill>
              <a:latin typeface="Calibri"/>
              <a:ea typeface="Calibri"/>
              <a:cs typeface="Calibri"/>
              <a:sym typeface="Calibri"/>
            </a:endParaRPr>
          </a:p>
        </p:txBody>
      </p:sp>
      <p:sp>
        <p:nvSpPr>
          <p:cNvPr id="264" name="Google Shape;264;p13"/>
          <p:cNvSpPr/>
          <p:nvPr/>
        </p:nvSpPr>
        <p:spPr>
          <a:xfrm>
            <a:off x="14279810" y="3358244"/>
            <a:ext cx="3151640" cy="379412"/>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F0592B"/>
              </a:buClr>
              <a:buSzPts val="1800"/>
              <a:buFont typeface="Poppins"/>
              <a:buNone/>
            </a:pPr>
            <a:r>
              <a:rPr lang="en-US" sz="1800" b="1" i="0" u="none" strike="noStrike" cap="none">
                <a:solidFill>
                  <a:srgbClr val="F0592B"/>
                </a:solidFill>
                <a:latin typeface="Poppins"/>
                <a:ea typeface="Poppins"/>
                <a:cs typeface="Poppins"/>
                <a:sym typeface="Poppins"/>
              </a:rPr>
              <a:t>Outcome</a:t>
            </a:r>
            <a:endParaRPr sz="1800" b="0" i="0" u="none" strike="noStrike" cap="none">
              <a:solidFill>
                <a:schemeClr val="dk1"/>
              </a:solidFill>
              <a:latin typeface="Calibri"/>
              <a:ea typeface="Calibri"/>
              <a:cs typeface="Calibri"/>
              <a:sym typeface="Calibri"/>
            </a:endParaRPr>
          </a:p>
        </p:txBody>
      </p:sp>
      <p:sp>
        <p:nvSpPr>
          <p:cNvPr id="265" name="Google Shape;265;p13"/>
          <p:cNvSpPr/>
          <p:nvPr/>
        </p:nvSpPr>
        <p:spPr>
          <a:xfrm>
            <a:off x="1143000" y="3851920"/>
            <a:ext cx="2865127" cy="5749292"/>
          </a:xfrm>
          <a:prstGeom prst="rect">
            <a:avLst/>
          </a:prstGeom>
          <a:solidFill>
            <a:srgbClr val="F7F1E6"/>
          </a:solidFill>
          <a:ln w="15875" cap="flat" cmpd="sng">
            <a:solidFill>
              <a:srgbClr val="DCCFBB"/>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3"/>
          <p:cNvSpPr/>
          <p:nvPr/>
        </p:nvSpPr>
        <p:spPr>
          <a:xfrm>
            <a:off x="1406488" y="4096370"/>
            <a:ext cx="2414352" cy="678061"/>
          </a:xfrm>
          <a:prstGeom prst="rect">
            <a:avLst/>
          </a:prstGeom>
          <a:noFill/>
          <a:ln>
            <a:noFill/>
          </a:ln>
        </p:spPr>
        <p:txBody>
          <a:bodyPr spcFirstLastPara="1" wrap="square" lIns="25400" tIns="25400" rIns="25400" bIns="25400" anchor="t" anchorCtr="0">
            <a:noAutofit/>
          </a:bodyPr>
          <a:lstStyle/>
          <a:p>
            <a:pPr marL="285750" marR="0" lvl="0" indent="-285750" algn="l" rtl="0">
              <a:lnSpc>
                <a:spcPct val="93767"/>
              </a:lnSpc>
              <a:spcBef>
                <a:spcPts val="0"/>
              </a:spcBef>
              <a:spcAft>
                <a:spcPts val="0"/>
              </a:spcAft>
              <a:buClr>
                <a:srgbClr val="A3937F"/>
              </a:buClr>
              <a:buSzPts val="1800"/>
              <a:buFont typeface="Arial" panose="020B0604020202020204" pitchFamily="34" charset="0"/>
              <a:buChar char="•"/>
            </a:pPr>
            <a:r>
              <a:rPr lang="en-US" sz="1800" dirty="0">
                <a:latin typeface="Poppins" panose="00000500000000000000" pitchFamily="2" charset="0"/>
                <a:cs typeface="Poppins" panose="00000500000000000000" pitchFamily="2" charset="0"/>
              </a:rPr>
              <a:t>The user receives a suspicious SMS, WhatsApp message, link, QR code, screenshot or payment request.</a:t>
            </a:r>
            <a:endParaRPr sz="1800" b="0" i="0" u="none" strike="noStrike" cap="none" dirty="0">
              <a:solidFill>
                <a:schemeClr val="dk1"/>
              </a:solidFill>
              <a:latin typeface="Poppins" panose="00000500000000000000" pitchFamily="2" charset="0"/>
              <a:ea typeface="Calibri"/>
              <a:cs typeface="Poppins" panose="00000500000000000000" pitchFamily="2" charset="0"/>
              <a:sym typeface="Calibri"/>
            </a:endParaRPr>
          </a:p>
        </p:txBody>
      </p:sp>
      <p:sp>
        <p:nvSpPr>
          <p:cNvPr id="267" name="Google Shape;267;p13"/>
          <p:cNvSpPr/>
          <p:nvPr/>
        </p:nvSpPr>
        <p:spPr>
          <a:xfrm>
            <a:off x="3970027" y="3851920"/>
            <a:ext cx="495275" cy="5787392"/>
          </a:xfrm>
          <a:prstGeom prst="rect">
            <a:avLst/>
          </a:prstGeom>
          <a:noFill/>
          <a:ln>
            <a:noFill/>
          </a:ln>
        </p:spPr>
        <p:txBody>
          <a:bodyPr spcFirstLastPara="1" wrap="square" lIns="25400" tIns="25400" rIns="25400" bIns="25400" anchor="ctr" anchorCtr="0">
            <a:noAutofit/>
          </a:bodyPr>
          <a:lstStyle/>
          <a:p>
            <a:pPr marL="0" marR="0" lvl="0" indent="0" algn="ctr" rtl="0">
              <a:spcBef>
                <a:spcPts val="0"/>
              </a:spcBef>
              <a:spcAft>
                <a:spcPts val="0"/>
              </a:spcAft>
              <a:buClr>
                <a:srgbClr val="F0592B"/>
              </a:buClr>
              <a:buSzPts val="2700"/>
              <a:buFont typeface="Poppins"/>
              <a:buNone/>
            </a:pPr>
            <a:r>
              <a:rPr lang="en-US" sz="2700" b="0" i="0" u="none" strike="noStrike" cap="none" dirty="0">
                <a:solidFill>
                  <a:srgbClr val="F0592B"/>
                </a:solidFill>
                <a:latin typeface="Poppins"/>
                <a:ea typeface="Poppins"/>
                <a:cs typeface="Poppins"/>
                <a:sym typeface="Poppins"/>
              </a:rPr>
              <a:t>→</a:t>
            </a:r>
            <a:endParaRPr sz="2700" b="0" i="0" u="none" strike="noStrike" cap="none" dirty="0">
              <a:solidFill>
                <a:schemeClr val="dk1"/>
              </a:solidFill>
              <a:latin typeface="Calibri"/>
              <a:ea typeface="Calibri"/>
              <a:cs typeface="Calibri"/>
              <a:sym typeface="Calibri"/>
            </a:endParaRPr>
          </a:p>
        </p:txBody>
      </p:sp>
      <p:sp>
        <p:nvSpPr>
          <p:cNvPr id="268" name="Google Shape;268;p13"/>
          <p:cNvSpPr/>
          <p:nvPr/>
        </p:nvSpPr>
        <p:spPr>
          <a:xfrm>
            <a:off x="4427202" y="3851920"/>
            <a:ext cx="2865127" cy="5749292"/>
          </a:xfrm>
          <a:prstGeom prst="rect">
            <a:avLst/>
          </a:prstGeom>
          <a:solidFill>
            <a:srgbClr val="F7F1E6"/>
          </a:solidFill>
          <a:ln w="15875" cap="flat" cmpd="sng">
            <a:solidFill>
              <a:srgbClr val="DCCFBB"/>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13"/>
          <p:cNvSpPr/>
          <p:nvPr/>
        </p:nvSpPr>
        <p:spPr>
          <a:xfrm>
            <a:off x="4690690" y="4096370"/>
            <a:ext cx="2571967" cy="358080"/>
          </a:xfrm>
          <a:prstGeom prst="rect">
            <a:avLst/>
          </a:prstGeom>
          <a:noFill/>
          <a:ln>
            <a:noFill/>
          </a:ln>
        </p:spPr>
        <p:txBody>
          <a:bodyPr spcFirstLastPara="1" wrap="square" lIns="25400" tIns="25400" rIns="25400" bIns="25400" anchor="t" anchorCtr="0">
            <a:noAutofit/>
          </a:bodyPr>
          <a:lstStyle/>
          <a:p>
            <a:pPr marL="285750" marR="0" lvl="0" indent="-285750" algn="l" rtl="0">
              <a:lnSpc>
                <a:spcPct val="93767"/>
              </a:lnSpc>
              <a:spcBef>
                <a:spcPts val="0"/>
              </a:spcBef>
              <a:spcAft>
                <a:spcPts val="0"/>
              </a:spcAft>
              <a:buClr>
                <a:srgbClr val="A3937F"/>
              </a:buClr>
              <a:buSzPts val="1800"/>
              <a:buFont typeface="Arial" panose="020B0604020202020204" pitchFamily="34" charset="0"/>
              <a:buChar char="•"/>
            </a:pPr>
            <a:r>
              <a:rPr lang="en-US" sz="1800" dirty="0">
                <a:latin typeface="Poppins" panose="00000500000000000000" pitchFamily="2" charset="0"/>
                <a:cs typeface="Poppins" panose="00000500000000000000" pitchFamily="2" charset="0"/>
              </a:rPr>
              <a:t>The user pastes the message/link or uploads the relevant screenshot, QR code or document to the Digital Safety Co-pilot.</a:t>
            </a:r>
            <a:endParaRPr sz="1800" b="0" i="0" u="none" strike="noStrike" cap="none" dirty="0">
              <a:solidFill>
                <a:schemeClr val="dk1"/>
              </a:solidFill>
              <a:latin typeface="Poppins" panose="00000500000000000000" pitchFamily="2" charset="0"/>
              <a:ea typeface="Calibri"/>
              <a:cs typeface="Poppins" panose="00000500000000000000" pitchFamily="2" charset="0"/>
              <a:sym typeface="Calibri"/>
            </a:endParaRPr>
          </a:p>
        </p:txBody>
      </p:sp>
      <p:sp>
        <p:nvSpPr>
          <p:cNvPr id="270" name="Google Shape;270;p13"/>
          <p:cNvSpPr/>
          <p:nvPr/>
        </p:nvSpPr>
        <p:spPr>
          <a:xfrm>
            <a:off x="7254230" y="3851920"/>
            <a:ext cx="495275" cy="5787392"/>
          </a:xfrm>
          <a:prstGeom prst="rect">
            <a:avLst/>
          </a:prstGeom>
          <a:noFill/>
          <a:ln>
            <a:noFill/>
          </a:ln>
        </p:spPr>
        <p:txBody>
          <a:bodyPr spcFirstLastPara="1" wrap="square" lIns="25400" tIns="25400" rIns="25400" bIns="25400" anchor="ctr" anchorCtr="0">
            <a:noAutofit/>
          </a:bodyPr>
          <a:lstStyle/>
          <a:p>
            <a:pPr marL="0" marR="0" lvl="0" indent="0" algn="ctr" rtl="0">
              <a:spcBef>
                <a:spcPts val="0"/>
              </a:spcBef>
              <a:spcAft>
                <a:spcPts val="0"/>
              </a:spcAft>
              <a:buClr>
                <a:srgbClr val="F0592B"/>
              </a:buClr>
              <a:buSzPts val="2700"/>
              <a:buFont typeface="Poppins"/>
              <a:buNone/>
            </a:pPr>
            <a:r>
              <a:rPr lang="en-US" sz="2700" b="0" i="0" u="none" strike="noStrike" cap="none">
                <a:solidFill>
                  <a:srgbClr val="F0592B"/>
                </a:solidFill>
                <a:latin typeface="Poppins"/>
                <a:ea typeface="Poppins"/>
                <a:cs typeface="Poppins"/>
                <a:sym typeface="Poppins"/>
              </a:rPr>
              <a:t>→</a:t>
            </a:r>
            <a:endParaRPr sz="2700" b="0" i="0" u="none" strike="noStrike" cap="none">
              <a:solidFill>
                <a:schemeClr val="dk1"/>
              </a:solidFill>
              <a:latin typeface="Calibri"/>
              <a:ea typeface="Calibri"/>
              <a:cs typeface="Calibri"/>
              <a:sym typeface="Calibri"/>
            </a:endParaRPr>
          </a:p>
        </p:txBody>
      </p:sp>
      <p:sp>
        <p:nvSpPr>
          <p:cNvPr id="271" name="Google Shape;271;p13"/>
          <p:cNvSpPr/>
          <p:nvPr/>
        </p:nvSpPr>
        <p:spPr>
          <a:xfrm>
            <a:off x="7711405" y="3851920"/>
            <a:ext cx="2865127" cy="5749292"/>
          </a:xfrm>
          <a:prstGeom prst="rect">
            <a:avLst/>
          </a:prstGeom>
          <a:solidFill>
            <a:srgbClr val="F7F1E6"/>
          </a:solidFill>
          <a:ln w="15875" cap="flat" cmpd="sng">
            <a:solidFill>
              <a:srgbClr val="DCCFBB"/>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13"/>
          <p:cNvSpPr/>
          <p:nvPr/>
        </p:nvSpPr>
        <p:spPr>
          <a:xfrm>
            <a:off x="7974893" y="4096370"/>
            <a:ext cx="2571967" cy="358080"/>
          </a:xfrm>
          <a:prstGeom prst="rect">
            <a:avLst/>
          </a:prstGeom>
          <a:noFill/>
          <a:ln>
            <a:noFill/>
          </a:ln>
        </p:spPr>
        <p:txBody>
          <a:bodyPr spcFirstLastPara="1" wrap="square" lIns="25400" tIns="25400" rIns="25400" bIns="25400" anchor="t" anchorCtr="0">
            <a:noAutofit/>
          </a:bodyPr>
          <a:lstStyle/>
          <a:p>
            <a:pPr marL="285750" marR="0" lvl="0" indent="-285750" algn="l" rtl="0">
              <a:lnSpc>
                <a:spcPct val="93767"/>
              </a:lnSpc>
              <a:spcBef>
                <a:spcPts val="0"/>
              </a:spcBef>
              <a:spcAft>
                <a:spcPts val="0"/>
              </a:spcAft>
              <a:buClr>
                <a:srgbClr val="A3937F"/>
              </a:buClr>
              <a:buSzPts val="1800"/>
              <a:buFont typeface="Arial" panose="020B0604020202020204" pitchFamily="34" charset="0"/>
              <a:buChar char="•"/>
            </a:pPr>
            <a:r>
              <a:rPr lang="en-US" sz="1800" dirty="0">
                <a:latin typeface="Poppins" panose="00000500000000000000" pitchFamily="2" charset="0"/>
                <a:cs typeface="Poppins" panose="00000500000000000000" pitchFamily="2" charset="0"/>
              </a:rPr>
              <a:t>The system analyzes the submitted content using AI, OCR, URL analysis, pattern recognition and relevant trusted-source verification.</a:t>
            </a:r>
            <a:endParaRPr sz="1800" b="0" i="0" u="none" strike="noStrike" cap="none" dirty="0">
              <a:solidFill>
                <a:schemeClr val="dk1"/>
              </a:solidFill>
              <a:latin typeface="Poppins" panose="00000500000000000000" pitchFamily="2" charset="0"/>
              <a:ea typeface="Calibri"/>
              <a:cs typeface="Poppins" panose="00000500000000000000" pitchFamily="2" charset="0"/>
              <a:sym typeface="Calibri"/>
            </a:endParaRPr>
          </a:p>
        </p:txBody>
      </p:sp>
      <p:sp>
        <p:nvSpPr>
          <p:cNvPr id="273" name="Google Shape;273;p13"/>
          <p:cNvSpPr/>
          <p:nvPr/>
        </p:nvSpPr>
        <p:spPr>
          <a:xfrm>
            <a:off x="10538432" y="3851920"/>
            <a:ext cx="495275" cy="5787392"/>
          </a:xfrm>
          <a:prstGeom prst="rect">
            <a:avLst/>
          </a:prstGeom>
          <a:noFill/>
          <a:ln>
            <a:noFill/>
          </a:ln>
        </p:spPr>
        <p:txBody>
          <a:bodyPr spcFirstLastPara="1" wrap="square" lIns="25400" tIns="25400" rIns="25400" bIns="25400" anchor="ctr" anchorCtr="0">
            <a:noAutofit/>
          </a:bodyPr>
          <a:lstStyle/>
          <a:p>
            <a:pPr marL="0" marR="0" lvl="0" indent="0" algn="ctr" rtl="0">
              <a:spcBef>
                <a:spcPts val="0"/>
              </a:spcBef>
              <a:spcAft>
                <a:spcPts val="0"/>
              </a:spcAft>
              <a:buClr>
                <a:srgbClr val="F0592B"/>
              </a:buClr>
              <a:buSzPts val="2700"/>
              <a:buFont typeface="Poppins"/>
              <a:buNone/>
            </a:pPr>
            <a:r>
              <a:rPr lang="en-US" sz="2700" b="0" i="0" u="none" strike="noStrike" cap="none">
                <a:solidFill>
                  <a:srgbClr val="F0592B"/>
                </a:solidFill>
                <a:latin typeface="Poppins"/>
                <a:ea typeface="Poppins"/>
                <a:cs typeface="Poppins"/>
                <a:sym typeface="Poppins"/>
              </a:rPr>
              <a:t>→</a:t>
            </a:r>
            <a:endParaRPr sz="2700" b="0" i="0" u="none" strike="noStrike" cap="none">
              <a:solidFill>
                <a:schemeClr val="dk1"/>
              </a:solidFill>
              <a:latin typeface="Calibri"/>
              <a:ea typeface="Calibri"/>
              <a:cs typeface="Calibri"/>
              <a:sym typeface="Calibri"/>
            </a:endParaRPr>
          </a:p>
        </p:txBody>
      </p:sp>
      <p:sp>
        <p:nvSpPr>
          <p:cNvPr id="274" name="Google Shape;274;p13"/>
          <p:cNvSpPr/>
          <p:nvPr/>
        </p:nvSpPr>
        <p:spPr>
          <a:xfrm>
            <a:off x="10995608" y="3851920"/>
            <a:ext cx="2865127" cy="5749292"/>
          </a:xfrm>
          <a:prstGeom prst="rect">
            <a:avLst/>
          </a:prstGeom>
          <a:solidFill>
            <a:srgbClr val="F7F1E6"/>
          </a:solidFill>
          <a:ln w="15875" cap="flat" cmpd="sng">
            <a:solidFill>
              <a:srgbClr val="DCCFBB"/>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13"/>
          <p:cNvSpPr/>
          <p:nvPr/>
        </p:nvSpPr>
        <p:spPr>
          <a:xfrm>
            <a:off x="11259095" y="4096370"/>
            <a:ext cx="2414352" cy="678061"/>
          </a:xfrm>
          <a:prstGeom prst="rect">
            <a:avLst/>
          </a:prstGeom>
          <a:noFill/>
          <a:ln>
            <a:noFill/>
          </a:ln>
        </p:spPr>
        <p:txBody>
          <a:bodyPr spcFirstLastPara="1" wrap="square" lIns="25400" tIns="25400" rIns="25400" bIns="25400" anchor="t" anchorCtr="0">
            <a:noAutofit/>
          </a:bodyPr>
          <a:lstStyle/>
          <a:p>
            <a:pPr marL="285750" marR="0" lvl="0" indent="-285750" algn="l" rtl="0">
              <a:lnSpc>
                <a:spcPct val="93767"/>
              </a:lnSpc>
              <a:spcBef>
                <a:spcPts val="0"/>
              </a:spcBef>
              <a:spcAft>
                <a:spcPts val="0"/>
              </a:spcAft>
              <a:buClr>
                <a:srgbClr val="A3937F"/>
              </a:buClr>
              <a:buSzPts val="1800"/>
              <a:buFont typeface="Arial" panose="020B0604020202020204" pitchFamily="34" charset="0"/>
              <a:buChar char="•"/>
            </a:pPr>
            <a:r>
              <a:rPr lang="en-US" sz="1800" dirty="0">
                <a:latin typeface="Poppins" panose="00000500000000000000" pitchFamily="2" charset="0"/>
                <a:cs typeface="Poppins" panose="00000500000000000000" pitchFamily="2" charset="0"/>
              </a:rPr>
              <a:t>The system provides a risk level, identifies warning signs, explains the risk in simple language and recommends the appropriate action.</a:t>
            </a:r>
            <a:endParaRPr sz="1800" b="0" i="0" u="none" strike="noStrike" cap="none" dirty="0">
              <a:solidFill>
                <a:schemeClr val="dk1"/>
              </a:solidFill>
              <a:latin typeface="Poppins" panose="00000500000000000000" pitchFamily="2" charset="0"/>
              <a:ea typeface="Calibri"/>
              <a:cs typeface="Poppins" panose="00000500000000000000" pitchFamily="2" charset="0"/>
              <a:sym typeface="Calibri"/>
            </a:endParaRPr>
          </a:p>
        </p:txBody>
      </p:sp>
      <p:sp>
        <p:nvSpPr>
          <p:cNvPr id="276" name="Google Shape;276;p13"/>
          <p:cNvSpPr/>
          <p:nvPr/>
        </p:nvSpPr>
        <p:spPr>
          <a:xfrm>
            <a:off x="13822635" y="3851920"/>
            <a:ext cx="495275" cy="5787392"/>
          </a:xfrm>
          <a:prstGeom prst="rect">
            <a:avLst/>
          </a:prstGeom>
          <a:noFill/>
          <a:ln>
            <a:noFill/>
          </a:ln>
        </p:spPr>
        <p:txBody>
          <a:bodyPr spcFirstLastPara="1" wrap="square" lIns="25400" tIns="25400" rIns="25400" bIns="25400" anchor="ctr" anchorCtr="0">
            <a:noAutofit/>
          </a:bodyPr>
          <a:lstStyle/>
          <a:p>
            <a:pPr marL="0" marR="0" lvl="0" indent="0" algn="ctr" rtl="0">
              <a:spcBef>
                <a:spcPts val="0"/>
              </a:spcBef>
              <a:spcAft>
                <a:spcPts val="0"/>
              </a:spcAft>
              <a:buClr>
                <a:srgbClr val="F0592B"/>
              </a:buClr>
              <a:buSzPts val="2700"/>
              <a:buFont typeface="Poppins"/>
              <a:buNone/>
            </a:pPr>
            <a:r>
              <a:rPr lang="en-US" sz="2700" b="0" i="0" u="none" strike="noStrike" cap="none">
                <a:solidFill>
                  <a:srgbClr val="F0592B"/>
                </a:solidFill>
                <a:latin typeface="Poppins"/>
                <a:ea typeface="Poppins"/>
                <a:cs typeface="Poppins"/>
                <a:sym typeface="Poppins"/>
              </a:rPr>
              <a:t>→</a:t>
            </a:r>
            <a:endParaRPr sz="2700" b="0" i="0" u="none" strike="noStrike" cap="none">
              <a:solidFill>
                <a:schemeClr val="dk1"/>
              </a:solidFill>
              <a:latin typeface="Calibri"/>
              <a:ea typeface="Calibri"/>
              <a:cs typeface="Calibri"/>
              <a:sym typeface="Calibri"/>
            </a:endParaRPr>
          </a:p>
        </p:txBody>
      </p:sp>
      <p:sp>
        <p:nvSpPr>
          <p:cNvPr id="277" name="Google Shape;277;p13"/>
          <p:cNvSpPr/>
          <p:nvPr/>
        </p:nvSpPr>
        <p:spPr>
          <a:xfrm>
            <a:off x="14279810" y="3851920"/>
            <a:ext cx="2865127" cy="5749292"/>
          </a:xfrm>
          <a:prstGeom prst="rect">
            <a:avLst/>
          </a:prstGeom>
          <a:solidFill>
            <a:srgbClr val="FDF0E8"/>
          </a:solidFill>
          <a:ln w="15875" cap="flat" cmpd="sng">
            <a:solidFill>
              <a:srgbClr val="F0592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13"/>
          <p:cNvSpPr/>
          <p:nvPr/>
        </p:nvSpPr>
        <p:spPr>
          <a:xfrm>
            <a:off x="14543335" y="4096395"/>
            <a:ext cx="2424031" cy="5298442"/>
          </a:xfrm>
          <a:prstGeom prst="rect">
            <a:avLst/>
          </a:prstGeom>
          <a:noFill/>
          <a:ln>
            <a:noFill/>
          </a:ln>
        </p:spPr>
        <p:txBody>
          <a:bodyPr spcFirstLastPara="1" wrap="square" lIns="25400" tIns="25400" rIns="25400" bIns="25400" anchor="t" anchorCtr="0">
            <a:noAutofit/>
          </a:bodyPr>
          <a:lstStyle/>
          <a:p>
            <a:pPr marL="285750" marR="0" lvl="0" indent="-285750" algn="l" rtl="0">
              <a:lnSpc>
                <a:spcPct val="93767"/>
              </a:lnSpc>
              <a:spcBef>
                <a:spcPts val="0"/>
              </a:spcBef>
              <a:spcAft>
                <a:spcPts val="0"/>
              </a:spcAft>
              <a:buClr>
                <a:srgbClr val="C2451C"/>
              </a:buClr>
              <a:buSzPts val="1800"/>
              <a:buFont typeface="Arial" panose="020B0604020202020204" pitchFamily="34" charset="0"/>
              <a:buChar char="•"/>
            </a:pPr>
            <a:r>
              <a:rPr lang="en-US" sz="1800" dirty="0">
                <a:solidFill>
                  <a:schemeClr val="tx1"/>
                </a:solidFill>
                <a:latin typeface="Poppins" panose="00000500000000000000" pitchFamily="2" charset="0"/>
                <a:cs typeface="Poppins" panose="00000500000000000000" pitchFamily="2" charset="0"/>
              </a:rPr>
              <a:t>The user understands the risk and can make a safer decision before clicking, paying, downloading or sharing sensitive information.</a:t>
            </a:r>
          </a:p>
          <a:p>
            <a:pPr marL="285750" marR="0" lvl="0" indent="-285750" algn="l" rtl="0">
              <a:lnSpc>
                <a:spcPct val="93767"/>
              </a:lnSpc>
              <a:spcBef>
                <a:spcPts val="0"/>
              </a:spcBef>
              <a:spcAft>
                <a:spcPts val="0"/>
              </a:spcAft>
              <a:buClr>
                <a:srgbClr val="C2451C"/>
              </a:buClr>
              <a:buSzPts val="1800"/>
              <a:buFont typeface="Arial" panose="020B0604020202020204" pitchFamily="34" charset="0"/>
              <a:buChar char="•"/>
            </a:pPr>
            <a:r>
              <a:rPr lang="en-US" sz="1800" b="0" i="0" u="none" strike="noStrike" cap="none" dirty="0">
                <a:solidFill>
                  <a:schemeClr val="tx1"/>
                </a:solidFill>
                <a:latin typeface="Poppins" panose="00000500000000000000" pitchFamily="2" charset="0"/>
                <a:ea typeface="Calibri"/>
                <a:cs typeface="Poppins" panose="00000500000000000000" pitchFamily="2" charset="0"/>
                <a:sym typeface="Calibri"/>
              </a:rPr>
              <a:t>If user has already clicked the links, then necessary steps to report the fraud </a:t>
            </a:r>
            <a:r>
              <a:rPr lang="en-US" sz="1800" dirty="0">
                <a:solidFill>
                  <a:schemeClr val="tx1"/>
                </a:solidFill>
                <a:latin typeface="Poppins" panose="00000500000000000000" pitchFamily="2" charset="0"/>
                <a:ea typeface="Calibri"/>
                <a:cs typeface="Poppins" panose="00000500000000000000" pitchFamily="2" charset="0"/>
                <a:sym typeface="Calibri"/>
              </a:rPr>
              <a:t>to concerned department to get the recovery initiated.</a:t>
            </a:r>
            <a:endParaRPr sz="1800" b="0" i="0" u="none" strike="noStrike" cap="none" dirty="0">
              <a:solidFill>
                <a:schemeClr val="tx1"/>
              </a:solidFill>
              <a:latin typeface="Poppins" panose="00000500000000000000" pitchFamily="2" charset="0"/>
              <a:ea typeface="Calibri"/>
              <a:cs typeface="Poppins" panose="00000500000000000000" pitchFamily="2" charset="0"/>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BF7F0"/>
        </a:solidFill>
        <a:effectLst/>
      </p:bgPr>
    </p:bg>
    <p:spTree>
      <p:nvGrpSpPr>
        <p:cNvPr id="1" name="Shape 283"/>
        <p:cNvGrpSpPr/>
        <p:nvPr/>
      </p:nvGrpSpPr>
      <p:grpSpPr>
        <a:xfrm>
          <a:off x="0" y="0"/>
          <a:ext cx="0" cy="0"/>
          <a:chOff x="0" y="0"/>
          <a:chExt cx="0" cy="0"/>
        </a:xfrm>
      </p:grpSpPr>
      <p:sp>
        <p:nvSpPr>
          <p:cNvPr id="284" name="Google Shape;284;p14"/>
          <p:cNvSpPr/>
          <p:nvPr/>
        </p:nvSpPr>
        <p:spPr>
          <a:xfrm>
            <a:off x="1143000" y="742900"/>
            <a:ext cx="2747206" cy="379412"/>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F0592B"/>
              </a:buClr>
              <a:buSzPts val="1800"/>
              <a:buFont typeface="Poppins"/>
              <a:buNone/>
            </a:pPr>
            <a:r>
              <a:rPr lang="en-US" sz="1800" b="1" i="0" u="none" strike="noStrike" cap="none">
                <a:solidFill>
                  <a:srgbClr val="F0592B"/>
                </a:solidFill>
                <a:latin typeface="Poppins"/>
                <a:ea typeface="Poppins"/>
                <a:cs typeface="Poppins"/>
                <a:sym typeface="Poppins"/>
              </a:rPr>
              <a:t>SECTIONS 11 &amp; 12</a:t>
            </a:r>
            <a:endParaRPr sz="1800" b="0" i="0" u="none" strike="noStrike" cap="none">
              <a:solidFill>
                <a:schemeClr val="dk1"/>
              </a:solidFill>
              <a:latin typeface="Calibri"/>
              <a:ea typeface="Calibri"/>
              <a:cs typeface="Calibri"/>
              <a:sym typeface="Calibri"/>
            </a:endParaRPr>
          </a:p>
        </p:txBody>
      </p:sp>
      <p:pic>
        <p:nvPicPr>
          <p:cNvPr id="285" name="Google Shape;285;p14" descr="preencoded.png"/>
          <p:cNvPicPr preferRelativeResize="0"/>
          <p:nvPr/>
        </p:nvPicPr>
        <p:blipFill rotWithShape="1">
          <a:blip r:embed="rId3">
            <a:alphaModFix/>
          </a:blip>
          <a:srcRect/>
          <a:stretch/>
        </p:blipFill>
        <p:spPr>
          <a:xfrm>
            <a:off x="14954250" y="742900"/>
            <a:ext cx="2190750" cy="637666"/>
          </a:xfrm>
          <a:prstGeom prst="rect">
            <a:avLst/>
          </a:prstGeom>
          <a:noFill/>
          <a:ln>
            <a:noFill/>
          </a:ln>
        </p:spPr>
      </p:pic>
      <p:sp>
        <p:nvSpPr>
          <p:cNvPr id="286" name="Google Shape;286;p14"/>
          <p:cNvSpPr/>
          <p:nvPr/>
        </p:nvSpPr>
        <p:spPr>
          <a:xfrm>
            <a:off x="1143000" y="1628180"/>
            <a:ext cx="17602200" cy="757002"/>
          </a:xfrm>
          <a:prstGeom prst="rect">
            <a:avLst/>
          </a:prstGeom>
          <a:noFill/>
          <a:ln>
            <a:noFill/>
          </a:ln>
        </p:spPr>
        <p:txBody>
          <a:bodyPr spcFirstLastPara="1" wrap="square" lIns="25400" tIns="25400" rIns="25400" bIns="25400" anchor="t" anchorCtr="0">
            <a:noAutofit/>
          </a:bodyPr>
          <a:lstStyle/>
          <a:p>
            <a:pPr marL="0" marR="0" lvl="0" indent="0" algn="l" rtl="0">
              <a:lnSpc>
                <a:spcPct val="68102"/>
              </a:lnSpc>
              <a:spcBef>
                <a:spcPts val="0"/>
              </a:spcBef>
              <a:spcAft>
                <a:spcPts val="0"/>
              </a:spcAft>
              <a:buClr>
                <a:srgbClr val="2A1E16"/>
              </a:buClr>
              <a:buSzPts val="5550"/>
              <a:buFont typeface="Poppins"/>
              <a:buNone/>
            </a:pPr>
            <a:r>
              <a:rPr lang="en-US" sz="5550" b="1" i="0" u="none" strike="noStrike" cap="none">
                <a:solidFill>
                  <a:srgbClr val="2A1E16"/>
                </a:solidFill>
                <a:latin typeface="Poppins"/>
                <a:ea typeface="Poppins"/>
                <a:cs typeface="Poppins"/>
                <a:sym typeface="Poppins"/>
              </a:rPr>
              <a:t>The two one-liners</a:t>
            </a:r>
            <a:endParaRPr sz="5550" b="0" i="0" u="none" strike="noStrike" cap="none">
              <a:solidFill>
                <a:schemeClr val="dk1"/>
              </a:solidFill>
              <a:latin typeface="Calibri"/>
              <a:ea typeface="Calibri"/>
              <a:cs typeface="Calibri"/>
              <a:sym typeface="Calibri"/>
            </a:endParaRPr>
          </a:p>
        </p:txBody>
      </p:sp>
      <p:sp>
        <p:nvSpPr>
          <p:cNvPr id="287" name="Google Shape;287;p14"/>
          <p:cNvSpPr/>
          <p:nvPr/>
        </p:nvSpPr>
        <p:spPr>
          <a:xfrm>
            <a:off x="1143000" y="2461369"/>
            <a:ext cx="17602200" cy="442913"/>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7A6A5B"/>
              </a:buClr>
              <a:buSzPts val="2100"/>
              <a:buFont typeface="Poppins"/>
              <a:buNone/>
            </a:pPr>
            <a:r>
              <a:rPr lang="en-US" sz="2100" b="0" i="0" u="none" strike="noStrike" cap="none">
                <a:solidFill>
                  <a:srgbClr val="7A6A5B"/>
                </a:solidFill>
                <a:latin typeface="Poppins"/>
                <a:ea typeface="Poppins"/>
                <a:cs typeface="Poppins"/>
                <a:sym typeface="Poppins"/>
              </a:rPr>
              <a:t>Complete both sentences. No more than one line each.</a:t>
            </a:r>
            <a:endParaRPr sz="2100" b="0" i="0" u="none" strike="noStrike" cap="none">
              <a:solidFill>
                <a:schemeClr val="dk1"/>
              </a:solidFill>
              <a:latin typeface="Calibri"/>
              <a:ea typeface="Calibri"/>
              <a:cs typeface="Calibri"/>
              <a:sym typeface="Calibri"/>
            </a:endParaRPr>
          </a:p>
        </p:txBody>
      </p:sp>
      <p:sp>
        <p:nvSpPr>
          <p:cNvPr id="288" name="Google Shape;288;p14"/>
          <p:cNvSpPr/>
          <p:nvPr/>
        </p:nvSpPr>
        <p:spPr>
          <a:xfrm>
            <a:off x="1143000" y="3113794"/>
            <a:ext cx="16002000" cy="15875"/>
          </a:xfrm>
          <a:prstGeom prst="rect">
            <a:avLst/>
          </a:prstGeom>
          <a:solidFill>
            <a:srgbClr val="E5DC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14"/>
          <p:cNvSpPr/>
          <p:nvPr/>
        </p:nvSpPr>
        <p:spPr>
          <a:xfrm>
            <a:off x="1143000" y="3358244"/>
            <a:ext cx="55562" cy="2854771"/>
          </a:xfrm>
          <a:prstGeom prst="rect">
            <a:avLst/>
          </a:prstGeom>
          <a:solidFill>
            <a:srgbClr val="F059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14"/>
          <p:cNvSpPr/>
          <p:nvPr/>
        </p:nvSpPr>
        <p:spPr>
          <a:xfrm>
            <a:off x="1579562" y="3572619"/>
            <a:ext cx="17121981" cy="395288"/>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F0592B"/>
              </a:buClr>
              <a:buSzPts val="1875"/>
              <a:buFont typeface="Poppins"/>
              <a:buNone/>
            </a:pPr>
            <a:r>
              <a:rPr lang="en-US" sz="1875" b="1" i="0" u="none" strike="noStrike" cap="none">
                <a:solidFill>
                  <a:srgbClr val="F0592B"/>
                </a:solidFill>
                <a:latin typeface="Poppins"/>
                <a:ea typeface="Poppins"/>
                <a:cs typeface="Poppins"/>
                <a:sym typeface="Poppins"/>
              </a:rPr>
              <a:t>11 — PROBLEM STATEMENT</a:t>
            </a:r>
            <a:endParaRPr sz="1875" b="0" i="0" u="none" strike="noStrike" cap="none">
              <a:solidFill>
                <a:schemeClr val="dk1"/>
              </a:solidFill>
              <a:latin typeface="Calibri"/>
              <a:ea typeface="Calibri"/>
              <a:cs typeface="Calibri"/>
              <a:sym typeface="Calibri"/>
            </a:endParaRPr>
          </a:p>
        </p:txBody>
      </p:sp>
      <p:sp>
        <p:nvSpPr>
          <p:cNvPr id="291" name="Google Shape;291;p14"/>
          <p:cNvSpPr/>
          <p:nvPr/>
        </p:nvSpPr>
        <p:spPr>
          <a:xfrm>
            <a:off x="1579562" y="4120307"/>
            <a:ext cx="16032400" cy="1916435"/>
          </a:xfrm>
          <a:prstGeom prst="rect">
            <a:avLst/>
          </a:prstGeom>
          <a:noFill/>
          <a:ln>
            <a:noFill/>
          </a:ln>
        </p:spPr>
        <p:txBody>
          <a:bodyPr spcFirstLastPara="1" wrap="square" lIns="25400" tIns="25400" rIns="25400" bIns="25400" anchor="t" anchorCtr="0">
            <a:no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Poppins" panose="00000500000000000000" pitchFamily="2" charset="0"/>
                <a:cs typeface="Poppins" panose="00000500000000000000" pitchFamily="2" charset="0"/>
              </a:rPr>
              <a:t>Senior citizens and </a:t>
            </a:r>
            <a:r>
              <a:rPr lang="en-US" altLang="en-US" sz="1800" dirty="0">
                <a:solidFill>
                  <a:schemeClr val="tx1"/>
                </a:solidFill>
                <a:latin typeface="Poppins" panose="00000500000000000000" pitchFamily="2" charset="0"/>
                <a:cs typeface="Poppins" panose="00000500000000000000" pitchFamily="2" charset="0"/>
              </a:rPr>
              <a:t>people with least awareness about online fraudulent activities </a:t>
            </a:r>
            <a:r>
              <a:rPr kumimoji="0" lang="en-US" altLang="en-US" sz="1800" i="0" u="none" strike="noStrike" cap="none" normalizeH="0" baseline="0" dirty="0">
                <a:ln>
                  <a:noFill/>
                </a:ln>
                <a:solidFill>
                  <a:schemeClr val="tx1"/>
                </a:solidFill>
                <a:effectLst/>
                <a:latin typeface="Poppins" panose="00000500000000000000" pitchFamily="2" charset="0"/>
                <a:cs typeface="Poppins" panose="00000500000000000000" pitchFamily="2" charset="0"/>
              </a:rPr>
              <a:t>in India struggle to identify digital scams before clicking, paying or sharing sensitive information. Also are unaware about where and how to report the fraud.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4400" b="0" i="0" u="none" strike="noStrike" cap="none" normalizeH="0" baseline="0" dirty="0">
              <a:ln>
                <a:noFill/>
              </a:ln>
              <a:solidFill>
                <a:schemeClr val="tx1"/>
              </a:solidFill>
              <a:effectLst/>
              <a:latin typeface="Arial" panose="020B0604020202020204" pitchFamily="34" charset="0"/>
            </a:endParaRPr>
          </a:p>
        </p:txBody>
      </p:sp>
      <p:sp>
        <p:nvSpPr>
          <p:cNvPr id="292" name="Google Shape;292;p14"/>
          <p:cNvSpPr/>
          <p:nvPr/>
        </p:nvSpPr>
        <p:spPr>
          <a:xfrm>
            <a:off x="1143000" y="6746379"/>
            <a:ext cx="55562" cy="2854833"/>
          </a:xfrm>
          <a:prstGeom prst="rect">
            <a:avLst/>
          </a:prstGeom>
          <a:solidFill>
            <a:srgbClr val="F059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14"/>
          <p:cNvSpPr/>
          <p:nvPr/>
        </p:nvSpPr>
        <p:spPr>
          <a:xfrm>
            <a:off x="1579562" y="6960753"/>
            <a:ext cx="17121981" cy="395288"/>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F0592B"/>
              </a:buClr>
              <a:buSzPts val="1875"/>
              <a:buFont typeface="Poppins"/>
              <a:buNone/>
            </a:pPr>
            <a:r>
              <a:rPr lang="en-US" sz="1875" b="1" i="0" u="none" strike="noStrike" cap="none">
                <a:solidFill>
                  <a:srgbClr val="F0592B"/>
                </a:solidFill>
                <a:latin typeface="Poppins"/>
                <a:ea typeface="Poppins"/>
                <a:cs typeface="Poppins"/>
                <a:sym typeface="Poppins"/>
              </a:rPr>
              <a:t>12 — PRODUCT HYPOTHESIS</a:t>
            </a:r>
            <a:endParaRPr sz="1875" b="0" i="0" u="none" strike="noStrike" cap="none">
              <a:solidFill>
                <a:schemeClr val="dk1"/>
              </a:solidFill>
              <a:latin typeface="Calibri"/>
              <a:ea typeface="Calibri"/>
              <a:cs typeface="Calibri"/>
              <a:sym typeface="Calibri"/>
            </a:endParaRPr>
          </a:p>
        </p:txBody>
      </p:sp>
      <p:sp>
        <p:nvSpPr>
          <p:cNvPr id="16" name="Google Shape;291;p14">
            <a:extLst>
              <a:ext uri="{FF2B5EF4-FFF2-40B4-BE49-F238E27FC236}">
                <a16:creationId xmlns:a16="http://schemas.microsoft.com/office/drawing/2014/main" id="{4E163E8B-E59D-4DD8-858C-03029C9A1BBE}"/>
              </a:ext>
            </a:extLst>
          </p:cNvPr>
          <p:cNvSpPr/>
          <p:nvPr/>
        </p:nvSpPr>
        <p:spPr>
          <a:xfrm>
            <a:off x="1579564" y="7642437"/>
            <a:ext cx="16032400" cy="1916435"/>
          </a:xfrm>
          <a:prstGeom prst="rect">
            <a:avLst/>
          </a:prstGeom>
          <a:noFill/>
          <a:ln>
            <a:noFill/>
          </a:ln>
        </p:spPr>
        <p:txBody>
          <a:bodyPr spcFirstLastPara="1" wrap="square" lIns="25400" tIns="25400" rIns="25400" bIns="25400" anchor="t" anchorCtr="0">
            <a:no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sz="1800" dirty="0">
                <a:latin typeface="Poppins" panose="00000500000000000000" pitchFamily="2" charset="0"/>
                <a:cs typeface="Poppins" panose="00000500000000000000" pitchFamily="2" charset="0"/>
              </a:rPr>
              <a:t>If we provide an affordable and easy-to-use AI Digital Safety Co-pilot that explains scam warning signs and recommends appropriate actions, users will be more confident and better equipped to make safer digital decisions.</a:t>
            </a:r>
            <a:endParaRPr kumimoji="0" lang="en-US" altLang="en-US" sz="1800" i="0" u="none" strike="noStrike" cap="none" normalizeH="0" baseline="0" dirty="0">
              <a:ln>
                <a:noFill/>
              </a:ln>
              <a:solidFill>
                <a:schemeClr val="tx1"/>
              </a:solidFill>
              <a:effectLst/>
              <a:latin typeface="Poppins" panose="00000500000000000000" pitchFamily="2" charset="0"/>
              <a:cs typeface="Poppins" panose="000005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44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BF7F0"/>
        </a:solidFill>
        <a:effectLst/>
      </p:bgPr>
    </p:bg>
    <p:spTree>
      <p:nvGrpSpPr>
        <p:cNvPr id="1" name="Shape 299"/>
        <p:cNvGrpSpPr/>
        <p:nvPr/>
      </p:nvGrpSpPr>
      <p:grpSpPr>
        <a:xfrm>
          <a:off x="0" y="0"/>
          <a:ext cx="0" cy="0"/>
          <a:chOff x="0" y="0"/>
          <a:chExt cx="0" cy="0"/>
        </a:xfrm>
      </p:grpSpPr>
      <p:sp>
        <p:nvSpPr>
          <p:cNvPr id="300" name="Google Shape;300;p15"/>
          <p:cNvSpPr/>
          <p:nvPr/>
        </p:nvSpPr>
        <p:spPr>
          <a:xfrm>
            <a:off x="1143000" y="742900"/>
            <a:ext cx="3682882" cy="379412"/>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7A6A5B"/>
              </a:buClr>
              <a:buSzPts val="1800"/>
              <a:buFont typeface="Poppins"/>
              <a:buNone/>
            </a:pPr>
            <a:r>
              <a:rPr lang="en-US" sz="1800" b="1" i="0" u="none" strike="noStrike" cap="none">
                <a:solidFill>
                  <a:srgbClr val="7A6A5B"/>
                </a:solidFill>
                <a:latin typeface="Poppins"/>
                <a:ea typeface="Poppins"/>
                <a:cs typeface="Poppins"/>
                <a:sym typeface="Poppins"/>
              </a:rPr>
              <a:t>OPTIONAL — APPENDIX</a:t>
            </a:r>
            <a:endParaRPr sz="1800" b="0" i="0" u="none" strike="noStrike" cap="none">
              <a:solidFill>
                <a:schemeClr val="dk1"/>
              </a:solidFill>
              <a:latin typeface="Calibri"/>
              <a:ea typeface="Calibri"/>
              <a:cs typeface="Calibri"/>
              <a:sym typeface="Calibri"/>
            </a:endParaRPr>
          </a:p>
        </p:txBody>
      </p:sp>
      <p:pic>
        <p:nvPicPr>
          <p:cNvPr id="301" name="Google Shape;301;p15" descr="preencoded.png"/>
          <p:cNvPicPr preferRelativeResize="0"/>
          <p:nvPr/>
        </p:nvPicPr>
        <p:blipFill rotWithShape="1">
          <a:blip r:embed="rId3">
            <a:alphaModFix/>
          </a:blip>
          <a:srcRect/>
          <a:stretch/>
        </p:blipFill>
        <p:spPr>
          <a:xfrm>
            <a:off x="14954250" y="742900"/>
            <a:ext cx="2190750" cy="637666"/>
          </a:xfrm>
          <a:prstGeom prst="rect">
            <a:avLst/>
          </a:prstGeom>
          <a:noFill/>
          <a:ln>
            <a:noFill/>
          </a:ln>
        </p:spPr>
      </p:pic>
      <p:sp>
        <p:nvSpPr>
          <p:cNvPr id="302" name="Google Shape;302;p15"/>
          <p:cNvSpPr/>
          <p:nvPr/>
        </p:nvSpPr>
        <p:spPr>
          <a:xfrm>
            <a:off x="1143000" y="1628180"/>
            <a:ext cx="17602200" cy="757002"/>
          </a:xfrm>
          <a:prstGeom prst="rect">
            <a:avLst/>
          </a:prstGeom>
          <a:noFill/>
          <a:ln>
            <a:noFill/>
          </a:ln>
        </p:spPr>
        <p:txBody>
          <a:bodyPr spcFirstLastPara="1" wrap="square" lIns="25400" tIns="25400" rIns="25400" bIns="25400" anchor="t" anchorCtr="0">
            <a:noAutofit/>
          </a:bodyPr>
          <a:lstStyle/>
          <a:p>
            <a:pPr marL="0" marR="0" lvl="0" indent="0" algn="l" rtl="0">
              <a:lnSpc>
                <a:spcPct val="68102"/>
              </a:lnSpc>
              <a:spcBef>
                <a:spcPts val="0"/>
              </a:spcBef>
              <a:spcAft>
                <a:spcPts val="0"/>
              </a:spcAft>
              <a:buClr>
                <a:srgbClr val="2A1E16"/>
              </a:buClr>
              <a:buSzPts val="5550"/>
              <a:buFont typeface="Poppins"/>
              <a:buNone/>
            </a:pPr>
            <a:r>
              <a:rPr lang="en-US" sz="5550" b="1" i="0" u="none" strike="noStrike" cap="none">
                <a:solidFill>
                  <a:srgbClr val="2A1E16"/>
                </a:solidFill>
                <a:latin typeface="Poppins"/>
                <a:ea typeface="Poppins"/>
                <a:cs typeface="Poppins"/>
                <a:sym typeface="Poppins"/>
              </a:rPr>
              <a:t>Appendix</a:t>
            </a:r>
            <a:endParaRPr sz="5550" b="0" i="0" u="none" strike="noStrike" cap="none">
              <a:solidFill>
                <a:schemeClr val="dk1"/>
              </a:solidFill>
              <a:latin typeface="Calibri"/>
              <a:ea typeface="Calibri"/>
              <a:cs typeface="Calibri"/>
              <a:sym typeface="Calibri"/>
            </a:endParaRPr>
          </a:p>
        </p:txBody>
      </p:sp>
      <p:sp>
        <p:nvSpPr>
          <p:cNvPr id="303" name="Google Shape;303;p15"/>
          <p:cNvSpPr/>
          <p:nvPr/>
        </p:nvSpPr>
        <p:spPr>
          <a:xfrm>
            <a:off x="1143000" y="2461369"/>
            <a:ext cx="17602200" cy="442913"/>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7A6A5B"/>
              </a:buClr>
              <a:buSzPts val="2100"/>
              <a:buFont typeface="Poppins"/>
              <a:buNone/>
            </a:pPr>
            <a:r>
              <a:rPr lang="en-US" sz="2100" b="0" i="0" u="none" strike="noStrike" cap="none">
                <a:solidFill>
                  <a:srgbClr val="7A6A5B"/>
                </a:solidFill>
                <a:latin typeface="Poppins"/>
                <a:ea typeface="Poppins"/>
                <a:cs typeface="Poppins"/>
                <a:sym typeface="Poppins"/>
              </a:rPr>
              <a:t>Add slides here for raw research, interview notes, survey data and references.</a:t>
            </a:r>
            <a:endParaRPr sz="2100" b="0" i="0" u="none" strike="noStrike" cap="none">
              <a:solidFill>
                <a:schemeClr val="dk1"/>
              </a:solidFill>
              <a:latin typeface="Calibri"/>
              <a:ea typeface="Calibri"/>
              <a:cs typeface="Calibri"/>
              <a:sym typeface="Calibri"/>
            </a:endParaRPr>
          </a:p>
        </p:txBody>
      </p:sp>
      <p:sp>
        <p:nvSpPr>
          <p:cNvPr id="304" name="Google Shape;304;p15"/>
          <p:cNvSpPr/>
          <p:nvPr/>
        </p:nvSpPr>
        <p:spPr>
          <a:xfrm>
            <a:off x="1143000" y="3113794"/>
            <a:ext cx="16002000" cy="15875"/>
          </a:xfrm>
          <a:prstGeom prst="rect">
            <a:avLst/>
          </a:prstGeom>
          <a:solidFill>
            <a:srgbClr val="E5DC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15"/>
          <p:cNvSpPr/>
          <p:nvPr/>
        </p:nvSpPr>
        <p:spPr>
          <a:xfrm>
            <a:off x="1143000" y="3358244"/>
            <a:ext cx="17602200" cy="395288"/>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7A6A5B"/>
              </a:buClr>
              <a:buSzPts val="1875"/>
              <a:buFont typeface="Poppins"/>
              <a:buNone/>
            </a:pPr>
            <a:r>
              <a:rPr lang="en-US" sz="1875" b="1" i="0" u="none" strike="noStrike" cap="none">
                <a:solidFill>
                  <a:srgbClr val="7A6A5B"/>
                </a:solidFill>
                <a:latin typeface="Poppins"/>
                <a:ea typeface="Poppins"/>
                <a:cs typeface="Poppins"/>
                <a:sym typeface="Poppins"/>
              </a:rPr>
              <a:t>SUPPORTING MATERIAL</a:t>
            </a:r>
            <a:endParaRPr sz="1875" b="0" i="0" u="none" strike="noStrike" cap="none">
              <a:solidFill>
                <a:schemeClr val="dk1"/>
              </a:solidFill>
              <a:latin typeface="Calibri"/>
              <a:ea typeface="Calibri"/>
              <a:cs typeface="Calibri"/>
              <a:sym typeface="Calibri"/>
            </a:endParaRPr>
          </a:p>
        </p:txBody>
      </p:sp>
      <p:sp>
        <p:nvSpPr>
          <p:cNvPr id="306" name="Google Shape;306;p15"/>
          <p:cNvSpPr/>
          <p:nvPr/>
        </p:nvSpPr>
        <p:spPr>
          <a:xfrm>
            <a:off x="1143000" y="3867795"/>
            <a:ext cx="16002000" cy="5733417"/>
          </a:xfrm>
          <a:prstGeom prst="rect">
            <a:avLst/>
          </a:prstGeom>
          <a:solidFill>
            <a:srgbClr val="F7F1E6"/>
          </a:solidFill>
          <a:ln w="15875" cap="flat" cmpd="sng">
            <a:solidFill>
              <a:srgbClr val="DCCFBB"/>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15"/>
          <p:cNvSpPr/>
          <p:nvPr/>
        </p:nvSpPr>
        <p:spPr>
          <a:xfrm>
            <a:off x="1463663" y="4150320"/>
            <a:ext cx="16896741" cy="383381"/>
          </a:xfrm>
          <a:prstGeom prst="rect">
            <a:avLst/>
          </a:prstGeom>
          <a:noFill/>
          <a:ln>
            <a:noFill/>
          </a:ln>
        </p:spPr>
        <p:txBody>
          <a:bodyPr spcFirstLastPara="1" wrap="square" lIns="25400" tIns="25400" rIns="25400" bIns="25400" anchor="t" anchorCtr="0">
            <a:noAutofit/>
          </a:bodyPr>
          <a:lstStyle/>
          <a:p>
            <a:pPr marL="0" marR="0" lvl="0" indent="0" algn="l" rtl="0">
              <a:lnSpc>
                <a:spcPct val="96667"/>
              </a:lnSpc>
              <a:spcBef>
                <a:spcPts val="0"/>
              </a:spcBef>
              <a:spcAft>
                <a:spcPts val="0"/>
              </a:spcAft>
              <a:buClr>
                <a:srgbClr val="A3937F"/>
              </a:buClr>
              <a:buSzPts val="1875"/>
              <a:buFont typeface="Poppins"/>
              <a:buNone/>
            </a:pPr>
            <a:r>
              <a:rPr lang="en-US" sz="1800" dirty="0">
                <a:solidFill>
                  <a:srgbClr val="A3937F"/>
                </a:solidFill>
                <a:latin typeface="Poppins"/>
                <a:ea typeface="Poppins"/>
                <a:cs typeface="Poppins"/>
                <a:sym typeface="Poppins"/>
              </a:rPr>
              <a:t>User Persona - S</a:t>
            </a:r>
            <a:r>
              <a:rPr lang="en-US" sz="1800" b="0" i="0" u="none" strike="noStrike" cap="none" dirty="0">
                <a:solidFill>
                  <a:srgbClr val="A3937F"/>
                </a:solidFill>
                <a:latin typeface="Poppins"/>
                <a:ea typeface="Poppins"/>
                <a:cs typeface="Poppins"/>
                <a:sym typeface="Poppins"/>
              </a:rPr>
              <a:t>urvey responses</a:t>
            </a:r>
            <a:endParaRPr sz="1800" b="0" i="0" u="none" strike="noStrike" cap="none" dirty="0">
              <a:solidFill>
                <a:schemeClr val="dk1"/>
              </a:solidFill>
              <a:latin typeface="Calibri"/>
              <a:ea typeface="Calibri"/>
              <a:cs typeface="Calibri"/>
              <a:sym typeface="Calibri"/>
            </a:endParaRPr>
          </a:p>
        </p:txBody>
      </p:sp>
      <p:sp>
        <p:nvSpPr>
          <p:cNvPr id="308" name="Google Shape;308;p15"/>
          <p:cNvSpPr/>
          <p:nvPr/>
        </p:nvSpPr>
        <p:spPr>
          <a:xfrm>
            <a:off x="1463663" y="4628927"/>
            <a:ext cx="16896741" cy="383381"/>
          </a:xfrm>
          <a:prstGeom prst="rect">
            <a:avLst/>
          </a:prstGeom>
          <a:noFill/>
          <a:ln>
            <a:noFill/>
          </a:ln>
        </p:spPr>
        <p:txBody>
          <a:bodyPr spcFirstLastPara="1" wrap="square" lIns="25400" tIns="25400" rIns="25400" bIns="25400" anchor="t" anchorCtr="0">
            <a:noAutofit/>
          </a:bodyPr>
          <a:lstStyle/>
          <a:p>
            <a:pPr marL="0" marR="0" lvl="0" indent="0" algn="l" rtl="0">
              <a:lnSpc>
                <a:spcPct val="96667"/>
              </a:lnSpc>
              <a:spcBef>
                <a:spcPts val="0"/>
              </a:spcBef>
              <a:spcAft>
                <a:spcPts val="0"/>
              </a:spcAft>
              <a:buClr>
                <a:srgbClr val="C9BCA8"/>
              </a:buClr>
              <a:buSzPts val="1875"/>
              <a:buFont typeface="Poppins"/>
              <a:buNone/>
            </a:pPr>
            <a:r>
              <a:rPr lang="en-US" sz="1875" b="0" i="0" u="none" strike="noStrike" cap="none" dirty="0">
                <a:solidFill>
                  <a:srgbClr val="C9BCA8"/>
                </a:solidFill>
                <a:latin typeface="Poppins"/>
                <a:ea typeface="Poppins"/>
                <a:cs typeface="Poppins"/>
                <a:sym typeface="Poppins"/>
                <a:hlinkClick r:id="rId4"/>
              </a:rPr>
              <a:t>https://docs.google.com/document/d/1q7oKp4wEYeK-PNoK8Z57O1vC-UpUr57Y/edit?usp=sharing&amp;ouid=116009529117157032444&amp;rtpof=true&amp;sd=true</a:t>
            </a:r>
            <a:endParaRPr lang="en-US" sz="1875" dirty="0">
              <a:solidFill>
                <a:srgbClr val="C9BCA8"/>
              </a:solidFill>
              <a:latin typeface="Poppins"/>
              <a:ea typeface="Poppins"/>
              <a:cs typeface="Poppins"/>
              <a:sym typeface="Poppins"/>
            </a:endParaRPr>
          </a:p>
          <a:p>
            <a:pPr marL="0" marR="0" lvl="0" indent="0" algn="l" rtl="0">
              <a:lnSpc>
                <a:spcPct val="96667"/>
              </a:lnSpc>
              <a:spcBef>
                <a:spcPts val="0"/>
              </a:spcBef>
              <a:spcAft>
                <a:spcPts val="0"/>
              </a:spcAft>
              <a:buClr>
                <a:srgbClr val="C9BCA8"/>
              </a:buClr>
              <a:buSzPts val="1875"/>
              <a:buFont typeface="Poppins"/>
              <a:buNone/>
            </a:pPr>
            <a:r>
              <a:rPr lang="en-US" sz="1875" b="0" i="0" u="none" strike="noStrike" cap="none" dirty="0">
                <a:solidFill>
                  <a:srgbClr val="C9BCA8"/>
                </a:solidFill>
                <a:latin typeface="Poppins"/>
                <a:ea typeface="Poppins"/>
                <a:cs typeface="Poppins"/>
                <a:sym typeface="Poppins"/>
              </a:rPr>
              <a:t>.</a:t>
            </a:r>
            <a:endParaRPr sz="1875" b="0" i="0" u="none" strike="noStrike" cap="none" dirty="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1244</TotalTime>
  <Words>2378</Words>
  <Application>Microsoft Office PowerPoint</Application>
  <PresentationFormat>Custom</PresentationFormat>
  <Paragraphs>257</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Poppins</vt:lpstr>
      <vt:lpstr>Calibri</vt:lpstr>
      <vt:lpstr>Cormorant Garamond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Pràteek Deshpande</cp:lastModifiedBy>
  <cp:revision>171</cp:revision>
  <dcterms:modified xsi:type="dcterms:W3CDTF">2026-09-05T19:04:37Z</dcterms:modified>
</cp:coreProperties>
</file>